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2"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9" r:id="rId22"/>
    <p:sldId id="280" r:id="rId23"/>
    <p:sldId id="277" r:id="rId24"/>
    <p:sldId id="274"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7"/>
    <p:restoredTop sz="94669"/>
  </p:normalViewPr>
  <p:slideViewPr>
    <p:cSldViewPr snapToGrid="0">
      <p:cViewPr varScale="1">
        <p:scale>
          <a:sx n="101" d="100"/>
          <a:sy n="101" d="100"/>
        </p:scale>
        <p:origin x="79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CC8AF7-0A3A-DF45-B9D4-8CBB11CF77BD}" type="doc">
      <dgm:prSet loTypeId="urn:microsoft.com/office/officeart/2005/8/layout/process1" loCatId="" qsTypeId="urn:microsoft.com/office/officeart/2005/8/quickstyle/simple1" qsCatId="simple" csTypeId="urn:microsoft.com/office/officeart/2005/8/colors/accent1_2" csCatId="accent1" phldr="1"/>
      <dgm:spPr/>
    </dgm:pt>
    <dgm:pt modelId="{7B47E825-DEB5-524D-B70D-F2C9071CA913}">
      <dgm:prSet phldrT="[文字]"/>
      <dgm:spPr/>
      <dgm:t>
        <a:bodyPr/>
        <a:lstStyle/>
        <a:p>
          <a:pPr>
            <a:buNone/>
          </a:pPr>
          <a:r>
            <a:rPr lang="zh-TW" altLang="en-US" dirty="0"/>
            <a:t>定義口徑與分析粒度</a:t>
          </a:r>
        </a:p>
      </dgm:t>
    </dgm:pt>
    <dgm:pt modelId="{7453CAA5-9FFA-B544-90C8-61AB71A6CAF6}" type="parTrans" cxnId="{58F770A7-2278-D94F-A8E4-E452932629A9}">
      <dgm:prSet/>
      <dgm:spPr/>
      <dgm:t>
        <a:bodyPr/>
        <a:lstStyle/>
        <a:p>
          <a:endParaRPr lang="zh-TW" altLang="en-US"/>
        </a:p>
      </dgm:t>
    </dgm:pt>
    <dgm:pt modelId="{9C5F2398-B312-A640-9529-1F2440D1E069}" type="sibTrans" cxnId="{58F770A7-2278-D94F-A8E4-E452932629A9}">
      <dgm:prSet/>
      <dgm:spPr/>
      <dgm:t>
        <a:bodyPr/>
        <a:lstStyle/>
        <a:p>
          <a:endParaRPr lang="zh-TW" altLang="en-US"/>
        </a:p>
      </dgm:t>
    </dgm:pt>
    <dgm:pt modelId="{9F57949B-2ECA-D340-8161-571E613F8418}">
      <dgm:prSet phldrT="[文字]"/>
      <dgm:spPr/>
      <dgm:t>
        <a:bodyPr/>
        <a:lstStyle/>
        <a:p>
          <a:r>
            <a:rPr lang="zh-TW" altLang="en-US" dirty="0"/>
            <a:t> </a:t>
          </a:r>
          <a:r>
            <a:rPr lang="zh-TW" altLang="en-US" b="1" dirty="0"/>
            <a:t>資料清理與欄位型態統一</a:t>
          </a:r>
          <a:endParaRPr lang="zh-TW" altLang="en-US" dirty="0"/>
        </a:p>
      </dgm:t>
    </dgm:pt>
    <dgm:pt modelId="{9EF75887-2334-144B-BEB3-797EABA3F917}" type="parTrans" cxnId="{03F511D7-3E27-6442-85B6-6BD48A167A09}">
      <dgm:prSet/>
      <dgm:spPr/>
      <dgm:t>
        <a:bodyPr/>
        <a:lstStyle/>
        <a:p>
          <a:endParaRPr lang="zh-TW" altLang="en-US"/>
        </a:p>
      </dgm:t>
    </dgm:pt>
    <dgm:pt modelId="{E1EA607F-D810-7E47-9EE6-87FB87147C19}" type="sibTrans" cxnId="{03F511D7-3E27-6442-85B6-6BD48A167A09}">
      <dgm:prSet/>
      <dgm:spPr/>
      <dgm:t>
        <a:bodyPr/>
        <a:lstStyle/>
        <a:p>
          <a:endParaRPr lang="zh-TW" altLang="en-US"/>
        </a:p>
      </dgm:t>
    </dgm:pt>
    <dgm:pt modelId="{E21680A5-A8D9-5143-AC88-740AE0104AFD}">
      <dgm:prSet phldrT="[文字]"/>
      <dgm:spPr/>
      <dgm:t>
        <a:bodyPr/>
        <a:lstStyle/>
        <a:p>
          <a:pPr>
            <a:buNone/>
          </a:pPr>
          <a:r>
            <a:rPr lang="zh-TW" altLang="en-US" b="1" dirty="0"/>
            <a:t>建立分析資料集</a:t>
          </a:r>
          <a:endParaRPr lang="zh-TW" altLang="en-US" dirty="0"/>
        </a:p>
      </dgm:t>
    </dgm:pt>
    <dgm:pt modelId="{090E1EE7-1590-7042-92F2-FDC60137E1BD}" type="parTrans" cxnId="{31C13719-EBCC-254C-8769-23A5128BCCFC}">
      <dgm:prSet/>
      <dgm:spPr/>
      <dgm:t>
        <a:bodyPr/>
        <a:lstStyle/>
        <a:p>
          <a:endParaRPr lang="zh-TW" altLang="en-US"/>
        </a:p>
      </dgm:t>
    </dgm:pt>
    <dgm:pt modelId="{22DD767C-CA57-EF4D-A3B3-C39AD81216F9}" type="sibTrans" cxnId="{31C13719-EBCC-254C-8769-23A5128BCCFC}">
      <dgm:prSet/>
      <dgm:spPr/>
      <dgm:t>
        <a:bodyPr/>
        <a:lstStyle/>
        <a:p>
          <a:endParaRPr lang="zh-TW" altLang="en-US"/>
        </a:p>
      </dgm:t>
    </dgm:pt>
    <dgm:pt modelId="{503D4A76-158F-FD46-BE27-3F512ABE485A}">
      <dgm:prSet/>
      <dgm:spPr/>
      <dgm:t>
        <a:bodyPr/>
        <a:lstStyle/>
        <a:p>
          <a:pPr>
            <a:buNone/>
          </a:pPr>
          <a:r>
            <a:rPr lang="zh-TW" altLang="en-US" b="1" dirty="0"/>
            <a:t>先彙總再整併</a:t>
          </a:r>
          <a:endParaRPr lang="zh-TW" altLang="en-US" dirty="0"/>
        </a:p>
      </dgm:t>
    </dgm:pt>
    <dgm:pt modelId="{6990AAE3-EE84-0645-A007-E9E77F8911DB}" type="parTrans" cxnId="{309C2550-F3B2-284D-854E-99BFAD61BDCC}">
      <dgm:prSet/>
      <dgm:spPr/>
      <dgm:t>
        <a:bodyPr/>
        <a:lstStyle/>
        <a:p>
          <a:endParaRPr lang="zh-TW" altLang="en-US"/>
        </a:p>
      </dgm:t>
    </dgm:pt>
    <dgm:pt modelId="{4F7A4B46-21ED-AF4D-A0C1-9ABDB51A624C}" type="sibTrans" cxnId="{309C2550-F3B2-284D-854E-99BFAD61BDCC}">
      <dgm:prSet/>
      <dgm:spPr/>
      <dgm:t>
        <a:bodyPr/>
        <a:lstStyle/>
        <a:p>
          <a:endParaRPr lang="zh-TW" altLang="en-US"/>
        </a:p>
      </dgm:t>
    </dgm:pt>
    <dgm:pt modelId="{9CC6A30E-CB01-6B4A-B86E-8F197DE9AA4A}" type="pres">
      <dgm:prSet presAssocID="{2ACC8AF7-0A3A-DF45-B9D4-8CBB11CF77BD}" presName="Name0" presStyleCnt="0">
        <dgm:presLayoutVars>
          <dgm:dir/>
          <dgm:resizeHandles val="exact"/>
        </dgm:presLayoutVars>
      </dgm:prSet>
      <dgm:spPr/>
    </dgm:pt>
    <dgm:pt modelId="{0CFB7E58-61C1-D248-ACC5-70C4BB91D9B5}" type="pres">
      <dgm:prSet presAssocID="{7B47E825-DEB5-524D-B70D-F2C9071CA913}" presName="node" presStyleLbl="node1" presStyleIdx="0" presStyleCnt="4" custScaleX="133485">
        <dgm:presLayoutVars>
          <dgm:bulletEnabled val="1"/>
        </dgm:presLayoutVars>
      </dgm:prSet>
      <dgm:spPr/>
    </dgm:pt>
    <dgm:pt modelId="{1AF336F5-4422-A04F-AC0A-CB90C1CD7FF9}" type="pres">
      <dgm:prSet presAssocID="{9C5F2398-B312-A640-9529-1F2440D1E069}" presName="sibTrans" presStyleLbl="sibTrans2D1" presStyleIdx="0" presStyleCnt="3"/>
      <dgm:spPr/>
    </dgm:pt>
    <dgm:pt modelId="{0A0AC289-1795-724D-9DDC-5CDE682DAAFC}" type="pres">
      <dgm:prSet presAssocID="{9C5F2398-B312-A640-9529-1F2440D1E069}" presName="connectorText" presStyleLbl="sibTrans2D1" presStyleIdx="0" presStyleCnt="3"/>
      <dgm:spPr/>
    </dgm:pt>
    <dgm:pt modelId="{4A014716-505D-3D45-B462-993C8543EDF0}" type="pres">
      <dgm:prSet presAssocID="{9F57949B-2ECA-D340-8161-571E613F8418}" presName="node" presStyleLbl="node1" presStyleIdx="1" presStyleCnt="4" custScaleX="227426">
        <dgm:presLayoutVars>
          <dgm:bulletEnabled val="1"/>
        </dgm:presLayoutVars>
      </dgm:prSet>
      <dgm:spPr/>
    </dgm:pt>
    <dgm:pt modelId="{F9260C4D-A7DD-B347-B264-27B5F74E3005}" type="pres">
      <dgm:prSet presAssocID="{E1EA607F-D810-7E47-9EE6-87FB87147C19}" presName="sibTrans" presStyleLbl="sibTrans2D1" presStyleIdx="1" presStyleCnt="3"/>
      <dgm:spPr/>
    </dgm:pt>
    <dgm:pt modelId="{83C82CF5-EA2E-6145-8A3D-50162D821CE5}" type="pres">
      <dgm:prSet presAssocID="{E1EA607F-D810-7E47-9EE6-87FB87147C19}" presName="connectorText" presStyleLbl="sibTrans2D1" presStyleIdx="1" presStyleCnt="3"/>
      <dgm:spPr/>
    </dgm:pt>
    <dgm:pt modelId="{28BC4501-0A1F-AC42-ACA2-8179870A32AE}" type="pres">
      <dgm:prSet presAssocID="{503D4A76-158F-FD46-BE27-3F512ABE485A}" presName="node" presStyleLbl="node1" presStyleIdx="2" presStyleCnt="4" custScaleX="138662">
        <dgm:presLayoutVars>
          <dgm:bulletEnabled val="1"/>
        </dgm:presLayoutVars>
      </dgm:prSet>
      <dgm:spPr/>
    </dgm:pt>
    <dgm:pt modelId="{598DA5A1-33E0-9F48-8957-30261429BAEE}" type="pres">
      <dgm:prSet presAssocID="{4F7A4B46-21ED-AF4D-A0C1-9ABDB51A624C}" presName="sibTrans" presStyleLbl="sibTrans2D1" presStyleIdx="2" presStyleCnt="3"/>
      <dgm:spPr/>
    </dgm:pt>
    <dgm:pt modelId="{3F88281A-6B5F-CD40-AD82-074CB90B9F6C}" type="pres">
      <dgm:prSet presAssocID="{4F7A4B46-21ED-AF4D-A0C1-9ABDB51A624C}" presName="connectorText" presStyleLbl="sibTrans2D1" presStyleIdx="2" presStyleCnt="3"/>
      <dgm:spPr/>
    </dgm:pt>
    <dgm:pt modelId="{F248B2FD-EBA4-7E49-B01D-5137A6035F6F}" type="pres">
      <dgm:prSet presAssocID="{E21680A5-A8D9-5143-AC88-740AE0104AFD}" presName="node" presStyleLbl="node1" presStyleIdx="3" presStyleCnt="4" custScaleX="180117">
        <dgm:presLayoutVars>
          <dgm:bulletEnabled val="1"/>
        </dgm:presLayoutVars>
      </dgm:prSet>
      <dgm:spPr/>
    </dgm:pt>
  </dgm:ptLst>
  <dgm:cxnLst>
    <dgm:cxn modelId="{82CF7A0B-23B4-2F43-A4A7-E27CB7D71798}" type="presOf" srcId="{503D4A76-158F-FD46-BE27-3F512ABE485A}" destId="{28BC4501-0A1F-AC42-ACA2-8179870A32AE}" srcOrd="0" destOrd="0" presId="urn:microsoft.com/office/officeart/2005/8/layout/process1"/>
    <dgm:cxn modelId="{349F1816-9005-664A-B285-9B77768335FD}" type="presOf" srcId="{9C5F2398-B312-A640-9529-1F2440D1E069}" destId="{0A0AC289-1795-724D-9DDC-5CDE682DAAFC}" srcOrd="1" destOrd="0" presId="urn:microsoft.com/office/officeart/2005/8/layout/process1"/>
    <dgm:cxn modelId="{31C13719-EBCC-254C-8769-23A5128BCCFC}" srcId="{2ACC8AF7-0A3A-DF45-B9D4-8CBB11CF77BD}" destId="{E21680A5-A8D9-5143-AC88-740AE0104AFD}" srcOrd="3" destOrd="0" parTransId="{090E1EE7-1590-7042-92F2-FDC60137E1BD}" sibTransId="{22DD767C-CA57-EF4D-A3B3-C39AD81216F9}"/>
    <dgm:cxn modelId="{E0A0A93C-742F-5945-9B6B-482F2776E6B9}" type="presOf" srcId="{4F7A4B46-21ED-AF4D-A0C1-9ABDB51A624C}" destId="{598DA5A1-33E0-9F48-8957-30261429BAEE}" srcOrd="0" destOrd="0" presId="urn:microsoft.com/office/officeart/2005/8/layout/process1"/>
    <dgm:cxn modelId="{309C2550-F3B2-284D-854E-99BFAD61BDCC}" srcId="{2ACC8AF7-0A3A-DF45-B9D4-8CBB11CF77BD}" destId="{503D4A76-158F-FD46-BE27-3F512ABE485A}" srcOrd="2" destOrd="0" parTransId="{6990AAE3-EE84-0645-A007-E9E77F8911DB}" sibTransId="{4F7A4B46-21ED-AF4D-A0C1-9ABDB51A624C}"/>
    <dgm:cxn modelId="{9BD8BA52-0309-F146-9957-211FEE8FC3D4}" type="presOf" srcId="{9F57949B-2ECA-D340-8161-571E613F8418}" destId="{4A014716-505D-3D45-B462-993C8543EDF0}" srcOrd="0" destOrd="0" presId="urn:microsoft.com/office/officeart/2005/8/layout/process1"/>
    <dgm:cxn modelId="{69C3CF61-6AFB-2247-8F57-7D0729F2E096}" type="presOf" srcId="{7B47E825-DEB5-524D-B70D-F2C9071CA913}" destId="{0CFB7E58-61C1-D248-ACC5-70C4BB91D9B5}" srcOrd="0" destOrd="0" presId="urn:microsoft.com/office/officeart/2005/8/layout/process1"/>
    <dgm:cxn modelId="{77FF3C64-AA6C-8A45-A2D0-2589BBEF9617}" type="presOf" srcId="{4F7A4B46-21ED-AF4D-A0C1-9ABDB51A624C}" destId="{3F88281A-6B5F-CD40-AD82-074CB90B9F6C}" srcOrd="1" destOrd="0" presId="urn:microsoft.com/office/officeart/2005/8/layout/process1"/>
    <dgm:cxn modelId="{FFAFB276-DF33-CC40-A0A6-224EB90309EC}" type="presOf" srcId="{E1EA607F-D810-7E47-9EE6-87FB87147C19}" destId="{83C82CF5-EA2E-6145-8A3D-50162D821CE5}" srcOrd="1" destOrd="0" presId="urn:microsoft.com/office/officeart/2005/8/layout/process1"/>
    <dgm:cxn modelId="{83FD1397-955D-D441-8A0E-5EE4D8DE83F8}" type="presOf" srcId="{E1EA607F-D810-7E47-9EE6-87FB87147C19}" destId="{F9260C4D-A7DD-B347-B264-27B5F74E3005}" srcOrd="0" destOrd="0" presId="urn:microsoft.com/office/officeart/2005/8/layout/process1"/>
    <dgm:cxn modelId="{58F770A7-2278-D94F-A8E4-E452932629A9}" srcId="{2ACC8AF7-0A3A-DF45-B9D4-8CBB11CF77BD}" destId="{7B47E825-DEB5-524D-B70D-F2C9071CA913}" srcOrd="0" destOrd="0" parTransId="{7453CAA5-9FFA-B544-90C8-61AB71A6CAF6}" sibTransId="{9C5F2398-B312-A640-9529-1F2440D1E069}"/>
    <dgm:cxn modelId="{4720E4CC-4BFA-3548-B5E3-281A3C5E9079}" type="presOf" srcId="{2ACC8AF7-0A3A-DF45-B9D4-8CBB11CF77BD}" destId="{9CC6A30E-CB01-6B4A-B86E-8F197DE9AA4A}" srcOrd="0" destOrd="0" presId="urn:microsoft.com/office/officeart/2005/8/layout/process1"/>
    <dgm:cxn modelId="{264494D0-54B2-8645-889A-3646388C67E8}" type="presOf" srcId="{E21680A5-A8D9-5143-AC88-740AE0104AFD}" destId="{F248B2FD-EBA4-7E49-B01D-5137A6035F6F}" srcOrd="0" destOrd="0" presId="urn:microsoft.com/office/officeart/2005/8/layout/process1"/>
    <dgm:cxn modelId="{03F511D7-3E27-6442-85B6-6BD48A167A09}" srcId="{2ACC8AF7-0A3A-DF45-B9D4-8CBB11CF77BD}" destId="{9F57949B-2ECA-D340-8161-571E613F8418}" srcOrd="1" destOrd="0" parTransId="{9EF75887-2334-144B-BEB3-797EABA3F917}" sibTransId="{E1EA607F-D810-7E47-9EE6-87FB87147C19}"/>
    <dgm:cxn modelId="{535BB7F0-1F9E-324E-8C4A-199FE857FE5C}" type="presOf" srcId="{9C5F2398-B312-A640-9529-1F2440D1E069}" destId="{1AF336F5-4422-A04F-AC0A-CB90C1CD7FF9}" srcOrd="0" destOrd="0" presId="urn:microsoft.com/office/officeart/2005/8/layout/process1"/>
    <dgm:cxn modelId="{68643366-01ED-FD43-810F-4A2321068845}" type="presParOf" srcId="{9CC6A30E-CB01-6B4A-B86E-8F197DE9AA4A}" destId="{0CFB7E58-61C1-D248-ACC5-70C4BB91D9B5}" srcOrd="0" destOrd="0" presId="urn:microsoft.com/office/officeart/2005/8/layout/process1"/>
    <dgm:cxn modelId="{1EE9458B-8BB3-284C-A458-4370A1E84F13}" type="presParOf" srcId="{9CC6A30E-CB01-6B4A-B86E-8F197DE9AA4A}" destId="{1AF336F5-4422-A04F-AC0A-CB90C1CD7FF9}" srcOrd="1" destOrd="0" presId="urn:microsoft.com/office/officeart/2005/8/layout/process1"/>
    <dgm:cxn modelId="{3264CBB5-5B6A-2145-8E3F-D91751F659CA}" type="presParOf" srcId="{1AF336F5-4422-A04F-AC0A-CB90C1CD7FF9}" destId="{0A0AC289-1795-724D-9DDC-5CDE682DAAFC}" srcOrd="0" destOrd="0" presId="urn:microsoft.com/office/officeart/2005/8/layout/process1"/>
    <dgm:cxn modelId="{1B72CF28-70A5-7E4C-9F2A-48AD89B233EB}" type="presParOf" srcId="{9CC6A30E-CB01-6B4A-B86E-8F197DE9AA4A}" destId="{4A014716-505D-3D45-B462-993C8543EDF0}" srcOrd="2" destOrd="0" presId="urn:microsoft.com/office/officeart/2005/8/layout/process1"/>
    <dgm:cxn modelId="{992B81DB-96A2-B146-85BC-5B65A9011687}" type="presParOf" srcId="{9CC6A30E-CB01-6B4A-B86E-8F197DE9AA4A}" destId="{F9260C4D-A7DD-B347-B264-27B5F74E3005}" srcOrd="3" destOrd="0" presId="urn:microsoft.com/office/officeart/2005/8/layout/process1"/>
    <dgm:cxn modelId="{7B539577-0342-F140-8287-46F90F07170E}" type="presParOf" srcId="{F9260C4D-A7DD-B347-B264-27B5F74E3005}" destId="{83C82CF5-EA2E-6145-8A3D-50162D821CE5}" srcOrd="0" destOrd="0" presId="urn:microsoft.com/office/officeart/2005/8/layout/process1"/>
    <dgm:cxn modelId="{1992A6EE-E98C-1C47-97D4-F9AC9F5072C9}" type="presParOf" srcId="{9CC6A30E-CB01-6B4A-B86E-8F197DE9AA4A}" destId="{28BC4501-0A1F-AC42-ACA2-8179870A32AE}" srcOrd="4" destOrd="0" presId="urn:microsoft.com/office/officeart/2005/8/layout/process1"/>
    <dgm:cxn modelId="{FAF6887F-E86B-884C-8B37-063C2FB605F7}" type="presParOf" srcId="{9CC6A30E-CB01-6B4A-B86E-8F197DE9AA4A}" destId="{598DA5A1-33E0-9F48-8957-30261429BAEE}" srcOrd="5" destOrd="0" presId="urn:microsoft.com/office/officeart/2005/8/layout/process1"/>
    <dgm:cxn modelId="{B2BA052A-6859-1E46-A9A4-D3446EE30869}" type="presParOf" srcId="{598DA5A1-33E0-9F48-8957-30261429BAEE}" destId="{3F88281A-6B5F-CD40-AD82-074CB90B9F6C}" srcOrd="0" destOrd="0" presId="urn:microsoft.com/office/officeart/2005/8/layout/process1"/>
    <dgm:cxn modelId="{9990D830-C934-3C47-9749-004F31FFFFFA}" type="presParOf" srcId="{9CC6A30E-CB01-6B4A-B86E-8F197DE9AA4A}" destId="{F248B2FD-EBA4-7E49-B01D-5137A6035F6F}"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FB7E58-61C1-D248-ACC5-70C4BB91D9B5}">
      <dsp:nvSpPr>
        <dsp:cNvPr id="0" name=""/>
        <dsp:cNvSpPr/>
      </dsp:nvSpPr>
      <dsp:spPr>
        <a:xfrm>
          <a:off x="1797" y="534069"/>
          <a:ext cx="1547923" cy="72838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zh-TW" altLang="en-US" sz="1700" kern="1200" dirty="0"/>
            <a:t>定義口徑與分析粒度</a:t>
          </a:r>
        </a:p>
      </dsp:txBody>
      <dsp:txXfrm>
        <a:off x="23131" y="555403"/>
        <a:ext cx="1505255" cy="685720"/>
      </dsp:txXfrm>
    </dsp:sp>
    <dsp:sp modelId="{1AF336F5-4422-A04F-AC0A-CB90C1CD7FF9}">
      <dsp:nvSpPr>
        <dsp:cNvPr id="0" name=""/>
        <dsp:cNvSpPr/>
      </dsp:nvSpPr>
      <dsp:spPr>
        <a:xfrm>
          <a:off x="1665683" y="754470"/>
          <a:ext cx="245840" cy="2875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TW" altLang="en-US" sz="1300" kern="1200"/>
        </a:p>
      </dsp:txBody>
      <dsp:txXfrm>
        <a:off x="1665683" y="811987"/>
        <a:ext cx="172088" cy="172552"/>
      </dsp:txXfrm>
    </dsp:sp>
    <dsp:sp modelId="{4A014716-505D-3D45-B462-993C8543EDF0}">
      <dsp:nvSpPr>
        <dsp:cNvPr id="0" name=""/>
        <dsp:cNvSpPr/>
      </dsp:nvSpPr>
      <dsp:spPr>
        <a:xfrm>
          <a:off x="2013570" y="534069"/>
          <a:ext cx="2637286" cy="72838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zh-TW" altLang="en-US" sz="1700" kern="1200" dirty="0"/>
            <a:t> </a:t>
          </a:r>
          <a:r>
            <a:rPr lang="zh-TW" altLang="en-US" sz="1700" b="1" kern="1200" dirty="0"/>
            <a:t>資料清理與欄位型態統一</a:t>
          </a:r>
          <a:endParaRPr lang="zh-TW" altLang="en-US" sz="1700" kern="1200" dirty="0"/>
        </a:p>
      </dsp:txBody>
      <dsp:txXfrm>
        <a:off x="2034904" y="555403"/>
        <a:ext cx="2594618" cy="685720"/>
      </dsp:txXfrm>
    </dsp:sp>
    <dsp:sp modelId="{F9260C4D-A7DD-B347-B264-27B5F74E3005}">
      <dsp:nvSpPr>
        <dsp:cNvPr id="0" name=""/>
        <dsp:cNvSpPr/>
      </dsp:nvSpPr>
      <dsp:spPr>
        <a:xfrm>
          <a:off x="4766819" y="754470"/>
          <a:ext cx="245840" cy="2875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TW" altLang="en-US" sz="1300" kern="1200"/>
        </a:p>
      </dsp:txBody>
      <dsp:txXfrm>
        <a:off x="4766819" y="811987"/>
        <a:ext cx="172088" cy="172552"/>
      </dsp:txXfrm>
    </dsp:sp>
    <dsp:sp modelId="{28BC4501-0A1F-AC42-ACA2-8179870A32AE}">
      <dsp:nvSpPr>
        <dsp:cNvPr id="0" name=""/>
        <dsp:cNvSpPr/>
      </dsp:nvSpPr>
      <dsp:spPr>
        <a:xfrm>
          <a:off x="5114706" y="534069"/>
          <a:ext cx="1607957" cy="72838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zh-TW" altLang="en-US" sz="1700" b="1" kern="1200" dirty="0"/>
            <a:t>先彙總再整併</a:t>
          </a:r>
          <a:endParaRPr lang="zh-TW" altLang="en-US" sz="1700" kern="1200" dirty="0"/>
        </a:p>
      </dsp:txBody>
      <dsp:txXfrm>
        <a:off x="5136040" y="555403"/>
        <a:ext cx="1565289" cy="685720"/>
      </dsp:txXfrm>
    </dsp:sp>
    <dsp:sp modelId="{598DA5A1-33E0-9F48-8957-30261429BAEE}">
      <dsp:nvSpPr>
        <dsp:cNvPr id="0" name=""/>
        <dsp:cNvSpPr/>
      </dsp:nvSpPr>
      <dsp:spPr>
        <a:xfrm>
          <a:off x="6838626" y="754470"/>
          <a:ext cx="245840" cy="2875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TW" altLang="en-US" sz="1300" kern="1200"/>
        </a:p>
      </dsp:txBody>
      <dsp:txXfrm>
        <a:off x="6838626" y="811987"/>
        <a:ext cx="172088" cy="172552"/>
      </dsp:txXfrm>
    </dsp:sp>
    <dsp:sp modelId="{F248B2FD-EBA4-7E49-B01D-5137A6035F6F}">
      <dsp:nvSpPr>
        <dsp:cNvPr id="0" name=""/>
        <dsp:cNvSpPr/>
      </dsp:nvSpPr>
      <dsp:spPr>
        <a:xfrm>
          <a:off x="7186513" y="534069"/>
          <a:ext cx="2088679" cy="72838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zh-TW" altLang="en-US" sz="1700" b="1" kern="1200" dirty="0"/>
            <a:t>建立分析資料集</a:t>
          </a:r>
          <a:endParaRPr lang="zh-TW" altLang="en-US" sz="1700" kern="1200" dirty="0"/>
        </a:p>
      </dsp:txBody>
      <dsp:txXfrm>
        <a:off x="7207847" y="555403"/>
        <a:ext cx="2046011" cy="68572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480295-A096-B844-88E7-9EE424EC26AC}" type="datetimeFigureOut">
              <a:rPr kumimoji="1" lang="zh-TW" altLang="en-US" smtClean="0"/>
              <a:t>2026/1/18</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4F1520-E6E6-434E-929F-D61D691BB468}" type="slidenum">
              <a:rPr kumimoji="1" lang="zh-TW" altLang="en-US" smtClean="0"/>
              <a:t>‹#›</a:t>
            </a:fld>
            <a:endParaRPr kumimoji="1" lang="zh-TW" altLang="en-US"/>
          </a:p>
        </p:txBody>
      </p:sp>
    </p:spTree>
    <p:extLst>
      <p:ext uri="{BB962C8B-B14F-4D97-AF65-F5344CB8AC3E}">
        <p14:creationId xmlns:p14="http://schemas.microsoft.com/office/powerpoint/2010/main" val="3731358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084F1520-E6E6-434E-929F-D61D691BB468}" type="slidenum">
              <a:rPr kumimoji="1" lang="zh-TW" altLang="en-US" smtClean="0"/>
              <a:t>12</a:t>
            </a:fld>
            <a:endParaRPr kumimoji="1" lang="zh-TW" altLang="en-US"/>
          </a:p>
        </p:txBody>
      </p:sp>
    </p:spTree>
    <p:extLst>
      <p:ext uri="{BB962C8B-B14F-4D97-AF65-F5344CB8AC3E}">
        <p14:creationId xmlns:p14="http://schemas.microsoft.com/office/powerpoint/2010/main" val="45017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084F1520-E6E6-434E-929F-D61D691BB468}" type="slidenum">
              <a:rPr kumimoji="1" lang="zh-TW" altLang="en-US" smtClean="0"/>
              <a:t>13</a:t>
            </a:fld>
            <a:endParaRPr kumimoji="1" lang="zh-TW" altLang="en-US"/>
          </a:p>
        </p:txBody>
      </p:sp>
    </p:spTree>
    <p:extLst>
      <p:ext uri="{BB962C8B-B14F-4D97-AF65-F5344CB8AC3E}">
        <p14:creationId xmlns:p14="http://schemas.microsoft.com/office/powerpoint/2010/main" val="10089086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zh-TW" altLang="en-US"/>
              <a:t>按一下以編輯母片標題樣式</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5FC416A2-A04C-D94B-9E3C-7C7241AEDA30}" type="datetimeFigureOut">
              <a:rPr kumimoji="1" lang="zh-TW" altLang="en-US" smtClean="0"/>
              <a:t>2026/1/18</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23D39D0B-2FF1-3345-80E1-AB419BF3420D}" type="slidenum">
              <a:rPr kumimoji="1" lang="zh-TW" altLang="en-US" smtClean="0"/>
              <a:t>‹#›</a:t>
            </a:fld>
            <a:endParaRPr kumimoji="1" lang="zh-TW" altLang="en-US"/>
          </a:p>
        </p:txBody>
      </p:sp>
    </p:spTree>
    <p:extLst>
      <p:ext uri="{BB962C8B-B14F-4D97-AF65-F5344CB8AC3E}">
        <p14:creationId xmlns:p14="http://schemas.microsoft.com/office/powerpoint/2010/main" val="4013499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TW" altLang="en-US"/>
              <a:t>按一下以編輯母片標題樣式</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5FC416A2-A04C-D94B-9E3C-7C7241AEDA30}" type="datetimeFigureOut">
              <a:rPr kumimoji="1" lang="zh-TW" altLang="en-US" smtClean="0"/>
              <a:t>2026/1/18</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23D39D0B-2FF1-3345-80E1-AB419BF3420D}" type="slidenum">
              <a:rPr kumimoji="1" lang="zh-TW" altLang="en-US" smtClean="0"/>
              <a:t>‹#›</a:t>
            </a:fld>
            <a:endParaRPr kumimoji="1" lang="zh-TW" altLang="en-US"/>
          </a:p>
        </p:txBody>
      </p:sp>
    </p:spTree>
    <p:extLst>
      <p:ext uri="{BB962C8B-B14F-4D97-AF65-F5344CB8AC3E}">
        <p14:creationId xmlns:p14="http://schemas.microsoft.com/office/powerpoint/2010/main" val="220958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zh-TW" altLang="en-US"/>
              <a:t>按一下以編輯母片標題樣式</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5FC416A2-A04C-D94B-9E3C-7C7241AEDA30}" type="datetimeFigureOut">
              <a:rPr kumimoji="1" lang="zh-TW" altLang="en-US" smtClean="0"/>
              <a:t>2026/1/18</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23D39D0B-2FF1-3345-80E1-AB419BF3420D}" type="slidenum">
              <a:rPr kumimoji="1" lang="zh-TW" altLang="en-US" smtClean="0"/>
              <a:t>‹#›</a:t>
            </a:fld>
            <a:endParaRPr kumimoji="1" lang="zh-TW" altLang="en-US"/>
          </a:p>
        </p:txBody>
      </p:sp>
    </p:spTree>
    <p:extLst>
      <p:ext uri="{BB962C8B-B14F-4D97-AF65-F5344CB8AC3E}">
        <p14:creationId xmlns:p14="http://schemas.microsoft.com/office/powerpoint/2010/main" val="2497541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zh-TW" altLang="en-US"/>
              <a:t>按一下以編輯母片標題樣式</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5FC416A2-A04C-D94B-9E3C-7C7241AEDA30}" type="datetimeFigureOut">
              <a:rPr kumimoji="1" lang="zh-TW" altLang="en-US" smtClean="0"/>
              <a:t>2026/1/18</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23D39D0B-2FF1-3345-80E1-AB419BF3420D}" type="slidenum">
              <a:rPr kumimoji="1" lang="zh-TW" altLang="en-US" smtClean="0"/>
              <a:t>‹#›</a:t>
            </a:fld>
            <a:endParaRPr kumimoji="1" lang="zh-TW" altLang="en-US"/>
          </a:p>
        </p:txBody>
      </p:sp>
    </p:spTree>
    <p:extLst>
      <p:ext uri="{BB962C8B-B14F-4D97-AF65-F5344CB8AC3E}">
        <p14:creationId xmlns:p14="http://schemas.microsoft.com/office/powerpoint/2010/main" val="2857303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12" name="Content Placeholder 3"/>
          <p:cNvSpPr>
            <a:spLocks noGrp="1"/>
          </p:cNvSpPr>
          <p:nvPr>
            <p:ph sz="quarter" idx="13"/>
          </p:nvPr>
        </p:nvSpPr>
        <p:spPr>
          <a:xfrm>
            <a:off x="913774" y="3051012"/>
            <a:ext cx="5106027" cy="274018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13" name="Content Placeholder 5"/>
          <p:cNvSpPr>
            <a:spLocks noGrp="1"/>
          </p:cNvSpPr>
          <p:nvPr>
            <p:ph sz="quarter" idx="14"/>
          </p:nvPr>
        </p:nvSpPr>
        <p:spPr>
          <a:xfrm>
            <a:off x="6172200" y="3051012"/>
            <a:ext cx="5105401" cy="274018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5FC416A2-A04C-D94B-9E3C-7C7241AEDA30}" type="datetimeFigureOut">
              <a:rPr kumimoji="1" lang="zh-TW" altLang="en-US" smtClean="0"/>
              <a:t>2026/1/18</a:t>
            </a:fld>
            <a:endParaRPr kumimoji="1" lang="zh-TW" altLang="en-US"/>
          </a:p>
        </p:txBody>
      </p:sp>
      <p:sp>
        <p:nvSpPr>
          <p:cNvPr id="8" name="Footer Placeholder 7"/>
          <p:cNvSpPr>
            <a:spLocks noGrp="1"/>
          </p:cNvSpPr>
          <p:nvPr>
            <p:ph type="ftr" sz="quarter" idx="11"/>
          </p:nvPr>
        </p:nvSpPr>
        <p:spPr/>
        <p:txBody>
          <a:bodyPr/>
          <a:lstStyle/>
          <a:p>
            <a:endParaRPr kumimoji="1" lang="zh-TW" altLang="en-US"/>
          </a:p>
        </p:txBody>
      </p:sp>
      <p:sp>
        <p:nvSpPr>
          <p:cNvPr id="9" name="Slide Number Placeholder 8"/>
          <p:cNvSpPr>
            <a:spLocks noGrp="1"/>
          </p:cNvSpPr>
          <p:nvPr>
            <p:ph type="sldNum" sz="quarter" idx="12"/>
          </p:nvPr>
        </p:nvSpPr>
        <p:spPr/>
        <p:txBody>
          <a:bodyPr/>
          <a:lstStyle/>
          <a:p>
            <a:fld id="{23D39D0B-2FF1-3345-80E1-AB419BF3420D}" type="slidenum">
              <a:rPr kumimoji="1" lang="zh-TW" altLang="en-US" smtClean="0"/>
              <a:t>‹#›</a:t>
            </a:fld>
            <a:endParaRPr kumimoji="1" lang="zh-TW" altLang="en-US"/>
          </a:p>
        </p:txBody>
      </p:sp>
    </p:spTree>
    <p:extLst>
      <p:ext uri="{BB962C8B-B14F-4D97-AF65-F5344CB8AC3E}">
        <p14:creationId xmlns:p14="http://schemas.microsoft.com/office/powerpoint/2010/main" val="1973388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5FC416A2-A04C-D94B-9E3C-7C7241AEDA30}" type="datetimeFigureOut">
              <a:rPr kumimoji="1" lang="zh-TW" altLang="en-US" smtClean="0"/>
              <a:t>2026/1/18</a:t>
            </a:fld>
            <a:endParaRPr kumimoji="1" lang="zh-TW" altLang="en-US"/>
          </a:p>
        </p:txBody>
      </p:sp>
      <p:sp>
        <p:nvSpPr>
          <p:cNvPr id="4" name="Footer Placeholder 3"/>
          <p:cNvSpPr>
            <a:spLocks noGrp="1"/>
          </p:cNvSpPr>
          <p:nvPr>
            <p:ph type="ftr" sz="quarter" idx="11"/>
          </p:nvPr>
        </p:nvSpPr>
        <p:spPr/>
        <p:txBody>
          <a:bodyPr/>
          <a:lstStyle/>
          <a:p>
            <a:endParaRPr kumimoji="1" lang="zh-TW" altLang="en-US"/>
          </a:p>
        </p:txBody>
      </p:sp>
      <p:sp>
        <p:nvSpPr>
          <p:cNvPr id="5" name="Slide Number Placeholder 4"/>
          <p:cNvSpPr>
            <a:spLocks noGrp="1"/>
          </p:cNvSpPr>
          <p:nvPr>
            <p:ph type="sldNum" sz="quarter" idx="12"/>
          </p:nvPr>
        </p:nvSpPr>
        <p:spPr/>
        <p:txBody>
          <a:bodyPr/>
          <a:lstStyle/>
          <a:p>
            <a:fld id="{23D39D0B-2FF1-3345-80E1-AB419BF3420D}" type="slidenum">
              <a:rPr kumimoji="1" lang="zh-TW" altLang="en-US" smtClean="0"/>
              <a:t>‹#›</a:t>
            </a:fld>
            <a:endParaRPr kumimoji="1" lang="zh-TW" altLang="en-US"/>
          </a:p>
        </p:txBody>
      </p:sp>
    </p:spTree>
    <p:extLst>
      <p:ext uri="{BB962C8B-B14F-4D97-AF65-F5344CB8AC3E}">
        <p14:creationId xmlns:p14="http://schemas.microsoft.com/office/powerpoint/2010/main" val="3605797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5FC416A2-A04C-D94B-9E3C-7C7241AEDA30}" type="datetimeFigureOut">
              <a:rPr kumimoji="1" lang="zh-TW" altLang="en-US" smtClean="0"/>
              <a:t>2026/1/18</a:t>
            </a:fld>
            <a:endParaRPr kumimoji="1" lang="zh-TW" altLang="en-US"/>
          </a:p>
        </p:txBody>
      </p:sp>
      <p:sp>
        <p:nvSpPr>
          <p:cNvPr id="3" name="Footer Placeholder 2"/>
          <p:cNvSpPr>
            <a:spLocks noGrp="1"/>
          </p:cNvSpPr>
          <p:nvPr>
            <p:ph type="ftr" sz="quarter" idx="11"/>
          </p:nvPr>
        </p:nvSpPr>
        <p:spPr/>
        <p:txBody>
          <a:bodyPr/>
          <a:lstStyle/>
          <a:p>
            <a:endParaRPr kumimoji="1" lang="zh-TW" altLang="en-US"/>
          </a:p>
        </p:txBody>
      </p:sp>
      <p:sp>
        <p:nvSpPr>
          <p:cNvPr id="4" name="Slide Number Placeholder 3"/>
          <p:cNvSpPr>
            <a:spLocks noGrp="1"/>
          </p:cNvSpPr>
          <p:nvPr>
            <p:ph type="sldNum" sz="quarter" idx="12"/>
          </p:nvPr>
        </p:nvSpPr>
        <p:spPr/>
        <p:txBody>
          <a:bodyPr/>
          <a:lstStyle/>
          <a:p>
            <a:fld id="{23D39D0B-2FF1-3345-80E1-AB419BF3420D}" type="slidenum">
              <a:rPr kumimoji="1" lang="zh-TW" altLang="en-US" smtClean="0"/>
              <a:t>‹#›</a:t>
            </a:fld>
            <a:endParaRPr kumimoji="1" lang="zh-TW" altLang="en-US"/>
          </a:p>
        </p:txBody>
      </p:sp>
    </p:spTree>
    <p:extLst>
      <p:ext uri="{BB962C8B-B14F-4D97-AF65-F5344CB8AC3E}">
        <p14:creationId xmlns:p14="http://schemas.microsoft.com/office/powerpoint/2010/main" val="1318267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zh-TW" altLang="en-US"/>
              <a:t>按一下以編輯母片標題樣式</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5FC416A2-A04C-D94B-9E3C-7C7241AEDA30}" type="datetimeFigureOut">
              <a:rPr kumimoji="1" lang="zh-TW" altLang="en-US" smtClean="0"/>
              <a:t>2026/1/18</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23D39D0B-2FF1-3345-80E1-AB419BF3420D}" type="slidenum">
              <a:rPr kumimoji="1" lang="zh-TW" altLang="en-US" smtClean="0"/>
              <a:t>‹#›</a:t>
            </a:fld>
            <a:endParaRPr kumimoji="1" lang="zh-TW" altLang="en-US"/>
          </a:p>
        </p:txBody>
      </p:sp>
    </p:spTree>
    <p:extLst>
      <p:ext uri="{BB962C8B-B14F-4D97-AF65-F5344CB8AC3E}">
        <p14:creationId xmlns:p14="http://schemas.microsoft.com/office/powerpoint/2010/main" val="2147014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5FC416A2-A04C-D94B-9E3C-7C7241AEDA30}" type="datetimeFigureOut">
              <a:rPr kumimoji="1" lang="zh-TW" altLang="en-US" smtClean="0"/>
              <a:t>2026/1/18</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23D39D0B-2FF1-3345-80E1-AB419BF3420D}" type="slidenum">
              <a:rPr kumimoji="1" lang="zh-TW" altLang="en-US" smtClean="0"/>
              <a:t>‹#›</a:t>
            </a:fld>
            <a:endParaRPr kumimoji="1" lang="zh-TW" altLang="en-US"/>
          </a:p>
        </p:txBody>
      </p:sp>
    </p:spTree>
    <p:extLst>
      <p:ext uri="{BB962C8B-B14F-4D97-AF65-F5344CB8AC3E}">
        <p14:creationId xmlns:p14="http://schemas.microsoft.com/office/powerpoint/2010/main" val="828933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全景圖片 (含輔助字幕)">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5FC416A2-A04C-D94B-9E3C-7C7241AEDA30}" type="datetimeFigureOut">
              <a:rPr kumimoji="1" lang="zh-TW" altLang="en-US" smtClean="0"/>
              <a:t>2026/1/18</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23D39D0B-2FF1-3345-80E1-AB419BF3420D}" type="slidenum">
              <a:rPr kumimoji="1" lang="zh-TW" altLang="en-US" smtClean="0"/>
              <a:t>‹#›</a:t>
            </a:fld>
            <a:endParaRPr kumimoji="1" lang="zh-TW" altLang="en-US"/>
          </a:p>
        </p:txBody>
      </p:sp>
    </p:spTree>
    <p:extLst>
      <p:ext uri="{BB962C8B-B14F-4D97-AF65-F5344CB8AC3E}">
        <p14:creationId xmlns:p14="http://schemas.microsoft.com/office/powerpoint/2010/main" val="754499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標題與輔助字幕">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5FC416A2-A04C-D94B-9E3C-7C7241AEDA30}" type="datetimeFigureOut">
              <a:rPr kumimoji="1" lang="zh-TW" altLang="en-US" smtClean="0"/>
              <a:t>2026/1/18</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23D39D0B-2FF1-3345-80E1-AB419BF3420D}" type="slidenum">
              <a:rPr kumimoji="1" lang="zh-TW" altLang="en-US" smtClean="0"/>
              <a:t>‹#›</a:t>
            </a:fld>
            <a:endParaRPr kumimoji="1" lang="zh-TW" altLang="en-US"/>
          </a:p>
        </p:txBody>
      </p:sp>
    </p:spTree>
    <p:extLst>
      <p:ext uri="{BB962C8B-B14F-4D97-AF65-F5344CB8AC3E}">
        <p14:creationId xmlns:p14="http://schemas.microsoft.com/office/powerpoint/2010/main" val="35951860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述 (含輔助字幕)">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zh-TW" altLang="en-US"/>
              <a:t>按一下以編輯母片標題樣式</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5FC416A2-A04C-D94B-9E3C-7C7241AEDA30}" type="datetimeFigureOut">
              <a:rPr kumimoji="1" lang="zh-TW" altLang="en-US" smtClean="0"/>
              <a:t>2026/1/18</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23D39D0B-2FF1-3345-80E1-AB419BF3420D}" type="slidenum">
              <a:rPr kumimoji="1" lang="zh-TW" altLang="en-US" smtClean="0"/>
              <a:t>‹#›</a:t>
            </a:fld>
            <a:endParaRPr kumimoji="1" lang="zh-TW" alt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503202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5FC416A2-A04C-D94B-9E3C-7C7241AEDA30}" type="datetimeFigureOut">
              <a:rPr kumimoji="1" lang="zh-TW" altLang="en-US" smtClean="0"/>
              <a:t>2026/1/18</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23D39D0B-2FF1-3345-80E1-AB419BF3420D}" type="slidenum">
              <a:rPr kumimoji="1" lang="zh-TW" altLang="en-US" smtClean="0"/>
              <a:t>‹#›</a:t>
            </a:fld>
            <a:endParaRPr kumimoji="1" lang="zh-TW" altLang="en-US"/>
          </a:p>
        </p:txBody>
      </p:sp>
    </p:spTree>
    <p:extLst>
      <p:ext uri="{BB962C8B-B14F-4D97-AF65-F5344CB8AC3E}">
        <p14:creationId xmlns:p14="http://schemas.microsoft.com/office/powerpoint/2010/main" val="41696184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欄">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zh-TW" altLang="en-US"/>
              <a:t>按一下以編輯母片標題樣式</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3" name="Date Placeholder 2"/>
          <p:cNvSpPr>
            <a:spLocks noGrp="1"/>
          </p:cNvSpPr>
          <p:nvPr>
            <p:ph type="dt" sz="half" idx="10"/>
          </p:nvPr>
        </p:nvSpPr>
        <p:spPr/>
        <p:txBody>
          <a:bodyPr/>
          <a:lstStyle/>
          <a:p>
            <a:fld id="{5FC416A2-A04C-D94B-9E3C-7C7241AEDA30}" type="datetimeFigureOut">
              <a:rPr kumimoji="1" lang="zh-TW" altLang="en-US" smtClean="0"/>
              <a:t>2026/1/18</a:t>
            </a:fld>
            <a:endParaRPr kumimoji="1" lang="zh-TW" altLang="en-US"/>
          </a:p>
        </p:txBody>
      </p:sp>
      <p:sp>
        <p:nvSpPr>
          <p:cNvPr id="4" name="Footer Placeholder 3"/>
          <p:cNvSpPr>
            <a:spLocks noGrp="1"/>
          </p:cNvSpPr>
          <p:nvPr>
            <p:ph type="ftr" sz="quarter" idx="11"/>
          </p:nvPr>
        </p:nvSpPr>
        <p:spPr/>
        <p:txBody>
          <a:bodyPr/>
          <a:lstStyle/>
          <a:p>
            <a:endParaRPr kumimoji="1" lang="zh-TW" altLang="en-US"/>
          </a:p>
        </p:txBody>
      </p:sp>
      <p:sp>
        <p:nvSpPr>
          <p:cNvPr id="5" name="Slide Number Placeholder 4"/>
          <p:cNvSpPr>
            <a:spLocks noGrp="1"/>
          </p:cNvSpPr>
          <p:nvPr>
            <p:ph type="sldNum" sz="quarter" idx="12"/>
          </p:nvPr>
        </p:nvSpPr>
        <p:spPr/>
        <p:txBody>
          <a:bodyPr/>
          <a:lstStyle/>
          <a:p>
            <a:fld id="{23D39D0B-2FF1-3345-80E1-AB419BF3420D}" type="slidenum">
              <a:rPr kumimoji="1" lang="zh-TW" altLang="en-US" smtClean="0"/>
              <a:t>‹#›</a:t>
            </a:fld>
            <a:endParaRPr kumimoji="1" lang="zh-TW" altLang="en-US"/>
          </a:p>
        </p:txBody>
      </p:sp>
    </p:spTree>
    <p:extLst>
      <p:ext uri="{BB962C8B-B14F-4D97-AF65-F5344CB8AC3E}">
        <p14:creationId xmlns:p14="http://schemas.microsoft.com/office/powerpoint/2010/main" val="16865302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圖片欄">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zh-TW" altLang="en-US"/>
              <a:t>按一下以編輯母片標題樣式</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3" name="Date Placeholder 2"/>
          <p:cNvSpPr>
            <a:spLocks noGrp="1"/>
          </p:cNvSpPr>
          <p:nvPr>
            <p:ph type="dt" sz="half" idx="10"/>
          </p:nvPr>
        </p:nvSpPr>
        <p:spPr/>
        <p:txBody>
          <a:bodyPr/>
          <a:lstStyle/>
          <a:p>
            <a:fld id="{5FC416A2-A04C-D94B-9E3C-7C7241AEDA30}" type="datetimeFigureOut">
              <a:rPr kumimoji="1" lang="zh-TW" altLang="en-US" smtClean="0"/>
              <a:t>2026/1/18</a:t>
            </a:fld>
            <a:endParaRPr kumimoji="1" lang="zh-TW" altLang="en-US"/>
          </a:p>
        </p:txBody>
      </p:sp>
      <p:sp>
        <p:nvSpPr>
          <p:cNvPr id="4" name="Footer Placeholder 3"/>
          <p:cNvSpPr>
            <a:spLocks noGrp="1"/>
          </p:cNvSpPr>
          <p:nvPr>
            <p:ph type="ftr" sz="quarter" idx="11"/>
          </p:nvPr>
        </p:nvSpPr>
        <p:spPr/>
        <p:txBody>
          <a:bodyPr/>
          <a:lstStyle/>
          <a:p>
            <a:endParaRPr kumimoji="1" lang="zh-TW" altLang="en-US"/>
          </a:p>
        </p:txBody>
      </p:sp>
      <p:sp>
        <p:nvSpPr>
          <p:cNvPr id="5" name="Slide Number Placeholder 4"/>
          <p:cNvSpPr>
            <a:spLocks noGrp="1"/>
          </p:cNvSpPr>
          <p:nvPr>
            <p:ph type="sldNum" sz="quarter" idx="12"/>
          </p:nvPr>
        </p:nvSpPr>
        <p:spPr/>
        <p:txBody>
          <a:bodyPr/>
          <a:lstStyle/>
          <a:p>
            <a:fld id="{23D39D0B-2FF1-3345-80E1-AB419BF3420D}" type="slidenum">
              <a:rPr kumimoji="1" lang="zh-TW" altLang="en-US" smtClean="0"/>
              <a:t>‹#›</a:t>
            </a:fld>
            <a:endParaRPr kumimoji="1" lang="zh-TW" altLang="en-US"/>
          </a:p>
        </p:txBody>
      </p:sp>
    </p:spTree>
    <p:extLst>
      <p:ext uri="{BB962C8B-B14F-4D97-AF65-F5344CB8AC3E}">
        <p14:creationId xmlns:p14="http://schemas.microsoft.com/office/powerpoint/2010/main" val="7875367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TW" altLang="en-US"/>
              <a:t>按一下以編輯母片標題樣式</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5FC416A2-A04C-D94B-9E3C-7C7241AEDA30}" type="datetimeFigureOut">
              <a:rPr kumimoji="1" lang="zh-TW" altLang="en-US" smtClean="0"/>
              <a:t>2026/1/18</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23D39D0B-2FF1-3345-80E1-AB419BF3420D}" type="slidenum">
              <a:rPr kumimoji="1" lang="zh-TW" altLang="en-US" smtClean="0"/>
              <a:t>‹#›</a:t>
            </a:fld>
            <a:endParaRPr kumimoji="1" lang="zh-TW" altLang="en-US"/>
          </a:p>
        </p:txBody>
      </p:sp>
    </p:spTree>
    <p:extLst>
      <p:ext uri="{BB962C8B-B14F-4D97-AF65-F5344CB8AC3E}">
        <p14:creationId xmlns:p14="http://schemas.microsoft.com/office/powerpoint/2010/main" val="38375620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zh-TW" altLang="en-US"/>
              <a:t>按一下以編輯母片標題樣式</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5FC416A2-A04C-D94B-9E3C-7C7241AEDA30}" type="datetimeFigureOut">
              <a:rPr kumimoji="1" lang="zh-TW" altLang="en-US" smtClean="0"/>
              <a:t>2026/1/18</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23D39D0B-2FF1-3345-80E1-AB419BF3420D}" type="slidenum">
              <a:rPr kumimoji="1" lang="zh-TW" altLang="en-US" smtClean="0"/>
              <a:t>‹#›</a:t>
            </a:fld>
            <a:endParaRPr kumimoji="1" lang="zh-TW" altLang="en-US"/>
          </a:p>
        </p:txBody>
      </p:sp>
    </p:spTree>
    <p:extLst>
      <p:ext uri="{BB962C8B-B14F-4D97-AF65-F5344CB8AC3E}">
        <p14:creationId xmlns:p14="http://schemas.microsoft.com/office/powerpoint/2010/main" val="2418611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5FC416A2-A04C-D94B-9E3C-7C7241AEDA30}" type="datetimeFigureOut">
              <a:rPr kumimoji="1" lang="zh-TW" altLang="en-US" smtClean="0"/>
              <a:t>2026/1/18</a:t>
            </a:fld>
            <a:endParaRPr kumimoji="1" lang="zh-TW" alt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kumimoji="1" lang="zh-TW" alt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23D39D0B-2FF1-3345-80E1-AB419BF3420D}" type="slidenum">
              <a:rPr kumimoji="1" lang="zh-TW" altLang="en-US" smtClean="0"/>
              <a:t>‹#›</a:t>
            </a:fld>
            <a:endParaRPr kumimoji="1" lang="zh-TW" altLang="en-US"/>
          </a:p>
        </p:txBody>
      </p:sp>
    </p:spTree>
    <p:extLst>
      <p:ext uri="{BB962C8B-B14F-4D97-AF65-F5344CB8AC3E}">
        <p14:creationId xmlns:p14="http://schemas.microsoft.com/office/powerpoint/2010/main" val="3676649875"/>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標題 2">
            <a:extLst>
              <a:ext uri="{FF2B5EF4-FFF2-40B4-BE49-F238E27FC236}">
                <a16:creationId xmlns:a16="http://schemas.microsoft.com/office/drawing/2014/main" id="{3678E816-DA2E-4F15-A837-5A444F6BE0D9}"/>
              </a:ext>
            </a:extLst>
          </p:cNvPr>
          <p:cNvSpPr>
            <a:spLocks noGrp="1"/>
          </p:cNvSpPr>
          <p:nvPr>
            <p:ph type="subTitle" idx="1"/>
          </p:nvPr>
        </p:nvSpPr>
        <p:spPr>
          <a:xfrm>
            <a:off x="3495766" y="2998694"/>
            <a:ext cx="5940709" cy="2514600"/>
          </a:xfrm>
        </p:spPr>
        <p:txBody>
          <a:bodyPr/>
          <a:lstStyle/>
          <a:p>
            <a:pPr algn="l"/>
            <a:r>
              <a:rPr kumimoji="1" lang="zh-TW" altLang="en-US" cap="none" dirty="0">
                <a:solidFill>
                  <a:schemeClr val="tx1"/>
                </a:solidFill>
                <a:latin typeface="+mn-ea"/>
              </a:rPr>
              <a:t>組員：</a:t>
            </a:r>
            <a:r>
              <a:rPr kumimoji="1" lang="en-US" altLang="zh-TW" cap="none" dirty="0">
                <a:solidFill>
                  <a:schemeClr val="tx1"/>
                </a:solidFill>
                <a:latin typeface="+mn-ea"/>
              </a:rPr>
              <a:t>3311341097 </a:t>
            </a:r>
            <a:r>
              <a:rPr kumimoji="1" lang="zh-TW" altLang="en-US" cap="none" dirty="0">
                <a:solidFill>
                  <a:schemeClr val="tx1"/>
                </a:solidFill>
                <a:latin typeface="+mn-ea"/>
              </a:rPr>
              <a:t>張凱評</a:t>
            </a:r>
            <a:endParaRPr kumimoji="1" lang="en-US" altLang="zh-TW" cap="none" dirty="0">
              <a:solidFill>
                <a:schemeClr val="tx1"/>
              </a:solidFill>
              <a:latin typeface="+mn-ea"/>
            </a:endParaRPr>
          </a:p>
          <a:p>
            <a:pPr algn="l"/>
            <a:r>
              <a:rPr kumimoji="1" lang="zh-TW" altLang="en-US" cap="none" dirty="0">
                <a:solidFill>
                  <a:schemeClr val="tx1"/>
                </a:solidFill>
                <a:latin typeface="+mn-ea"/>
              </a:rPr>
              <a:t>指導教授：謝文仲</a:t>
            </a:r>
            <a:endParaRPr kumimoji="1" lang="en-US" altLang="zh-TW" cap="none" dirty="0">
              <a:solidFill>
                <a:schemeClr val="tx1"/>
              </a:solidFill>
              <a:latin typeface="+mn-ea"/>
            </a:endParaRPr>
          </a:p>
          <a:p>
            <a:pPr algn="l"/>
            <a:r>
              <a:rPr kumimoji="1" lang="zh-TW" altLang="en-US" cap="none" dirty="0">
                <a:solidFill>
                  <a:schemeClr val="tx1"/>
                </a:solidFill>
                <a:latin typeface="+mn-ea"/>
              </a:rPr>
              <a:t>資料來源：</a:t>
            </a:r>
            <a:r>
              <a:rPr kumimoji="1" lang="en-US" altLang="zh-TW" cap="none" dirty="0">
                <a:solidFill>
                  <a:schemeClr val="tx1"/>
                </a:solidFill>
                <a:latin typeface="+mn-ea"/>
              </a:rPr>
              <a:t>Kaggle </a:t>
            </a:r>
            <a:r>
              <a:rPr kumimoji="1" lang="en-US" altLang="zh-TW" cap="none" dirty="0" err="1">
                <a:solidFill>
                  <a:schemeClr val="tx1"/>
                </a:solidFill>
                <a:latin typeface="+mn-ea"/>
              </a:rPr>
              <a:t>olist</a:t>
            </a:r>
            <a:r>
              <a:rPr kumimoji="1" lang="en-US" altLang="zh-TW" cap="none" dirty="0">
                <a:solidFill>
                  <a:schemeClr val="tx1"/>
                </a:solidFill>
                <a:latin typeface="+mn-ea"/>
              </a:rPr>
              <a:t> dataset</a:t>
            </a:r>
          </a:p>
          <a:p>
            <a:pPr algn="l"/>
            <a:r>
              <a:rPr kumimoji="1" lang="zh-TW" altLang="en-US" cap="none" dirty="0">
                <a:solidFill>
                  <a:schemeClr val="tx1"/>
                </a:solidFill>
                <a:latin typeface="+mn-ea"/>
              </a:rPr>
              <a:t>方法：</a:t>
            </a:r>
            <a:r>
              <a:rPr kumimoji="1" lang="en-US" altLang="zh-TW" cap="none" dirty="0">
                <a:solidFill>
                  <a:schemeClr val="tx1"/>
                </a:solidFill>
                <a:latin typeface="+mn-ea"/>
              </a:rPr>
              <a:t>CRISP-DM</a:t>
            </a:r>
          </a:p>
          <a:p>
            <a:pPr algn="l"/>
            <a:endParaRPr lang="en" altLang="zh-TW" cap="none" dirty="0">
              <a:solidFill>
                <a:schemeClr val="tx1"/>
              </a:solidFill>
              <a:latin typeface="+mn-ea"/>
            </a:endParaRPr>
          </a:p>
          <a:p>
            <a:pPr algn="l"/>
            <a:endParaRPr kumimoji="1" lang="en-US" altLang="zh-TW" cap="none" dirty="0">
              <a:solidFill>
                <a:schemeClr val="tx1"/>
              </a:solidFill>
              <a:latin typeface="+mn-ea"/>
            </a:endParaRPr>
          </a:p>
          <a:p>
            <a:pPr algn="l"/>
            <a:endParaRPr kumimoji="1" lang="zh-TW" altLang="en-US" cap="none" dirty="0">
              <a:solidFill>
                <a:schemeClr val="tx1"/>
              </a:solidFill>
              <a:latin typeface="+mn-ea"/>
            </a:endParaRPr>
          </a:p>
        </p:txBody>
      </p:sp>
      <p:sp>
        <p:nvSpPr>
          <p:cNvPr id="5" name="Rectangle 2">
            <a:extLst>
              <a:ext uri="{FF2B5EF4-FFF2-40B4-BE49-F238E27FC236}">
                <a16:creationId xmlns:a16="http://schemas.microsoft.com/office/drawing/2014/main" id="{72F66DE5-6D0F-EBCB-4FAA-BC50FE02A067}"/>
              </a:ext>
            </a:extLst>
          </p:cNvPr>
          <p:cNvSpPr>
            <a:spLocks noGrp="1" noChangeArrowheads="1"/>
          </p:cNvSpPr>
          <p:nvPr>
            <p:ph type="ctrTitle"/>
          </p:nvPr>
        </p:nvSpPr>
        <p:spPr bwMode="auto">
          <a:xfrm>
            <a:off x="3495766" y="1506397"/>
            <a:ext cx="520046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tabLst/>
            </a:pPr>
            <a:r>
              <a:rPr kumimoji="0" lang="zh-TW" altLang="en-US" sz="4000" b="0" i="0" u="none" strike="noStrike" cap="none" normalizeH="0" baseline="0" dirty="0">
                <a:ln>
                  <a:noFill/>
                </a:ln>
                <a:solidFill>
                  <a:schemeClr val="tx1"/>
                </a:solidFill>
                <a:effectLst/>
                <a:latin typeface="+mj-ea"/>
              </a:rPr>
              <a:t>巴西</a:t>
            </a:r>
            <a:r>
              <a:rPr kumimoji="0" lang="en-US" altLang="zh-TW" sz="4000" b="0" i="0" u="none" strike="noStrike" cap="none" normalizeH="0" baseline="0" dirty="0" err="1">
                <a:ln>
                  <a:noFill/>
                </a:ln>
                <a:solidFill>
                  <a:schemeClr val="tx1"/>
                </a:solidFill>
                <a:effectLst/>
                <a:latin typeface="+mj-ea"/>
              </a:rPr>
              <a:t>olist</a:t>
            </a:r>
            <a:r>
              <a:rPr kumimoji="0" lang="zh-TW" altLang="en-US" sz="4000" b="0" i="0" u="none" strike="noStrike" cap="none" normalizeH="0" baseline="0" dirty="0">
                <a:ln>
                  <a:noFill/>
                </a:ln>
                <a:solidFill>
                  <a:schemeClr val="tx1"/>
                </a:solidFill>
                <a:effectLst/>
                <a:latin typeface="+mj-ea"/>
              </a:rPr>
              <a:t>電商數據分析</a:t>
            </a:r>
            <a:endParaRPr kumimoji="0" lang="zh-TW" altLang="zh-TW" sz="4000" b="0" i="0" u="none" strike="noStrike" cap="none" normalizeH="0" baseline="0" dirty="0">
              <a:ln>
                <a:noFill/>
              </a:ln>
              <a:solidFill>
                <a:schemeClr val="tx1"/>
              </a:solidFill>
              <a:effectLst/>
              <a:latin typeface="+mj-ea"/>
            </a:endParaRPr>
          </a:p>
          <a:p>
            <a:pPr marL="0" marR="0" lvl="0" indent="0" defTabSz="914400" rtl="0" eaLnBrk="0" fontAlgn="base" latinLnBrk="0" hangingPunct="0">
              <a:lnSpc>
                <a:spcPct val="100000"/>
              </a:lnSpc>
              <a:spcBef>
                <a:spcPct val="0"/>
              </a:spcBef>
              <a:spcAft>
                <a:spcPct val="0"/>
              </a:spcAft>
              <a:buClrTx/>
              <a:buSzTx/>
              <a:buFontTx/>
              <a:buChar char="•"/>
              <a:tabLst/>
            </a:pPr>
            <a:endParaRPr kumimoji="0" lang="zh-TW" altLang="zh-TW" sz="4000" b="0" i="0" u="none" strike="noStrike" cap="none" normalizeH="0" baseline="0" dirty="0">
              <a:ln>
                <a:noFill/>
              </a:ln>
              <a:solidFill>
                <a:schemeClr val="tx1"/>
              </a:solidFill>
              <a:effectLst/>
              <a:latin typeface="+mj-ea"/>
            </a:endParaRPr>
          </a:p>
        </p:txBody>
      </p:sp>
      <p:sp>
        <p:nvSpPr>
          <p:cNvPr id="6" name="Rectangle 3">
            <a:extLst>
              <a:ext uri="{FF2B5EF4-FFF2-40B4-BE49-F238E27FC236}">
                <a16:creationId xmlns:a16="http://schemas.microsoft.com/office/drawing/2014/main" id="{9A882908-98C1-F65A-F83F-058456EA56F7}"/>
              </a:ext>
            </a:extLst>
          </p:cNvPr>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702207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435FFA-7D1A-92E2-F22D-0EEB61092B58}"/>
              </a:ext>
            </a:extLst>
          </p:cNvPr>
          <p:cNvSpPr>
            <a:spLocks noGrp="1"/>
          </p:cNvSpPr>
          <p:nvPr>
            <p:ph type="title"/>
          </p:nvPr>
        </p:nvSpPr>
        <p:spPr>
          <a:xfrm>
            <a:off x="-194265" y="874724"/>
            <a:ext cx="10364451" cy="1596177"/>
          </a:xfrm>
        </p:spPr>
        <p:txBody>
          <a:bodyPr/>
          <a:lstStyle/>
          <a:p>
            <a:r>
              <a:rPr kumimoji="1" lang="zh-TW" altLang="en-US" dirty="0"/>
              <a:t>目錄</a:t>
            </a:r>
          </a:p>
        </p:txBody>
      </p:sp>
      <p:sp>
        <p:nvSpPr>
          <p:cNvPr id="3" name="內容版面配置區 2">
            <a:extLst>
              <a:ext uri="{FF2B5EF4-FFF2-40B4-BE49-F238E27FC236}">
                <a16:creationId xmlns:a16="http://schemas.microsoft.com/office/drawing/2014/main" id="{E239CAEF-3A59-2822-8D9D-1CAAF3AF13ED}"/>
              </a:ext>
            </a:extLst>
          </p:cNvPr>
          <p:cNvSpPr>
            <a:spLocks noGrp="1"/>
          </p:cNvSpPr>
          <p:nvPr>
            <p:ph sz="quarter" idx="13"/>
          </p:nvPr>
        </p:nvSpPr>
        <p:spPr>
          <a:xfrm>
            <a:off x="4363706" y="3072642"/>
            <a:ext cx="3464588" cy="2054300"/>
          </a:xfrm>
        </p:spPr>
        <p:txBody>
          <a:bodyPr/>
          <a:lstStyle/>
          <a:p>
            <a:pPr marL="0" indent="0">
              <a:buNone/>
            </a:pPr>
            <a:r>
              <a:rPr kumimoji="1" lang="en-US" altLang="zh-TW" dirty="0"/>
              <a:t>1. </a:t>
            </a:r>
            <a:r>
              <a:rPr kumimoji="1" lang="zh-TW" altLang="en-US" dirty="0"/>
              <a:t>商業背景與研究動機</a:t>
            </a:r>
            <a:endParaRPr kumimoji="1" lang="en-US" altLang="zh-TW" dirty="0"/>
          </a:p>
          <a:p>
            <a:pPr marL="0" indent="0">
              <a:buNone/>
            </a:pPr>
            <a:r>
              <a:rPr kumimoji="1" lang="en-US" altLang="zh-TW" dirty="0"/>
              <a:t>2.</a:t>
            </a:r>
            <a:r>
              <a:rPr kumimoji="1" lang="zh-TW" altLang="en-US" dirty="0"/>
              <a:t> 專案目標</a:t>
            </a:r>
            <a:endParaRPr kumimoji="1" lang="en-US" altLang="zh-TW" dirty="0"/>
          </a:p>
          <a:p>
            <a:pPr marL="0" indent="0">
              <a:buNone/>
            </a:pPr>
            <a:r>
              <a:rPr kumimoji="1" lang="en-US" altLang="zh-TW" dirty="0"/>
              <a:t>3. </a:t>
            </a:r>
            <a:r>
              <a:rPr kumimoji="1" lang="zh-TW" altLang="en-US" dirty="0"/>
              <a:t>分析方法</a:t>
            </a:r>
            <a:endParaRPr kumimoji="1" lang="en-US" altLang="zh-TW" dirty="0"/>
          </a:p>
          <a:p>
            <a:pPr marL="0" indent="0">
              <a:buNone/>
            </a:pPr>
            <a:r>
              <a:rPr kumimoji="1" lang="en-US" altLang="zh-TW" dirty="0"/>
              <a:t>4. </a:t>
            </a:r>
            <a:r>
              <a:rPr kumimoji="1" lang="zh-TW" altLang="en-US" dirty="0"/>
              <a:t>專案進度說明</a:t>
            </a:r>
            <a:endParaRPr kumimoji="1" lang="en-US" altLang="zh-TW" dirty="0"/>
          </a:p>
          <a:p>
            <a:endParaRPr kumimoji="1" lang="zh-TW" altLang="en-US" dirty="0"/>
          </a:p>
        </p:txBody>
      </p:sp>
    </p:spTree>
    <p:extLst>
      <p:ext uri="{BB962C8B-B14F-4D97-AF65-F5344CB8AC3E}">
        <p14:creationId xmlns:p14="http://schemas.microsoft.com/office/powerpoint/2010/main" val="2499537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DA4393-0AB8-BDD5-1DFD-682520E9693A}"/>
              </a:ext>
            </a:extLst>
          </p:cNvPr>
          <p:cNvSpPr>
            <a:spLocks noGrp="1"/>
          </p:cNvSpPr>
          <p:nvPr>
            <p:ph type="title"/>
          </p:nvPr>
        </p:nvSpPr>
        <p:spPr>
          <a:xfrm>
            <a:off x="913774" y="274763"/>
            <a:ext cx="10364451" cy="1596177"/>
          </a:xfrm>
        </p:spPr>
        <p:txBody>
          <a:bodyPr/>
          <a:lstStyle/>
          <a:p>
            <a:r>
              <a:rPr kumimoji="1" lang="zh-TW" altLang="en-US" dirty="0"/>
              <a:t>商業背景與研究動機</a:t>
            </a:r>
          </a:p>
        </p:txBody>
      </p:sp>
      <p:sp>
        <p:nvSpPr>
          <p:cNvPr id="3" name="內容版面配置區 2">
            <a:extLst>
              <a:ext uri="{FF2B5EF4-FFF2-40B4-BE49-F238E27FC236}">
                <a16:creationId xmlns:a16="http://schemas.microsoft.com/office/drawing/2014/main" id="{DB1B25C1-0FC2-986C-DDAA-7581962E00FE}"/>
              </a:ext>
            </a:extLst>
          </p:cNvPr>
          <p:cNvSpPr>
            <a:spLocks noGrp="1"/>
          </p:cNvSpPr>
          <p:nvPr>
            <p:ph sz="quarter" idx="13"/>
          </p:nvPr>
        </p:nvSpPr>
        <p:spPr>
          <a:xfrm>
            <a:off x="1828173" y="3132573"/>
            <a:ext cx="9112353" cy="2635215"/>
          </a:xfrm>
        </p:spPr>
        <p:txBody>
          <a:bodyPr>
            <a:normAutofit/>
          </a:bodyPr>
          <a:lstStyle/>
          <a:p>
            <a:pPr marL="0" indent="0">
              <a:buNone/>
            </a:pPr>
            <a:r>
              <a:rPr lang="zh-TW" altLang="en-US" dirty="0"/>
              <a:t>本專案的研究動機主要來自於個人對資料分析實務能力的培養與驗證。為提升自己在電商領域的分析能力，本專案以「模擬電商平台數據分析師」為出發點，參考 </a:t>
            </a:r>
            <a:r>
              <a:rPr lang="en" altLang="zh-TW" dirty="0"/>
              <a:t>CRM</a:t>
            </a:r>
            <a:r>
              <a:rPr lang="zh-TW" altLang="en" dirty="0"/>
              <a:t>、</a:t>
            </a:r>
            <a:r>
              <a:rPr lang="en" altLang="zh-TW" dirty="0"/>
              <a:t>CLV </a:t>
            </a:r>
            <a:r>
              <a:rPr lang="zh-TW" altLang="en-US" dirty="0"/>
              <a:t>與 </a:t>
            </a:r>
            <a:r>
              <a:rPr lang="en" altLang="zh-TW" dirty="0"/>
              <a:t>STP </a:t>
            </a:r>
            <a:r>
              <a:rPr lang="zh-TW" altLang="en-US" dirty="0"/>
              <a:t>等相關理論與概念，盤點電商平台在顧客經營上常見的分析議題，並將其收斂為核心問題</a:t>
            </a:r>
            <a:r>
              <a:rPr lang="en-US" altLang="zh-TW" dirty="0"/>
              <a:t>(</a:t>
            </a:r>
            <a:r>
              <a:rPr lang="zh-TW" altLang="en-US" dirty="0"/>
              <a:t>辨識高價值顧客並且降低其流失風險</a:t>
            </a:r>
            <a:r>
              <a:rPr lang="en-US" altLang="zh-TW" dirty="0"/>
              <a:t>)</a:t>
            </a:r>
            <a:r>
              <a:rPr lang="zh-TW" altLang="en-US" dirty="0"/>
              <a:t>，再進一步拆解為可執行的子目標。最後，透過資料科學與數據探勘方法建立可重現的分析流程，產出可用於決策支援的模型結果與策略建議。</a:t>
            </a:r>
            <a:endParaRPr kumimoji="1" lang="zh-TW" altLang="en-US" dirty="0"/>
          </a:p>
        </p:txBody>
      </p:sp>
      <p:sp>
        <p:nvSpPr>
          <p:cNvPr id="6" name="文字方塊 5">
            <a:extLst>
              <a:ext uri="{FF2B5EF4-FFF2-40B4-BE49-F238E27FC236}">
                <a16:creationId xmlns:a16="http://schemas.microsoft.com/office/drawing/2014/main" id="{392DAA58-93AD-0E32-8295-46D6DCB51964}"/>
              </a:ext>
            </a:extLst>
          </p:cNvPr>
          <p:cNvSpPr txBox="1"/>
          <p:nvPr/>
        </p:nvSpPr>
        <p:spPr>
          <a:xfrm>
            <a:off x="1828173" y="5568979"/>
            <a:ext cx="9241446" cy="800219"/>
          </a:xfrm>
          <a:prstGeom prst="rect">
            <a:avLst/>
          </a:prstGeom>
          <a:noFill/>
        </p:spPr>
        <p:txBody>
          <a:bodyPr wrap="square" rtlCol="0">
            <a:spAutoFit/>
          </a:bodyPr>
          <a:lstStyle/>
          <a:p>
            <a:r>
              <a:rPr lang="zh-TW" altLang="en-US" dirty="0"/>
              <a:t>理論基礎：</a:t>
            </a:r>
            <a:br>
              <a:rPr lang="en" altLang="zh-TW" sz="1400" dirty="0"/>
            </a:br>
            <a:r>
              <a:rPr lang="zh-TW" altLang="en-US" sz="1400" dirty="0"/>
              <a:t>本專案之分析架構主要參考顧客關係管理（</a:t>
            </a:r>
            <a:r>
              <a:rPr lang="en" altLang="zh-TW" sz="1400" dirty="0"/>
              <a:t>CRM</a:t>
            </a:r>
            <a:r>
              <a:rPr lang="zh-TW" altLang="en" sz="1400" dirty="0"/>
              <a:t>）、</a:t>
            </a:r>
            <a:r>
              <a:rPr lang="zh-TW" altLang="en-US" sz="1400" dirty="0"/>
              <a:t>顧客終身價值（</a:t>
            </a:r>
            <a:r>
              <a:rPr lang="en" altLang="zh-TW" sz="1400" dirty="0"/>
              <a:t>CLV</a:t>
            </a:r>
            <a:r>
              <a:rPr lang="zh-TW" altLang="en" sz="1400" dirty="0"/>
              <a:t>）</a:t>
            </a:r>
            <a:r>
              <a:rPr lang="zh-TW" altLang="en-US" sz="1400" dirty="0"/>
              <a:t>與 </a:t>
            </a:r>
            <a:r>
              <a:rPr lang="en" altLang="zh-TW" sz="1400" dirty="0"/>
              <a:t>STP</a:t>
            </a:r>
            <a:r>
              <a:rPr lang="zh-TW" altLang="en" sz="1400" dirty="0"/>
              <a:t>）</a:t>
            </a:r>
            <a:r>
              <a:rPr lang="zh-TW" altLang="en-US" sz="1400" dirty="0"/>
              <a:t>等相關理論，作為專案研究問題與分析方向之理論背景。</a:t>
            </a:r>
          </a:p>
        </p:txBody>
      </p:sp>
    </p:spTree>
    <p:extLst>
      <p:ext uri="{BB962C8B-B14F-4D97-AF65-F5344CB8AC3E}">
        <p14:creationId xmlns:p14="http://schemas.microsoft.com/office/powerpoint/2010/main" val="609138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8F38A6-347F-07C9-4B4D-7615CBAE3A04}"/>
              </a:ext>
            </a:extLst>
          </p:cNvPr>
          <p:cNvSpPr>
            <a:spLocks noGrp="1"/>
          </p:cNvSpPr>
          <p:nvPr>
            <p:ph type="title"/>
          </p:nvPr>
        </p:nvSpPr>
        <p:spPr>
          <a:xfrm>
            <a:off x="2850150" y="219589"/>
            <a:ext cx="6960824" cy="1619073"/>
          </a:xfrm>
        </p:spPr>
        <p:txBody>
          <a:bodyPr>
            <a:normAutofit/>
          </a:bodyPr>
          <a:lstStyle/>
          <a:p>
            <a:pPr algn="l"/>
            <a:r>
              <a:rPr kumimoji="1" lang="zh-TW" altLang="en-US" dirty="0"/>
              <a:t>專案目標：專案目標定義方法</a:t>
            </a:r>
            <a:br>
              <a:rPr lang="zh-TW" altLang="en-US" dirty="0"/>
            </a:br>
            <a:endParaRPr kumimoji="1" lang="zh-TW" altLang="en-US" dirty="0"/>
          </a:p>
        </p:txBody>
      </p:sp>
      <p:sp>
        <p:nvSpPr>
          <p:cNvPr id="5" name="Rectangle 2">
            <a:extLst>
              <a:ext uri="{FF2B5EF4-FFF2-40B4-BE49-F238E27FC236}">
                <a16:creationId xmlns:a16="http://schemas.microsoft.com/office/drawing/2014/main" id="{CA34B101-368A-1774-0891-4478F68744B1}"/>
              </a:ext>
            </a:extLst>
          </p:cNvPr>
          <p:cNvSpPr>
            <a:spLocks noGrp="1" noChangeArrowheads="1"/>
          </p:cNvSpPr>
          <p:nvPr>
            <p:ph sz="quarter" idx="13"/>
          </p:nvPr>
        </p:nvSpPr>
        <p:spPr bwMode="auto">
          <a:xfrm>
            <a:off x="913774" y="3655994"/>
            <a:ext cx="9746428" cy="2536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zh-TW" altLang="zh-TW" sz="1800" i="0" u="none" strike="noStrike" cap="none" normalizeH="0" baseline="0" dirty="0">
                <a:ln>
                  <a:noFill/>
                </a:ln>
                <a:solidFill>
                  <a:schemeClr val="tx1"/>
                </a:solidFill>
                <a:effectLst/>
                <a:latin typeface="Arial" panose="020B0604020202020204" pitchFamily="34" charset="0"/>
              </a:rPr>
              <a:t>本專案目標分三層：業務核心目標與拆解 / 商業成功指標 / 模型目標</a:t>
            </a:r>
            <a:r>
              <a:rPr lang="zh-TW" altLang="en-US" sz="1800" cap="none" dirty="0">
                <a:latin typeface="Arial" panose="020B0604020202020204" pitchFamily="34" charset="0"/>
              </a:rPr>
              <a:t>，目的讓專案從商業需求出發，並且有明確的完成標準。</a:t>
            </a:r>
            <a:endParaRPr lang="en-US" altLang="zh-TW" sz="1800" cap="none" dirty="0">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None/>
              <a:tabLst/>
            </a:pPr>
            <a:endParaRPr kumimoji="0" lang="zh-TW" altLang="zh-TW"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None/>
              <a:tabLst/>
            </a:pPr>
            <a:r>
              <a:rPr lang="en-US" altLang="zh-TW" sz="1800" cap="none" dirty="0">
                <a:latin typeface="Arial" panose="020B0604020202020204" pitchFamily="34" charset="0"/>
              </a:rPr>
              <a:t>	</a:t>
            </a:r>
            <a:r>
              <a:rPr kumimoji="0" lang="zh-TW" altLang="zh-TW" sz="1800" i="0" u="none" strike="noStrike" cap="none" normalizeH="0" baseline="0" dirty="0">
                <a:ln>
                  <a:noFill/>
                </a:ln>
                <a:solidFill>
                  <a:schemeClr val="tx1"/>
                </a:solidFill>
                <a:effectLst/>
                <a:latin typeface="Arial" panose="020B0604020202020204" pitchFamily="34" charset="0"/>
              </a:rPr>
              <a:t>業務層：界定決策者關心的問題，轉成可執行任務</a:t>
            </a:r>
            <a:endParaRPr kumimoji="0" lang="en-US" altLang="zh-TW"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None/>
              <a:tabLst/>
            </a:pPr>
            <a:r>
              <a:rPr lang="en-US" altLang="zh-TW" sz="1800" cap="none" dirty="0">
                <a:latin typeface="Arial" panose="020B0604020202020204" pitchFamily="34" charset="0"/>
              </a:rPr>
              <a:t>	</a:t>
            </a:r>
            <a:r>
              <a:rPr kumimoji="0" lang="zh-TW" altLang="zh-TW" sz="1800" i="0" u="none" strike="noStrike" cap="none" normalizeH="0" baseline="0" dirty="0">
                <a:ln>
                  <a:noFill/>
                </a:ln>
                <a:solidFill>
                  <a:schemeClr val="tx1"/>
                </a:solidFill>
                <a:effectLst/>
                <a:latin typeface="Arial" panose="020B0604020202020204" pitchFamily="34" charset="0"/>
              </a:rPr>
              <a:t>商業層：定義「成果是否可用」，避免只有分析沒有決策價值</a:t>
            </a:r>
            <a:endParaRPr kumimoji="0" lang="en-US" altLang="zh-TW"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None/>
              <a:tabLst/>
            </a:pPr>
            <a:r>
              <a:rPr lang="en-US" altLang="zh-TW" sz="1800" cap="none" dirty="0">
                <a:latin typeface="Arial" panose="020B0604020202020204" pitchFamily="34" charset="0"/>
              </a:rPr>
              <a:t>	</a:t>
            </a:r>
            <a:r>
              <a:rPr kumimoji="0" lang="zh-TW" altLang="zh-TW" sz="1800" i="0" u="none" strike="noStrike" cap="none" normalizeH="0" baseline="0" dirty="0">
                <a:ln>
                  <a:noFill/>
                </a:ln>
                <a:solidFill>
                  <a:schemeClr val="tx1"/>
                </a:solidFill>
                <a:effectLst/>
                <a:latin typeface="Arial" panose="020B0604020202020204" pitchFamily="34" charset="0"/>
              </a:rPr>
              <a:t>模型層：明確方法、輸出與技術標準，確保流程可評估、可重現</a:t>
            </a:r>
            <a:endParaRPr kumimoji="0" lang="zh-TW" altLang="en-US" sz="1800" i="0" u="none" strike="noStrike" cap="none" normalizeH="0" baseline="0" dirty="0">
              <a:ln>
                <a:noFill/>
              </a:ln>
              <a:solidFill>
                <a:schemeClr val="tx1"/>
              </a:solidFill>
              <a:effectLst/>
              <a:latin typeface="Arial" panose="020B0604020202020204" pitchFamily="34" charset="0"/>
            </a:endParaRPr>
          </a:p>
        </p:txBody>
      </p:sp>
      <p:pic>
        <p:nvPicPr>
          <p:cNvPr id="3" name="圖片 2">
            <a:extLst>
              <a:ext uri="{FF2B5EF4-FFF2-40B4-BE49-F238E27FC236}">
                <a16:creationId xmlns:a16="http://schemas.microsoft.com/office/drawing/2014/main" id="{05114799-1560-F076-4476-1FFC1AAA7094}"/>
              </a:ext>
            </a:extLst>
          </p:cNvPr>
          <p:cNvPicPr>
            <a:picLocks noChangeAspect="1"/>
          </p:cNvPicPr>
          <p:nvPr/>
        </p:nvPicPr>
        <p:blipFill>
          <a:blip r:embed="rId2"/>
          <a:stretch>
            <a:fillRect/>
          </a:stretch>
        </p:blipFill>
        <p:spPr>
          <a:xfrm>
            <a:off x="2497688" y="1584175"/>
            <a:ext cx="6578600" cy="1388533"/>
          </a:xfrm>
          <a:prstGeom prst="rect">
            <a:avLst/>
          </a:prstGeom>
        </p:spPr>
      </p:pic>
    </p:spTree>
    <p:extLst>
      <p:ext uri="{BB962C8B-B14F-4D97-AF65-F5344CB8AC3E}">
        <p14:creationId xmlns:p14="http://schemas.microsoft.com/office/powerpoint/2010/main" val="2210787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402C06-B469-C0FD-06E3-38E7B55886FB}"/>
              </a:ext>
            </a:extLst>
          </p:cNvPr>
          <p:cNvSpPr>
            <a:spLocks noGrp="1"/>
          </p:cNvSpPr>
          <p:nvPr>
            <p:ph type="title"/>
          </p:nvPr>
        </p:nvSpPr>
        <p:spPr/>
        <p:txBody>
          <a:bodyPr/>
          <a:lstStyle/>
          <a:p>
            <a:r>
              <a:rPr kumimoji="1" lang="zh-TW" altLang="en-US" dirty="0"/>
              <a:t>專案目標：業務核心目標以以及目標拆解</a:t>
            </a:r>
          </a:p>
        </p:txBody>
      </p:sp>
      <p:pic>
        <p:nvPicPr>
          <p:cNvPr id="8" name="圖片 7">
            <a:extLst>
              <a:ext uri="{FF2B5EF4-FFF2-40B4-BE49-F238E27FC236}">
                <a16:creationId xmlns:a16="http://schemas.microsoft.com/office/drawing/2014/main" id="{1E45BC28-EEF7-1FA3-1A66-737AF84A1AF9}"/>
              </a:ext>
            </a:extLst>
          </p:cNvPr>
          <p:cNvPicPr>
            <a:picLocks noChangeAspect="1"/>
          </p:cNvPicPr>
          <p:nvPr/>
        </p:nvPicPr>
        <p:blipFill>
          <a:blip r:embed="rId2"/>
          <a:stretch>
            <a:fillRect/>
          </a:stretch>
        </p:blipFill>
        <p:spPr>
          <a:xfrm>
            <a:off x="241392" y="2574360"/>
            <a:ext cx="11709216" cy="3385377"/>
          </a:xfrm>
          <a:prstGeom prst="rect">
            <a:avLst/>
          </a:prstGeom>
        </p:spPr>
      </p:pic>
    </p:spTree>
    <p:extLst>
      <p:ext uri="{BB962C8B-B14F-4D97-AF65-F5344CB8AC3E}">
        <p14:creationId xmlns:p14="http://schemas.microsoft.com/office/powerpoint/2010/main" val="3633482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4D1865-D8B0-707D-EDBD-DB09A39B87BB}"/>
              </a:ext>
            </a:extLst>
          </p:cNvPr>
          <p:cNvSpPr>
            <a:spLocks noGrp="1"/>
          </p:cNvSpPr>
          <p:nvPr>
            <p:ph type="title"/>
          </p:nvPr>
        </p:nvSpPr>
        <p:spPr/>
        <p:txBody>
          <a:bodyPr/>
          <a:lstStyle/>
          <a:p>
            <a:r>
              <a:rPr kumimoji="1" lang="zh-TW" altLang="en-US" dirty="0"/>
              <a:t>專案目標：商業成功指標</a:t>
            </a:r>
          </a:p>
        </p:txBody>
      </p:sp>
      <p:pic>
        <p:nvPicPr>
          <p:cNvPr id="4" name="圖片 3">
            <a:extLst>
              <a:ext uri="{FF2B5EF4-FFF2-40B4-BE49-F238E27FC236}">
                <a16:creationId xmlns:a16="http://schemas.microsoft.com/office/drawing/2014/main" id="{3465BA6E-83F0-586C-4B63-F228AA1FFB02}"/>
              </a:ext>
            </a:extLst>
          </p:cNvPr>
          <p:cNvPicPr>
            <a:picLocks noChangeAspect="1"/>
          </p:cNvPicPr>
          <p:nvPr/>
        </p:nvPicPr>
        <p:blipFill>
          <a:blip r:embed="rId2"/>
          <a:stretch>
            <a:fillRect/>
          </a:stretch>
        </p:blipFill>
        <p:spPr>
          <a:xfrm>
            <a:off x="1344177" y="2506273"/>
            <a:ext cx="9503646" cy="3335130"/>
          </a:xfrm>
          <a:prstGeom prst="rect">
            <a:avLst/>
          </a:prstGeom>
        </p:spPr>
      </p:pic>
    </p:spTree>
    <p:extLst>
      <p:ext uri="{BB962C8B-B14F-4D97-AF65-F5344CB8AC3E}">
        <p14:creationId xmlns:p14="http://schemas.microsoft.com/office/powerpoint/2010/main" val="3124875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32B403-0988-0B3F-75DF-EFFD3CA240E9}"/>
              </a:ext>
            </a:extLst>
          </p:cNvPr>
          <p:cNvSpPr>
            <a:spLocks noGrp="1"/>
          </p:cNvSpPr>
          <p:nvPr>
            <p:ph type="title"/>
          </p:nvPr>
        </p:nvSpPr>
        <p:spPr/>
        <p:txBody>
          <a:bodyPr/>
          <a:lstStyle/>
          <a:p>
            <a:r>
              <a:rPr kumimoji="1" lang="zh-TW" altLang="en-US" dirty="0"/>
              <a:t>專案目標：模型目標</a:t>
            </a:r>
          </a:p>
        </p:txBody>
      </p:sp>
      <p:pic>
        <p:nvPicPr>
          <p:cNvPr id="7" name="圖片 6">
            <a:extLst>
              <a:ext uri="{FF2B5EF4-FFF2-40B4-BE49-F238E27FC236}">
                <a16:creationId xmlns:a16="http://schemas.microsoft.com/office/drawing/2014/main" id="{2B98F0C9-499F-BB16-6798-16D5FD9FD798}"/>
              </a:ext>
            </a:extLst>
          </p:cNvPr>
          <p:cNvPicPr>
            <a:picLocks noChangeAspect="1"/>
          </p:cNvPicPr>
          <p:nvPr/>
        </p:nvPicPr>
        <p:blipFill>
          <a:blip r:embed="rId2"/>
          <a:stretch>
            <a:fillRect/>
          </a:stretch>
        </p:blipFill>
        <p:spPr>
          <a:xfrm>
            <a:off x="1257379" y="2135989"/>
            <a:ext cx="10020846" cy="4221781"/>
          </a:xfrm>
          <a:prstGeom prst="rect">
            <a:avLst/>
          </a:prstGeom>
        </p:spPr>
      </p:pic>
    </p:spTree>
    <p:extLst>
      <p:ext uri="{BB962C8B-B14F-4D97-AF65-F5344CB8AC3E}">
        <p14:creationId xmlns:p14="http://schemas.microsoft.com/office/powerpoint/2010/main" val="2891809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D34D5B-8D79-A9AB-83D9-577D7A3F3745}"/>
              </a:ext>
            </a:extLst>
          </p:cNvPr>
          <p:cNvSpPr>
            <a:spLocks noGrp="1"/>
          </p:cNvSpPr>
          <p:nvPr>
            <p:ph type="title"/>
          </p:nvPr>
        </p:nvSpPr>
        <p:spPr>
          <a:xfrm>
            <a:off x="913774" y="238274"/>
            <a:ext cx="10364451" cy="1596177"/>
          </a:xfrm>
        </p:spPr>
        <p:txBody>
          <a:bodyPr/>
          <a:lstStyle/>
          <a:p>
            <a:r>
              <a:rPr kumimoji="1" lang="zh-TW" altLang="en-US" dirty="0"/>
              <a:t>分析方法：</a:t>
            </a:r>
            <a:r>
              <a:rPr kumimoji="1" lang="en-US" altLang="zh-TW" dirty="0"/>
              <a:t>crisp-dm</a:t>
            </a:r>
            <a:endParaRPr kumimoji="1" lang="zh-TW" altLang="en-US" dirty="0"/>
          </a:p>
        </p:txBody>
      </p:sp>
      <p:pic>
        <p:nvPicPr>
          <p:cNvPr id="6" name="圖片 5">
            <a:extLst>
              <a:ext uri="{FF2B5EF4-FFF2-40B4-BE49-F238E27FC236}">
                <a16:creationId xmlns:a16="http://schemas.microsoft.com/office/drawing/2014/main" id="{09DC8B69-45B4-DB1C-CCD8-89A7C34A7316}"/>
              </a:ext>
            </a:extLst>
          </p:cNvPr>
          <p:cNvPicPr>
            <a:picLocks noChangeAspect="1"/>
          </p:cNvPicPr>
          <p:nvPr/>
        </p:nvPicPr>
        <p:blipFill>
          <a:blip r:embed="rId2"/>
          <a:stretch>
            <a:fillRect/>
          </a:stretch>
        </p:blipFill>
        <p:spPr>
          <a:xfrm>
            <a:off x="3420931" y="1558851"/>
            <a:ext cx="5773329" cy="5213088"/>
          </a:xfrm>
          <a:prstGeom prst="rect">
            <a:avLst/>
          </a:prstGeom>
        </p:spPr>
      </p:pic>
    </p:spTree>
    <p:extLst>
      <p:ext uri="{BB962C8B-B14F-4D97-AF65-F5344CB8AC3E}">
        <p14:creationId xmlns:p14="http://schemas.microsoft.com/office/powerpoint/2010/main" val="461912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7CCB95-3262-CA33-3F21-37C8884478E9}"/>
              </a:ext>
            </a:extLst>
          </p:cNvPr>
          <p:cNvSpPr>
            <a:spLocks noGrp="1"/>
          </p:cNvSpPr>
          <p:nvPr>
            <p:ph type="title"/>
          </p:nvPr>
        </p:nvSpPr>
        <p:spPr/>
        <p:txBody>
          <a:bodyPr/>
          <a:lstStyle/>
          <a:p>
            <a:r>
              <a:rPr kumimoji="1" lang="zh-TW" altLang="en-US" dirty="0"/>
              <a:t>分析方法：</a:t>
            </a:r>
            <a:r>
              <a:rPr lang="en" altLang="zh-TW" dirty="0"/>
              <a:t> D</a:t>
            </a:r>
            <a:r>
              <a:rPr lang="en" altLang="zh-TW" cap="none" dirty="0"/>
              <a:t>ata</a:t>
            </a:r>
            <a:r>
              <a:rPr lang="en" altLang="zh-TW" dirty="0"/>
              <a:t> </a:t>
            </a:r>
            <a:r>
              <a:rPr lang="en" altLang="zh-TW" cap="none" dirty="0"/>
              <a:t>understanding</a:t>
            </a:r>
            <a:r>
              <a:rPr lang="zh-TW" altLang="en-US" cap="none" dirty="0"/>
              <a:t>目的</a:t>
            </a:r>
            <a:r>
              <a:rPr lang="en" altLang="zh-TW" dirty="0"/>
              <a:t> </a:t>
            </a:r>
            <a:endParaRPr kumimoji="1" lang="zh-TW" altLang="en-US" dirty="0"/>
          </a:p>
        </p:txBody>
      </p:sp>
      <p:sp>
        <p:nvSpPr>
          <p:cNvPr id="3" name="內容版面配置區 2">
            <a:extLst>
              <a:ext uri="{FF2B5EF4-FFF2-40B4-BE49-F238E27FC236}">
                <a16:creationId xmlns:a16="http://schemas.microsoft.com/office/drawing/2014/main" id="{23D2AEA1-609C-68A3-0151-D7839C50DD2A}"/>
              </a:ext>
            </a:extLst>
          </p:cNvPr>
          <p:cNvSpPr>
            <a:spLocks noGrp="1"/>
          </p:cNvSpPr>
          <p:nvPr>
            <p:ph sz="quarter" idx="13"/>
          </p:nvPr>
        </p:nvSpPr>
        <p:spPr>
          <a:xfrm>
            <a:off x="1506069" y="2737150"/>
            <a:ext cx="10363826" cy="3297938"/>
          </a:xfrm>
        </p:spPr>
        <p:txBody>
          <a:bodyPr>
            <a:normAutofit/>
          </a:bodyPr>
          <a:lstStyle/>
          <a:p>
            <a:pPr marL="0" indent="0">
              <a:lnSpc>
                <a:spcPct val="150000"/>
              </a:lnSpc>
              <a:buNone/>
            </a:pPr>
            <a:r>
              <a:rPr lang="zh-TW" altLang="en-US" dirty="0"/>
              <a:t>在</a:t>
            </a:r>
            <a:r>
              <a:rPr lang="en-US" altLang="zh-TW" dirty="0"/>
              <a:t>d</a:t>
            </a:r>
            <a:r>
              <a:rPr lang="en-US" altLang="zh-TW" cap="none" dirty="0"/>
              <a:t>ata</a:t>
            </a:r>
            <a:r>
              <a:rPr lang="en-US" altLang="zh-TW" dirty="0"/>
              <a:t> p</a:t>
            </a:r>
            <a:r>
              <a:rPr lang="en-US" altLang="zh-TW" cap="none" dirty="0"/>
              <a:t>reparation </a:t>
            </a:r>
            <a:r>
              <a:rPr lang="zh-TW" altLang="en-US" dirty="0"/>
              <a:t>與</a:t>
            </a:r>
            <a:r>
              <a:rPr lang="en-US" altLang="zh-TW" dirty="0"/>
              <a:t>m</a:t>
            </a:r>
            <a:r>
              <a:rPr lang="en-US" altLang="zh-TW" cap="none" dirty="0"/>
              <a:t>odeling</a:t>
            </a:r>
            <a:r>
              <a:rPr lang="zh-TW" altLang="en-US" dirty="0"/>
              <a:t>前先掌握資料結構</a:t>
            </a:r>
            <a:r>
              <a:rPr lang="en-US" altLang="zh-TW" dirty="0"/>
              <a:t>/</a:t>
            </a:r>
            <a:r>
              <a:rPr lang="zh-TW" altLang="en-US" dirty="0"/>
              <a:t>粒度</a:t>
            </a:r>
            <a:r>
              <a:rPr lang="en-US" altLang="zh-TW" dirty="0"/>
              <a:t>/</a:t>
            </a:r>
            <a:r>
              <a:rPr lang="zh-TW" altLang="en-US" dirty="0"/>
              <a:t>品質</a:t>
            </a:r>
            <a:r>
              <a:rPr lang="en-US" altLang="zh-TW" dirty="0"/>
              <a:t>/</a:t>
            </a:r>
            <a:r>
              <a:rPr lang="zh-TW" altLang="en-US" dirty="0"/>
              <a:t>限制，並形成初步假設</a:t>
            </a:r>
            <a:endParaRPr lang="en-US" altLang="zh-TW" dirty="0"/>
          </a:p>
          <a:p>
            <a:pPr marL="0" indent="0">
              <a:lnSpc>
                <a:spcPct val="150000"/>
              </a:lnSpc>
              <a:buNone/>
            </a:pPr>
            <a:r>
              <a:rPr lang="en-US" altLang="zh-TW" cap="none" dirty="0">
                <a:latin typeface="Arial" panose="020B0604020202020204" pitchFamily="34" charset="0"/>
              </a:rPr>
              <a:t>	</a:t>
            </a:r>
            <a:r>
              <a:rPr lang="zh-TW" altLang="zh-TW" cap="none" dirty="0">
                <a:latin typeface="Arial" panose="020B0604020202020204" pitchFamily="34" charset="0"/>
              </a:rPr>
              <a:t>產出：為後續 資料準備、特徵工程、建模 提供依據</a:t>
            </a:r>
            <a:endParaRPr lang="en-US" altLang="zh-TW" cap="none" dirty="0">
              <a:latin typeface="Arial" panose="020B0604020202020204" pitchFamily="34" charset="0"/>
            </a:endParaRPr>
          </a:p>
          <a:p>
            <a:pPr marL="457200" lvl="1" indent="0" eaLnBrk="0" fontAlgn="base" hangingPunct="0">
              <a:lnSpc>
                <a:spcPct val="150000"/>
              </a:lnSpc>
              <a:spcBef>
                <a:spcPct val="0"/>
              </a:spcBef>
              <a:spcAft>
                <a:spcPct val="0"/>
              </a:spcAft>
              <a:buClrTx/>
              <a:buNone/>
            </a:pPr>
            <a:r>
              <a:rPr lang="en-US" altLang="zh-TW" sz="2000" cap="none" dirty="0">
                <a:latin typeface="Arial" panose="020B0604020202020204" pitchFamily="34" charset="0"/>
              </a:rPr>
              <a:t>	</a:t>
            </a:r>
            <a:r>
              <a:rPr lang="zh-TW" altLang="zh-TW" sz="2000" cap="none" dirty="0">
                <a:latin typeface="Arial" panose="020B0604020202020204" pitchFamily="34" charset="0"/>
              </a:rPr>
              <a:t>方法：區分 靜態理解 與 動態探索</a:t>
            </a:r>
          </a:p>
          <a:p>
            <a:pPr marL="0" lvl="0" indent="0" eaLnBrk="0" fontAlgn="base" hangingPunct="0">
              <a:lnSpc>
                <a:spcPct val="150000"/>
              </a:lnSpc>
              <a:spcBef>
                <a:spcPct val="0"/>
              </a:spcBef>
              <a:spcAft>
                <a:spcPct val="0"/>
              </a:spcAft>
              <a:buClrTx/>
              <a:buNone/>
            </a:pPr>
            <a:r>
              <a:rPr lang="en-US" altLang="zh-TW" cap="none" dirty="0">
                <a:latin typeface="Arial" panose="020B0604020202020204" pitchFamily="34" charset="0"/>
              </a:rPr>
              <a:t>	</a:t>
            </a:r>
            <a:r>
              <a:rPr lang="zh-TW" altLang="zh-TW" cap="none" dirty="0">
                <a:latin typeface="Arial" panose="020B0604020202020204" pitchFamily="34" charset="0"/>
              </a:rPr>
              <a:t>靜態：盤點、欄位、粒度/關聯、品質</a:t>
            </a:r>
          </a:p>
          <a:p>
            <a:pPr marL="0" lvl="0" indent="0" eaLnBrk="0" fontAlgn="base" hangingPunct="0">
              <a:lnSpc>
                <a:spcPct val="150000"/>
              </a:lnSpc>
              <a:spcBef>
                <a:spcPct val="0"/>
              </a:spcBef>
              <a:spcAft>
                <a:spcPct val="0"/>
              </a:spcAft>
              <a:buClrTx/>
              <a:buNone/>
            </a:pPr>
            <a:r>
              <a:rPr lang="en-US" altLang="zh-TW" cap="none" dirty="0">
                <a:latin typeface="Arial" panose="020B0604020202020204" pitchFamily="34" charset="0"/>
              </a:rPr>
              <a:t>	</a:t>
            </a:r>
            <a:r>
              <a:rPr lang="zh-TW" altLang="zh-TW" cap="none" dirty="0">
                <a:latin typeface="Arial" panose="020B0604020202020204" pitchFamily="34" charset="0"/>
              </a:rPr>
              <a:t>動態：EDA、可行性評估（形成假設與風險）</a:t>
            </a:r>
          </a:p>
          <a:p>
            <a:pPr marL="0" lvl="0" indent="0" eaLnBrk="0" fontAlgn="base" hangingPunct="0">
              <a:lnSpc>
                <a:spcPct val="100000"/>
              </a:lnSpc>
              <a:spcBef>
                <a:spcPct val="0"/>
              </a:spcBef>
              <a:spcAft>
                <a:spcPct val="0"/>
              </a:spcAft>
              <a:buClrTx/>
              <a:buNone/>
            </a:pPr>
            <a:endParaRPr lang="zh-TW" altLang="zh-TW" cap="none" dirty="0">
              <a:latin typeface="Arial" panose="020B0604020202020204" pitchFamily="34" charset="0"/>
            </a:endParaRPr>
          </a:p>
          <a:p>
            <a:pPr marL="0" indent="0">
              <a:buNone/>
            </a:pPr>
            <a:endParaRPr lang="en-US" altLang="zh-TW" dirty="0"/>
          </a:p>
          <a:p>
            <a:pPr marL="0" indent="0">
              <a:buNone/>
            </a:pPr>
            <a:endParaRPr lang="en-US" altLang="zh-TW" dirty="0"/>
          </a:p>
          <a:p>
            <a:pPr marL="0" indent="0">
              <a:buNone/>
            </a:pPr>
            <a:endParaRPr kumimoji="1" lang="en-US" altLang="zh-TW" dirty="0"/>
          </a:p>
          <a:p>
            <a:pPr marL="0" indent="0">
              <a:buNone/>
            </a:pPr>
            <a:endParaRPr kumimoji="1" lang="zh-TW" altLang="en-US" dirty="0"/>
          </a:p>
        </p:txBody>
      </p:sp>
    </p:spTree>
    <p:extLst>
      <p:ext uri="{BB962C8B-B14F-4D97-AF65-F5344CB8AC3E}">
        <p14:creationId xmlns:p14="http://schemas.microsoft.com/office/powerpoint/2010/main" val="3500176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B0F6F4-6BA7-FD3F-E4C0-ABD13E56E108}"/>
              </a:ext>
            </a:extLst>
          </p:cNvPr>
          <p:cNvSpPr>
            <a:spLocks noGrp="1"/>
          </p:cNvSpPr>
          <p:nvPr>
            <p:ph type="title"/>
          </p:nvPr>
        </p:nvSpPr>
        <p:spPr/>
        <p:txBody>
          <a:bodyPr/>
          <a:lstStyle/>
          <a:p>
            <a:r>
              <a:rPr lang="zh-TW" altLang="en-US" dirty="0"/>
              <a:t>分析方法：</a:t>
            </a:r>
            <a:r>
              <a:rPr lang="en" altLang="zh-TW" dirty="0"/>
              <a:t>D</a:t>
            </a:r>
            <a:r>
              <a:rPr lang="en" altLang="zh-TW" cap="none" dirty="0"/>
              <a:t>ata</a:t>
            </a:r>
            <a:r>
              <a:rPr lang="en" altLang="zh-TW" dirty="0"/>
              <a:t> </a:t>
            </a:r>
            <a:r>
              <a:rPr lang="en" altLang="zh-TW" cap="none" dirty="0"/>
              <a:t>understanding</a:t>
            </a:r>
            <a:r>
              <a:rPr lang="zh-TW" altLang="en-US" dirty="0"/>
              <a:t>分析步驟</a:t>
            </a:r>
            <a:endParaRPr kumimoji="1" lang="zh-TW" altLang="en-US" dirty="0"/>
          </a:p>
        </p:txBody>
      </p:sp>
      <p:pic>
        <p:nvPicPr>
          <p:cNvPr id="8" name="圖片 7">
            <a:extLst>
              <a:ext uri="{FF2B5EF4-FFF2-40B4-BE49-F238E27FC236}">
                <a16:creationId xmlns:a16="http://schemas.microsoft.com/office/drawing/2014/main" id="{C4BBD04C-00F2-F702-C59A-DE3B3EADE28A}"/>
              </a:ext>
            </a:extLst>
          </p:cNvPr>
          <p:cNvPicPr>
            <a:picLocks noChangeAspect="1"/>
          </p:cNvPicPr>
          <p:nvPr/>
        </p:nvPicPr>
        <p:blipFill>
          <a:blip r:embed="rId2"/>
          <a:stretch>
            <a:fillRect/>
          </a:stretch>
        </p:blipFill>
        <p:spPr>
          <a:xfrm>
            <a:off x="3625850" y="2420880"/>
            <a:ext cx="4940300" cy="3238500"/>
          </a:xfrm>
          <a:prstGeom prst="rect">
            <a:avLst/>
          </a:prstGeom>
        </p:spPr>
      </p:pic>
    </p:spTree>
    <p:extLst>
      <p:ext uri="{BB962C8B-B14F-4D97-AF65-F5344CB8AC3E}">
        <p14:creationId xmlns:p14="http://schemas.microsoft.com/office/powerpoint/2010/main" val="1111261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DA44F0-FFC2-C748-E883-00E5D23C4F19}"/>
              </a:ext>
            </a:extLst>
          </p:cNvPr>
          <p:cNvSpPr>
            <a:spLocks noGrp="1"/>
          </p:cNvSpPr>
          <p:nvPr>
            <p:ph type="title"/>
          </p:nvPr>
        </p:nvSpPr>
        <p:spPr/>
        <p:txBody>
          <a:bodyPr/>
          <a:lstStyle/>
          <a:p>
            <a:r>
              <a:rPr kumimoji="1" lang="zh-TW" altLang="en-US" dirty="0"/>
              <a:t>分析方法</a:t>
            </a:r>
            <a:r>
              <a:rPr lang="en" altLang="zh-TW" dirty="0"/>
              <a:t>D</a:t>
            </a:r>
            <a:r>
              <a:rPr lang="en" altLang="zh-TW" cap="none" dirty="0"/>
              <a:t>ata</a:t>
            </a:r>
            <a:r>
              <a:rPr lang="en" altLang="zh-TW" dirty="0"/>
              <a:t> </a:t>
            </a:r>
            <a:r>
              <a:rPr lang="en" altLang="zh-TW" cap="none" dirty="0"/>
              <a:t>understanding </a:t>
            </a:r>
            <a:r>
              <a:rPr kumimoji="1" lang="zh-TW" altLang="en-US" dirty="0"/>
              <a:t>：</a:t>
            </a:r>
            <a:br>
              <a:rPr kumimoji="1" lang="en-US" altLang="zh-TW" dirty="0"/>
            </a:br>
            <a:r>
              <a:rPr kumimoji="1" lang="zh-TW" altLang="en-US" dirty="0"/>
              <a:t>探索性資料分析方法與問題定義</a:t>
            </a:r>
          </a:p>
        </p:txBody>
      </p:sp>
      <p:sp>
        <p:nvSpPr>
          <p:cNvPr id="3" name="內容版面配置區 2">
            <a:extLst>
              <a:ext uri="{FF2B5EF4-FFF2-40B4-BE49-F238E27FC236}">
                <a16:creationId xmlns:a16="http://schemas.microsoft.com/office/drawing/2014/main" id="{E34F53DE-3F04-D596-952E-41DACD7A0868}"/>
              </a:ext>
            </a:extLst>
          </p:cNvPr>
          <p:cNvSpPr>
            <a:spLocks noGrp="1"/>
          </p:cNvSpPr>
          <p:nvPr>
            <p:ph sz="quarter" idx="13"/>
          </p:nvPr>
        </p:nvSpPr>
        <p:spPr>
          <a:xfrm>
            <a:off x="2054085" y="3150610"/>
            <a:ext cx="9665204" cy="2088365"/>
          </a:xfrm>
        </p:spPr>
        <p:txBody>
          <a:bodyPr>
            <a:normAutofit/>
          </a:bodyPr>
          <a:lstStyle/>
          <a:p>
            <a:pPr marL="0" indent="0">
              <a:buNone/>
            </a:pPr>
            <a:r>
              <a:rPr lang="en" altLang="zh-TW" dirty="0"/>
              <a:t>EDA </a:t>
            </a:r>
            <a:r>
              <a:rPr lang="zh-TW" altLang="en-US" dirty="0"/>
              <a:t>採問題導向：先定義要回答的三大問題，再設計圖表與產出</a:t>
            </a:r>
            <a:r>
              <a:rPr lang="en-US" altLang="zh-TW" dirty="0"/>
              <a:t>	</a:t>
            </a:r>
          </a:p>
          <a:p>
            <a:pPr marL="0" indent="0">
              <a:buNone/>
            </a:pPr>
            <a:endParaRPr lang="en-US" altLang="zh-TW" dirty="0"/>
          </a:p>
          <a:p>
            <a:pPr marL="457200" lvl="1" indent="0" eaLnBrk="0" fontAlgn="base" hangingPunct="0">
              <a:lnSpc>
                <a:spcPct val="100000"/>
              </a:lnSpc>
              <a:spcBef>
                <a:spcPct val="0"/>
              </a:spcBef>
              <a:spcAft>
                <a:spcPct val="0"/>
              </a:spcAft>
              <a:buClrTx/>
              <a:buFontTx/>
              <a:buAutoNum type="arabicPeriod"/>
            </a:pPr>
            <a:r>
              <a:rPr lang="zh-TW" altLang="zh-TW" sz="2000" cap="none" dirty="0">
                <a:latin typeface="Arial" panose="020B0604020202020204" pitchFamily="34" charset="0"/>
              </a:rPr>
              <a:t>資料行為是否合理（時間/金額/狀態）</a:t>
            </a:r>
          </a:p>
          <a:p>
            <a:pPr marL="457200" lvl="1" indent="0" eaLnBrk="0" fontAlgn="base" hangingPunct="0">
              <a:lnSpc>
                <a:spcPct val="100000"/>
              </a:lnSpc>
              <a:spcBef>
                <a:spcPct val="0"/>
              </a:spcBef>
              <a:spcAft>
                <a:spcPct val="0"/>
              </a:spcAft>
              <a:buClrTx/>
              <a:buFontTx/>
              <a:buAutoNum type="arabicPeriod"/>
            </a:pPr>
            <a:r>
              <a:rPr lang="zh-TW" altLang="zh-TW" sz="2000" cap="none" dirty="0">
                <a:latin typeface="Arial" panose="020B0604020202020204" pitchFamily="34" charset="0"/>
              </a:rPr>
              <a:t>顧客是否存在明顯異質性（價值集中、特徵區辨度）</a:t>
            </a:r>
          </a:p>
          <a:p>
            <a:pPr marL="457200" lvl="1" indent="0" eaLnBrk="0" fontAlgn="base" hangingPunct="0">
              <a:lnSpc>
                <a:spcPct val="100000"/>
              </a:lnSpc>
              <a:spcBef>
                <a:spcPct val="0"/>
              </a:spcBef>
              <a:spcAft>
                <a:spcPct val="0"/>
              </a:spcAft>
              <a:buClrTx/>
              <a:buFontTx/>
              <a:buAutoNum type="arabicPeriod"/>
            </a:pPr>
            <a:r>
              <a:rPr lang="zh-TW" altLang="zh-TW" sz="2000" cap="none" dirty="0">
                <a:latin typeface="Arial" panose="020B0604020202020204" pitchFamily="34" charset="0"/>
              </a:rPr>
              <a:t>是否存在可供分群與流失預測使用的訊號（流失定義與候選特徵）</a:t>
            </a:r>
            <a:endParaRPr lang="en-US" altLang="zh-TW" sz="2000" cap="none" dirty="0">
              <a:latin typeface="Arial" panose="020B0604020202020204" pitchFamily="34" charset="0"/>
            </a:endParaRPr>
          </a:p>
          <a:p>
            <a:pPr marL="457200" lvl="1" indent="0" eaLnBrk="0" fontAlgn="base" hangingPunct="0">
              <a:lnSpc>
                <a:spcPct val="100000"/>
              </a:lnSpc>
              <a:spcBef>
                <a:spcPct val="0"/>
              </a:spcBef>
              <a:spcAft>
                <a:spcPct val="0"/>
              </a:spcAft>
              <a:buClrTx/>
              <a:buNone/>
            </a:pPr>
            <a:endParaRPr lang="en-US" altLang="zh-TW" sz="2000" cap="none" dirty="0">
              <a:latin typeface="Arial" panose="020B0604020202020204" pitchFamily="34" charset="0"/>
            </a:endParaRPr>
          </a:p>
        </p:txBody>
      </p:sp>
    </p:spTree>
    <p:extLst>
      <p:ext uri="{BB962C8B-B14F-4D97-AF65-F5344CB8AC3E}">
        <p14:creationId xmlns:p14="http://schemas.microsoft.com/office/powerpoint/2010/main" val="311526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359FC1-049B-6EAB-8C8F-D3C2A69340E8}"/>
              </a:ext>
            </a:extLst>
          </p:cNvPr>
          <p:cNvSpPr>
            <a:spLocks noGrp="1"/>
          </p:cNvSpPr>
          <p:nvPr>
            <p:ph type="title"/>
          </p:nvPr>
        </p:nvSpPr>
        <p:spPr>
          <a:xfrm>
            <a:off x="913774" y="152269"/>
            <a:ext cx="10364451" cy="1596177"/>
          </a:xfrm>
        </p:spPr>
        <p:txBody>
          <a:bodyPr/>
          <a:lstStyle/>
          <a:p>
            <a:r>
              <a:rPr kumimoji="1" lang="zh-TW" altLang="en-US" dirty="0"/>
              <a:t>分析方法</a:t>
            </a:r>
            <a:r>
              <a:rPr lang="en" altLang="zh-TW" dirty="0"/>
              <a:t>D</a:t>
            </a:r>
            <a:r>
              <a:rPr lang="en" altLang="zh-TW" cap="none" dirty="0"/>
              <a:t>ata</a:t>
            </a:r>
            <a:r>
              <a:rPr lang="en" altLang="zh-TW" dirty="0"/>
              <a:t> </a:t>
            </a:r>
            <a:r>
              <a:rPr lang="en" altLang="zh-TW" cap="none" dirty="0"/>
              <a:t>understanding </a:t>
            </a:r>
            <a:r>
              <a:rPr kumimoji="1" lang="zh-TW" altLang="en-US" dirty="0"/>
              <a:t>：</a:t>
            </a:r>
            <a:br>
              <a:rPr kumimoji="1" lang="en-US" altLang="zh-TW" dirty="0"/>
            </a:br>
            <a:r>
              <a:rPr kumimoji="1" lang="zh-TW" altLang="en-US" dirty="0"/>
              <a:t>探索性資料問題定義與做法</a:t>
            </a:r>
          </a:p>
        </p:txBody>
      </p:sp>
      <p:pic>
        <p:nvPicPr>
          <p:cNvPr id="7" name="圖片 6">
            <a:extLst>
              <a:ext uri="{FF2B5EF4-FFF2-40B4-BE49-F238E27FC236}">
                <a16:creationId xmlns:a16="http://schemas.microsoft.com/office/drawing/2014/main" id="{6C52A47D-F428-ED95-9BEA-27EABCBAD342}"/>
              </a:ext>
            </a:extLst>
          </p:cNvPr>
          <p:cNvPicPr>
            <a:picLocks noChangeAspect="1"/>
          </p:cNvPicPr>
          <p:nvPr/>
        </p:nvPicPr>
        <p:blipFill>
          <a:blip r:embed="rId3"/>
          <a:stretch>
            <a:fillRect/>
          </a:stretch>
        </p:blipFill>
        <p:spPr>
          <a:xfrm>
            <a:off x="458974" y="1672522"/>
            <a:ext cx="11274051" cy="5033209"/>
          </a:xfrm>
          <a:prstGeom prst="rect">
            <a:avLst/>
          </a:prstGeom>
        </p:spPr>
      </p:pic>
    </p:spTree>
    <p:extLst>
      <p:ext uri="{BB962C8B-B14F-4D97-AF65-F5344CB8AC3E}">
        <p14:creationId xmlns:p14="http://schemas.microsoft.com/office/powerpoint/2010/main" val="3722211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1C0066-FF44-8D5F-FBB4-743304F70106}"/>
              </a:ext>
            </a:extLst>
          </p:cNvPr>
          <p:cNvSpPr>
            <a:spLocks noGrp="1"/>
          </p:cNvSpPr>
          <p:nvPr>
            <p:ph type="title"/>
          </p:nvPr>
        </p:nvSpPr>
        <p:spPr>
          <a:xfrm>
            <a:off x="913774" y="317303"/>
            <a:ext cx="10364451" cy="1596177"/>
          </a:xfrm>
        </p:spPr>
        <p:txBody>
          <a:bodyPr/>
          <a:lstStyle/>
          <a:p>
            <a:r>
              <a:rPr kumimoji="1" lang="zh-TW" altLang="en-US" dirty="0"/>
              <a:t>分析方法</a:t>
            </a:r>
            <a:r>
              <a:rPr lang="en" altLang="zh-TW" dirty="0"/>
              <a:t>D</a:t>
            </a:r>
            <a:r>
              <a:rPr lang="en" altLang="zh-TW" cap="none" dirty="0"/>
              <a:t>ata</a:t>
            </a:r>
            <a:r>
              <a:rPr lang="en" altLang="zh-TW" dirty="0"/>
              <a:t> </a:t>
            </a:r>
            <a:r>
              <a:rPr lang="en" altLang="zh-TW" cap="none" dirty="0"/>
              <a:t>understanding </a:t>
            </a:r>
            <a:r>
              <a:rPr kumimoji="1" lang="zh-TW" altLang="en-US" dirty="0"/>
              <a:t>：</a:t>
            </a:r>
            <a:br>
              <a:rPr kumimoji="1" lang="en-US" altLang="zh-TW" dirty="0"/>
            </a:br>
            <a:r>
              <a:rPr lang="zh-TW" altLang="en-US" dirty="0"/>
              <a:t>分析可行性與限制評估</a:t>
            </a:r>
            <a:endParaRPr kumimoji="1" lang="zh-TW" altLang="en-US" dirty="0"/>
          </a:p>
        </p:txBody>
      </p:sp>
      <p:sp>
        <p:nvSpPr>
          <p:cNvPr id="3" name="內容版面配置區 2">
            <a:extLst>
              <a:ext uri="{FF2B5EF4-FFF2-40B4-BE49-F238E27FC236}">
                <a16:creationId xmlns:a16="http://schemas.microsoft.com/office/drawing/2014/main" id="{8E733261-D94E-094F-C92D-20CEF7F08DDF}"/>
              </a:ext>
            </a:extLst>
          </p:cNvPr>
          <p:cNvSpPr>
            <a:spLocks noGrp="1"/>
          </p:cNvSpPr>
          <p:nvPr>
            <p:ph sz="quarter" idx="13"/>
          </p:nvPr>
        </p:nvSpPr>
        <p:spPr>
          <a:xfrm>
            <a:off x="3314835" y="2388198"/>
            <a:ext cx="5562330" cy="4152499"/>
          </a:xfrm>
        </p:spPr>
        <p:txBody>
          <a:bodyPr>
            <a:normAutofit/>
          </a:bodyPr>
          <a:lstStyle/>
          <a:p>
            <a:pPr marL="0" lvl="0" indent="0" eaLnBrk="0" fontAlgn="base" hangingPunct="0">
              <a:lnSpc>
                <a:spcPct val="150000"/>
              </a:lnSpc>
              <a:spcBef>
                <a:spcPct val="0"/>
              </a:spcBef>
              <a:spcAft>
                <a:spcPct val="0"/>
              </a:spcAft>
              <a:buClrTx/>
              <a:buNone/>
            </a:pPr>
            <a:r>
              <a:rPr lang="zh-TW" altLang="zh-TW" cap="none" dirty="0">
                <a:latin typeface="Arial" panose="020B0604020202020204" pitchFamily="34" charset="0"/>
              </a:rPr>
              <a:t>本專案在資料理解階段，需同步評估</a:t>
            </a:r>
          </a:p>
          <a:p>
            <a:pPr marL="0" lvl="0" indent="0" eaLnBrk="0" fontAlgn="base" hangingPunct="0">
              <a:lnSpc>
                <a:spcPct val="150000"/>
              </a:lnSpc>
              <a:spcBef>
                <a:spcPct val="0"/>
              </a:spcBef>
              <a:spcAft>
                <a:spcPct val="0"/>
              </a:spcAft>
              <a:buClrTx/>
              <a:buNone/>
            </a:pPr>
            <a:r>
              <a:rPr lang="en-US" altLang="zh-TW" cap="none" dirty="0">
                <a:latin typeface="Arial" panose="020B0604020202020204" pitchFamily="34" charset="0"/>
              </a:rPr>
              <a:t>	1. </a:t>
            </a:r>
            <a:r>
              <a:rPr lang="zh-TW" altLang="zh-TW" cap="none" dirty="0">
                <a:latin typeface="Arial" panose="020B0604020202020204" pitchFamily="34" charset="0"/>
              </a:rPr>
              <a:t>資料是否能支援研究目標</a:t>
            </a:r>
          </a:p>
          <a:p>
            <a:pPr marL="0" lvl="0" indent="0" eaLnBrk="0" fontAlgn="base" hangingPunct="0">
              <a:lnSpc>
                <a:spcPct val="150000"/>
              </a:lnSpc>
              <a:spcBef>
                <a:spcPct val="0"/>
              </a:spcBef>
              <a:spcAft>
                <a:spcPct val="0"/>
              </a:spcAft>
              <a:buClrTx/>
              <a:buNone/>
            </a:pPr>
            <a:r>
              <a:rPr lang="en-US" altLang="zh-TW" cap="none" dirty="0">
                <a:latin typeface="Arial" panose="020B0604020202020204" pitchFamily="34" charset="0"/>
              </a:rPr>
              <a:t>	2. </a:t>
            </a:r>
            <a:r>
              <a:rPr lang="zh-TW" altLang="zh-TW" cap="none" dirty="0">
                <a:latin typeface="Arial" panose="020B0604020202020204" pitchFamily="34" charset="0"/>
              </a:rPr>
              <a:t>分析結論可能存在的限制與風險</a:t>
            </a:r>
            <a:endParaRPr lang="en-US" altLang="zh-TW" cap="none" dirty="0">
              <a:latin typeface="Arial" panose="020B0604020202020204" pitchFamily="34" charset="0"/>
            </a:endParaRPr>
          </a:p>
          <a:p>
            <a:pPr marL="0" lvl="0" indent="0" eaLnBrk="0" fontAlgn="base" hangingPunct="0">
              <a:lnSpc>
                <a:spcPct val="150000"/>
              </a:lnSpc>
              <a:spcBef>
                <a:spcPct val="0"/>
              </a:spcBef>
              <a:spcAft>
                <a:spcPct val="0"/>
              </a:spcAft>
              <a:buClrTx/>
              <a:buNone/>
            </a:pPr>
            <a:endParaRPr lang="zh-TW" altLang="zh-TW" cap="none" dirty="0">
              <a:latin typeface="Arial" panose="020B0604020202020204" pitchFamily="34" charset="0"/>
            </a:endParaRPr>
          </a:p>
          <a:p>
            <a:pPr marL="0" lvl="0" indent="0" eaLnBrk="0" fontAlgn="base" hangingPunct="0">
              <a:lnSpc>
                <a:spcPct val="150000"/>
              </a:lnSpc>
              <a:spcBef>
                <a:spcPct val="0"/>
              </a:spcBef>
              <a:spcAft>
                <a:spcPct val="0"/>
              </a:spcAft>
              <a:buClrTx/>
              <a:buNone/>
            </a:pPr>
            <a:r>
              <a:rPr lang="zh-TW" altLang="zh-TW" cap="none" dirty="0">
                <a:latin typeface="Arial" panose="020B0604020202020204" pitchFamily="34" charset="0"/>
              </a:rPr>
              <a:t>若未先進行可行性評估，後續模型與策略可能</a:t>
            </a:r>
          </a:p>
          <a:p>
            <a:pPr marL="0" lvl="0" indent="0" eaLnBrk="0" fontAlgn="base" hangingPunct="0">
              <a:lnSpc>
                <a:spcPct val="150000"/>
              </a:lnSpc>
              <a:spcBef>
                <a:spcPct val="0"/>
              </a:spcBef>
              <a:spcAft>
                <a:spcPct val="0"/>
              </a:spcAft>
              <a:buClrTx/>
              <a:buNone/>
            </a:pPr>
            <a:r>
              <a:rPr lang="en-US" altLang="zh-TW" cap="none" dirty="0">
                <a:latin typeface="Arial" panose="020B0604020202020204" pitchFamily="34" charset="0"/>
              </a:rPr>
              <a:t>	1. </a:t>
            </a:r>
            <a:r>
              <a:rPr lang="zh-TW" altLang="zh-TW" cap="none" dirty="0">
                <a:latin typeface="Arial" panose="020B0604020202020204" pitchFamily="34" charset="0"/>
              </a:rPr>
              <a:t>解釋力不足</a:t>
            </a:r>
          </a:p>
          <a:p>
            <a:pPr marL="0" lvl="0" indent="0" eaLnBrk="0" fontAlgn="base" hangingPunct="0">
              <a:lnSpc>
                <a:spcPct val="150000"/>
              </a:lnSpc>
              <a:spcBef>
                <a:spcPct val="0"/>
              </a:spcBef>
              <a:spcAft>
                <a:spcPct val="0"/>
              </a:spcAft>
              <a:buClrTx/>
              <a:buNone/>
            </a:pPr>
            <a:r>
              <a:rPr lang="en-US" altLang="zh-TW" cap="none" dirty="0">
                <a:latin typeface="Arial" panose="020B0604020202020204" pitchFamily="34" charset="0"/>
              </a:rPr>
              <a:t>	2. </a:t>
            </a:r>
            <a:r>
              <a:rPr lang="zh-TW" altLang="zh-TW" cap="none" dirty="0">
                <a:latin typeface="Arial" panose="020B0604020202020204" pitchFamily="34" charset="0"/>
              </a:rPr>
              <a:t>被誤用為因果結論</a:t>
            </a:r>
          </a:p>
          <a:p>
            <a:pPr marL="0" lvl="0" indent="0" eaLnBrk="0" fontAlgn="base" hangingPunct="0">
              <a:lnSpc>
                <a:spcPct val="150000"/>
              </a:lnSpc>
              <a:spcBef>
                <a:spcPct val="0"/>
              </a:spcBef>
              <a:spcAft>
                <a:spcPct val="0"/>
              </a:spcAft>
              <a:buClrTx/>
              <a:buNone/>
            </a:pPr>
            <a:r>
              <a:rPr lang="en-US" altLang="zh-TW" cap="none" dirty="0">
                <a:latin typeface="Arial" panose="020B0604020202020204" pitchFamily="34" charset="0"/>
              </a:rPr>
              <a:t>	3. </a:t>
            </a:r>
            <a:r>
              <a:rPr lang="zh-TW" altLang="zh-TW" cap="none" dirty="0">
                <a:latin typeface="Arial" panose="020B0604020202020204" pitchFamily="34" charset="0"/>
              </a:rPr>
              <a:t>與商業實務不符</a:t>
            </a:r>
          </a:p>
          <a:p>
            <a:pPr marL="0" lvl="0" indent="0" eaLnBrk="0" fontAlgn="base" hangingPunct="0">
              <a:lnSpc>
                <a:spcPct val="100000"/>
              </a:lnSpc>
              <a:spcBef>
                <a:spcPct val="0"/>
              </a:spcBef>
              <a:spcAft>
                <a:spcPct val="0"/>
              </a:spcAft>
              <a:buClrTx/>
              <a:buNone/>
            </a:pPr>
            <a:endParaRPr lang="zh-TW" altLang="zh-TW" cap="none" dirty="0">
              <a:latin typeface="Arial" panose="020B0604020202020204" pitchFamily="34" charset="0"/>
            </a:endParaRPr>
          </a:p>
          <a:p>
            <a:pPr marL="0" indent="0">
              <a:buNone/>
            </a:pPr>
            <a:endParaRPr kumimoji="1" lang="en-US" altLang="zh-TW" dirty="0"/>
          </a:p>
          <a:p>
            <a:pPr marL="0" indent="0">
              <a:buNone/>
            </a:pPr>
            <a:endParaRPr kumimoji="1" lang="zh-TW" altLang="en-US" dirty="0"/>
          </a:p>
        </p:txBody>
      </p:sp>
    </p:spTree>
    <p:extLst>
      <p:ext uri="{BB962C8B-B14F-4D97-AF65-F5344CB8AC3E}">
        <p14:creationId xmlns:p14="http://schemas.microsoft.com/office/powerpoint/2010/main" val="365719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2B1D83-90B7-4A33-77AF-D7A9306AF134}"/>
              </a:ext>
            </a:extLst>
          </p:cNvPr>
          <p:cNvSpPr>
            <a:spLocks noGrp="1"/>
          </p:cNvSpPr>
          <p:nvPr>
            <p:ph type="title"/>
          </p:nvPr>
        </p:nvSpPr>
        <p:spPr/>
        <p:txBody>
          <a:bodyPr/>
          <a:lstStyle/>
          <a:p>
            <a:r>
              <a:rPr kumimoji="1" lang="zh-TW" altLang="en-US" dirty="0"/>
              <a:t>分析方法</a:t>
            </a:r>
            <a:r>
              <a:rPr kumimoji="1" lang="en-US" altLang="zh-TW" dirty="0"/>
              <a:t>: </a:t>
            </a:r>
            <a:r>
              <a:rPr kumimoji="1" lang="en" altLang="zh-TW" cap="none" dirty="0"/>
              <a:t>D</a:t>
            </a:r>
            <a:r>
              <a:rPr lang="en" altLang="zh-TW" cap="none" dirty="0"/>
              <a:t>ata Preparation</a:t>
            </a:r>
            <a:endParaRPr kumimoji="1" lang="zh-TW" altLang="en-US" dirty="0"/>
          </a:p>
        </p:txBody>
      </p:sp>
      <p:sp>
        <p:nvSpPr>
          <p:cNvPr id="3" name="內容版面配置區 2">
            <a:extLst>
              <a:ext uri="{FF2B5EF4-FFF2-40B4-BE49-F238E27FC236}">
                <a16:creationId xmlns:a16="http://schemas.microsoft.com/office/drawing/2014/main" id="{48A83C06-7A35-CCEF-66F9-A60E97DCE3E4}"/>
              </a:ext>
            </a:extLst>
          </p:cNvPr>
          <p:cNvSpPr>
            <a:spLocks noGrp="1"/>
          </p:cNvSpPr>
          <p:nvPr>
            <p:ph sz="quarter" idx="13"/>
          </p:nvPr>
        </p:nvSpPr>
        <p:spPr>
          <a:xfrm>
            <a:off x="1699083" y="2931253"/>
            <a:ext cx="10363826" cy="3424107"/>
          </a:xfrm>
        </p:spPr>
        <p:txBody>
          <a:bodyPr/>
          <a:lstStyle/>
          <a:p>
            <a:pPr marL="0" indent="0">
              <a:buNone/>
            </a:pPr>
            <a:r>
              <a:rPr kumimoji="1" lang="zh-TW" altLang="en-US" dirty="0"/>
              <a:t>目的：</a:t>
            </a:r>
            <a:r>
              <a:rPr lang="zh-TW" altLang="en-US" dirty="0"/>
              <a:t>將原始多表交易資料整理成「可分析、可建模」且一致的資料集</a:t>
            </a:r>
            <a:endParaRPr kumimoji="1" lang="zh-TW" altLang="en-US" dirty="0"/>
          </a:p>
        </p:txBody>
      </p:sp>
      <p:graphicFrame>
        <p:nvGraphicFramePr>
          <p:cNvPr id="4" name="資料庫圖表 3">
            <a:extLst>
              <a:ext uri="{FF2B5EF4-FFF2-40B4-BE49-F238E27FC236}">
                <a16:creationId xmlns:a16="http://schemas.microsoft.com/office/drawing/2014/main" id="{FC4980F7-0C40-2722-3DE8-616AEB61E65E}"/>
              </a:ext>
            </a:extLst>
          </p:cNvPr>
          <p:cNvGraphicFramePr/>
          <p:nvPr>
            <p:extLst>
              <p:ext uri="{D42A27DB-BD31-4B8C-83A1-F6EECF244321}">
                <p14:modId xmlns:p14="http://schemas.microsoft.com/office/powerpoint/2010/main" val="369749768"/>
              </p:ext>
            </p:extLst>
          </p:nvPr>
        </p:nvGraphicFramePr>
        <p:xfrm>
          <a:off x="1588233" y="3625327"/>
          <a:ext cx="9276991" cy="17965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35615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F039FDE-58BA-E9AC-4D49-CDFA1BF04780}"/>
              </a:ext>
            </a:extLst>
          </p:cNvPr>
          <p:cNvSpPr>
            <a:spLocks noGrp="1"/>
          </p:cNvSpPr>
          <p:nvPr>
            <p:ph type="title"/>
          </p:nvPr>
        </p:nvSpPr>
        <p:spPr/>
        <p:txBody>
          <a:bodyPr/>
          <a:lstStyle/>
          <a:p>
            <a:r>
              <a:rPr kumimoji="1" lang="zh-TW" altLang="en-US" dirty="0"/>
              <a:t>分析方法：</a:t>
            </a:r>
            <a:r>
              <a:rPr kumimoji="1" lang="en-US" altLang="zh-TW" cap="none" dirty="0"/>
              <a:t>Modeling</a:t>
            </a:r>
            <a:r>
              <a:rPr kumimoji="1" lang="zh-TW" altLang="en-US" cap="none" dirty="0"/>
              <a:t> 顧客分群</a:t>
            </a:r>
            <a:endParaRPr kumimoji="1" lang="zh-TW" altLang="en-US" dirty="0"/>
          </a:p>
        </p:txBody>
      </p:sp>
      <p:pic>
        <p:nvPicPr>
          <p:cNvPr id="4" name="圖片 3">
            <a:extLst>
              <a:ext uri="{FF2B5EF4-FFF2-40B4-BE49-F238E27FC236}">
                <a16:creationId xmlns:a16="http://schemas.microsoft.com/office/drawing/2014/main" id="{75F2EC1A-F067-9337-2773-0401AB07E7F5}"/>
              </a:ext>
            </a:extLst>
          </p:cNvPr>
          <p:cNvPicPr>
            <a:picLocks noChangeAspect="1"/>
          </p:cNvPicPr>
          <p:nvPr/>
        </p:nvPicPr>
        <p:blipFill>
          <a:blip r:embed="rId2"/>
          <a:stretch>
            <a:fillRect/>
          </a:stretch>
        </p:blipFill>
        <p:spPr>
          <a:xfrm>
            <a:off x="2760233" y="1725631"/>
            <a:ext cx="6671534" cy="4798187"/>
          </a:xfrm>
          <a:prstGeom prst="rect">
            <a:avLst/>
          </a:prstGeom>
        </p:spPr>
      </p:pic>
    </p:spTree>
    <p:extLst>
      <p:ext uri="{BB962C8B-B14F-4D97-AF65-F5344CB8AC3E}">
        <p14:creationId xmlns:p14="http://schemas.microsoft.com/office/powerpoint/2010/main" val="3278763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C35BC4-A1B5-EEE7-E469-56DE66620172}"/>
              </a:ext>
            </a:extLst>
          </p:cNvPr>
          <p:cNvSpPr>
            <a:spLocks noGrp="1"/>
          </p:cNvSpPr>
          <p:nvPr>
            <p:ph type="title"/>
          </p:nvPr>
        </p:nvSpPr>
        <p:spPr/>
        <p:txBody>
          <a:bodyPr/>
          <a:lstStyle/>
          <a:p>
            <a:r>
              <a:rPr kumimoji="1" lang="zh-TW" altLang="en-US" dirty="0"/>
              <a:t>分析方法：</a:t>
            </a:r>
            <a:r>
              <a:rPr kumimoji="1" lang="en-US" altLang="zh-TW" dirty="0"/>
              <a:t>m</a:t>
            </a:r>
            <a:r>
              <a:rPr kumimoji="1" lang="en-US" altLang="zh-TW" cap="none" dirty="0"/>
              <a:t>odeling</a:t>
            </a:r>
            <a:r>
              <a:rPr kumimoji="1" lang="en-US" altLang="zh-TW" dirty="0"/>
              <a:t> </a:t>
            </a:r>
            <a:r>
              <a:rPr kumimoji="1" lang="zh-TW" altLang="en-US" dirty="0"/>
              <a:t>顧客流失預測</a:t>
            </a:r>
          </a:p>
        </p:txBody>
      </p:sp>
      <p:pic>
        <p:nvPicPr>
          <p:cNvPr id="7" name="圖片 6">
            <a:extLst>
              <a:ext uri="{FF2B5EF4-FFF2-40B4-BE49-F238E27FC236}">
                <a16:creationId xmlns:a16="http://schemas.microsoft.com/office/drawing/2014/main" id="{845816A8-737E-3D48-1195-E2AEEF7BB5E8}"/>
              </a:ext>
            </a:extLst>
          </p:cNvPr>
          <p:cNvPicPr>
            <a:picLocks noChangeAspect="1"/>
          </p:cNvPicPr>
          <p:nvPr/>
        </p:nvPicPr>
        <p:blipFill>
          <a:blip r:embed="rId2"/>
          <a:stretch>
            <a:fillRect/>
          </a:stretch>
        </p:blipFill>
        <p:spPr>
          <a:xfrm>
            <a:off x="1425154" y="2214694"/>
            <a:ext cx="9341692" cy="3688770"/>
          </a:xfrm>
          <a:prstGeom prst="rect">
            <a:avLst/>
          </a:prstGeom>
        </p:spPr>
      </p:pic>
    </p:spTree>
    <p:extLst>
      <p:ext uri="{BB962C8B-B14F-4D97-AF65-F5344CB8AC3E}">
        <p14:creationId xmlns:p14="http://schemas.microsoft.com/office/powerpoint/2010/main" val="17830063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D44A2D-BE25-F0DE-E231-843185ED7B32}"/>
              </a:ext>
            </a:extLst>
          </p:cNvPr>
          <p:cNvSpPr>
            <a:spLocks noGrp="1"/>
          </p:cNvSpPr>
          <p:nvPr>
            <p:ph type="title"/>
          </p:nvPr>
        </p:nvSpPr>
        <p:spPr/>
        <p:txBody>
          <a:bodyPr/>
          <a:lstStyle/>
          <a:p>
            <a:r>
              <a:rPr kumimoji="1" lang="zh-TW" altLang="en-US" dirty="0"/>
              <a:t>分析方法：</a:t>
            </a:r>
            <a:r>
              <a:rPr kumimoji="1" lang="en-US" altLang="zh-TW" dirty="0"/>
              <a:t>m</a:t>
            </a:r>
            <a:r>
              <a:rPr kumimoji="1" lang="en-US" altLang="zh-TW" cap="none" dirty="0"/>
              <a:t>odeling</a:t>
            </a:r>
            <a:r>
              <a:rPr lang="zh-TW" altLang="en-US" dirty="0"/>
              <a:t>高價值顧客策略挖掘</a:t>
            </a:r>
            <a:endParaRPr kumimoji="1" lang="zh-TW" altLang="en-US" dirty="0"/>
          </a:p>
        </p:txBody>
      </p:sp>
      <p:pic>
        <p:nvPicPr>
          <p:cNvPr id="4" name="圖片 3">
            <a:extLst>
              <a:ext uri="{FF2B5EF4-FFF2-40B4-BE49-F238E27FC236}">
                <a16:creationId xmlns:a16="http://schemas.microsoft.com/office/drawing/2014/main" id="{EBDE7CBF-81D9-1DE2-B524-423740AD2DDD}"/>
              </a:ext>
            </a:extLst>
          </p:cNvPr>
          <p:cNvPicPr>
            <a:picLocks noChangeAspect="1"/>
          </p:cNvPicPr>
          <p:nvPr/>
        </p:nvPicPr>
        <p:blipFill>
          <a:blip r:embed="rId2"/>
          <a:stretch>
            <a:fillRect/>
          </a:stretch>
        </p:blipFill>
        <p:spPr>
          <a:xfrm>
            <a:off x="1994648" y="2214694"/>
            <a:ext cx="7772400" cy="3560971"/>
          </a:xfrm>
          <a:prstGeom prst="rect">
            <a:avLst/>
          </a:prstGeom>
        </p:spPr>
      </p:pic>
    </p:spTree>
    <p:extLst>
      <p:ext uri="{BB962C8B-B14F-4D97-AF65-F5344CB8AC3E}">
        <p14:creationId xmlns:p14="http://schemas.microsoft.com/office/powerpoint/2010/main" val="3863046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FB1F038-BA64-9433-7CFD-FF376D14454C}"/>
              </a:ext>
            </a:extLst>
          </p:cNvPr>
          <p:cNvSpPr>
            <a:spLocks noGrp="1"/>
          </p:cNvSpPr>
          <p:nvPr>
            <p:ph type="title"/>
          </p:nvPr>
        </p:nvSpPr>
        <p:spPr>
          <a:xfrm>
            <a:off x="913774" y="414122"/>
            <a:ext cx="10364451" cy="1596177"/>
          </a:xfrm>
        </p:spPr>
        <p:txBody>
          <a:bodyPr/>
          <a:lstStyle/>
          <a:p>
            <a:r>
              <a:rPr kumimoji="1" lang="zh-TW" altLang="en-US" dirty="0"/>
              <a:t>分析方法：</a:t>
            </a:r>
            <a:r>
              <a:rPr kumimoji="1" lang="en-US" altLang="zh-TW" cap="none" dirty="0"/>
              <a:t>Deployment</a:t>
            </a:r>
            <a:endParaRPr kumimoji="1" lang="zh-TW" altLang="en-US" dirty="0"/>
          </a:p>
        </p:txBody>
      </p:sp>
      <p:sp>
        <p:nvSpPr>
          <p:cNvPr id="3" name="內容版面配置區 2">
            <a:extLst>
              <a:ext uri="{FF2B5EF4-FFF2-40B4-BE49-F238E27FC236}">
                <a16:creationId xmlns:a16="http://schemas.microsoft.com/office/drawing/2014/main" id="{5E03159A-E4D3-E2E1-0818-3B1B99AE0FA1}"/>
              </a:ext>
            </a:extLst>
          </p:cNvPr>
          <p:cNvSpPr>
            <a:spLocks noGrp="1"/>
          </p:cNvSpPr>
          <p:nvPr>
            <p:ph sz="quarter" idx="13"/>
          </p:nvPr>
        </p:nvSpPr>
        <p:spPr>
          <a:xfrm>
            <a:off x="914399" y="2356334"/>
            <a:ext cx="10520980" cy="3424107"/>
          </a:xfrm>
        </p:spPr>
        <p:txBody>
          <a:bodyPr>
            <a:normAutofit lnSpcReduction="10000"/>
          </a:bodyPr>
          <a:lstStyle/>
          <a:p>
            <a:pPr marL="0" indent="0">
              <a:buNone/>
            </a:pPr>
            <a:r>
              <a:rPr lang="zh-TW" altLang="en-US" dirty="0"/>
              <a:t>本階段目的在於：將分析成果以可重現、可交付的形式輸出，讓決策者或使用者可以理解、使用並持續更新。本專案之部署以「決策支援」為定位，重點在於提供可視覺化的結果呈現、可執行的名單輸出，以及可重跑的分析流程，而非將模型直接上線到線上系統。</a:t>
            </a:r>
            <a:endParaRPr lang="en-US" altLang="zh-TW" dirty="0"/>
          </a:p>
          <a:p>
            <a:pPr marL="0" indent="0">
              <a:buNone/>
            </a:pPr>
            <a:endParaRPr lang="en-US" altLang="zh-TW" dirty="0"/>
          </a:p>
          <a:p>
            <a:pPr marL="0" indent="0">
              <a:buNone/>
            </a:pPr>
            <a:r>
              <a:rPr lang="zh-TW" altLang="en-US" dirty="0"/>
              <a:t>預期輸出</a:t>
            </a:r>
            <a:endParaRPr lang="en-US" altLang="zh-TW" dirty="0"/>
          </a:p>
          <a:p>
            <a:pPr marL="457200" indent="-457200">
              <a:buAutoNum type="arabicPeriod"/>
            </a:pPr>
            <a:r>
              <a:rPr lang="zh-TW" altLang="en-US" dirty="0"/>
              <a:t>決策策略報表</a:t>
            </a:r>
            <a:endParaRPr lang="en-US" altLang="zh-TW" dirty="0"/>
          </a:p>
          <a:p>
            <a:pPr marL="457200" indent="-457200">
              <a:buAutoNum type="arabicPeriod"/>
            </a:pPr>
            <a:r>
              <a:rPr lang="zh-TW" altLang="en-US" dirty="0"/>
              <a:t>名單與規則輸出</a:t>
            </a:r>
            <a:endParaRPr lang="en-US" altLang="zh-TW" dirty="0"/>
          </a:p>
          <a:p>
            <a:pPr marL="457200" indent="-457200">
              <a:buAutoNum type="arabicPeriod"/>
            </a:pPr>
            <a:r>
              <a:rPr lang="zh-TW" altLang="en-US" dirty="0"/>
              <a:t>可重現流程與文件化</a:t>
            </a:r>
            <a:endParaRPr lang="en-US" altLang="zh-TW" dirty="0"/>
          </a:p>
          <a:p>
            <a:pPr marL="0" indent="0">
              <a:buNone/>
            </a:pPr>
            <a:endParaRPr kumimoji="1" lang="en-US" altLang="zh-TW" dirty="0"/>
          </a:p>
          <a:p>
            <a:pPr marL="0" indent="0">
              <a:buNone/>
            </a:pPr>
            <a:endParaRPr kumimoji="1" lang="zh-TW" altLang="en-US" dirty="0"/>
          </a:p>
        </p:txBody>
      </p:sp>
    </p:spTree>
    <p:extLst>
      <p:ext uri="{BB962C8B-B14F-4D97-AF65-F5344CB8AC3E}">
        <p14:creationId xmlns:p14="http://schemas.microsoft.com/office/powerpoint/2010/main" val="40263750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A57F9F-D83A-CC1C-63FC-A8E940E4DC2A}"/>
              </a:ext>
            </a:extLst>
          </p:cNvPr>
          <p:cNvSpPr>
            <a:spLocks noGrp="1"/>
          </p:cNvSpPr>
          <p:nvPr>
            <p:ph type="title"/>
          </p:nvPr>
        </p:nvSpPr>
        <p:spPr/>
        <p:txBody>
          <a:bodyPr/>
          <a:lstStyle/>
          <a:p>
            <a:r>
              <a:rPr kumimoji="1" lang="zh-TW" altLang="en-US" dirty="0"/>
              <a:t>分析方法：</a:t>
            </a:r>
            <a:r>
              <a:rPr kumimoji="1" lang="en" altLang="zh-TW" cap="none" dirty="0"/>
              <a:t>E</a:t>
            </a:r>
            <a:r>
              <a:rPr lang="en" altLang="zh-TW" cap="none" dirty="0"/>
              <a:t>valuation </a:t>
            </a:r>
            <a:endParaRPr kumimoji="1" lang="zh-TW" altLang="en-US" dirty="0"/>
          </a:p>
        </p:txBody>
      </p:sp>
      <p:sp>
        <p:nvSpPr>
          <p:cNvPr id="3" name="內容版面配置區 2">
            <a:extLst>
              <a:ext uri="{FF2B5EF4-FFF2-40B4-BE49-F238E27FC236}">
                <a16:creationId xmlns:a16="http://schemas.microsoft.com/office/drawing/2014/main" id="{646A391C-95DA-ABE9-DB6D-A7E20DA6B9E7}"/>
              </a:ext>
            </a:extLst>
          </p:cNvPr>
          <p:cNvSpPr>
            <a:spLocks noGrp="1"/>
          </p:cNvSpPr>
          <p:nvPr>
            <p:ph sz="quarter" idx="13"/>
          </p:nvPr>
        </p:nvSpPr>
        <p:spPr>
          <a:xfrm>
            <a:off x="914400" y="3266738"/>
            <a:ext cx="10363826" cy="1376569"/>
          </a:xfrm>
        </p:spPr>
        <p:txBody>
          <a:bodyPr/>
          <a:lstStyle/>
          <a:p>
            <a:pPr marL="0" indent="0">
              <a:buNone/>
            </a:pPr>
            <a:r>
              <a:rPr lang="zh-TW" altLang="en-US" dirty="0"/>
              <a:t>本階段目的在於：從技術與商業兩個角度檢驗本專案的分析結果是否可信、是否可用於決策支援，並確認模型</a:t>
            </a:r>
            <a:r>
              <a:rPr lang="en-US" altLang="zh-TW" dirty="0"/>
              <a:t>/</a:t>
            </a:r>
            <a:r>
              <a:rPr lang="zh-TW" altLang="en-US" dirty="0"/>
              <a:t>分群是否達到既定成功指標。同時針對可能的風險（資料偏誤、資料洩漏、口徑不一致）進行檢查，確保結論具備可解釋性與可落地性。</a:t>
            </a:r>
            <a:endParaRPr kumimoji="1" lang="zh-TW" altLang="en-US" dirty="0"/>
          </a:p>
        </p:txBody>
      </p:sp>
    </p:spTree>
    <p:extLst>
      <p:ext uri="{BB962C8B-B14F-4D97-AF65-F5344CB8AC3E}">
        <p14:creationId xmlns:p14="http://schemas.microsoft.com/office/powerpoint/2010/main" val="2840156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87288A-6DDF-B5A1-B5CD-FF3D2A1325D0}"/>
              </a:ext>
            </a:extLst>
          </p:cNvPr>
          <p:cNvSpPr>
            <a:spLocks noGrp="1"/>
          </p:cNvSpPr>
          <p:nvPr>
            <p:ph type="title"/>
          </p:nvPr>
        </p:nvSpPr>
        <p:spPr/>
        <p:txBody>
          <a:bodyPr/>
          <a:lstStyle/>
          <a:p>
            <a:r>
              <a:rPr kumimoji="1" lang="zh-TW" altLang="en-US" dirty="0"/>
              <a:t>專案進度說明：</a:t>
            </a:r>
            <a:r>
              <a:rPr kumimoji="1" lang="en-US" altLang="zh-TW" cap="none" dirty="0"/>
              <a:t>Business understanding</a:t>
            </a:r>
            <a:r>
              <a:rPr kumimoji="1" lang="zh-TW" altLang="en-US" cap="none" dirty="0"/>
              <a:t> </a:t>
            </a:r>
            <a:endParaRPr kumimoji="1" lang="zh-TW" altLang="en-US" dirty="0"/>
          </a:p>
        </p:txBody>
      </p:sp>
      <p:sp>
        <p:nvSpPr>
          <p:cNvPr id="5" name="文字方塊 4">
            <a:extLst>
              <a:ext uri="{FF2B5EF4-FFF2-40B4-BE49-F238E27FC236}">
                <a16:creationId xmlns:a16="http://schemas.microsoft.com/office/drawing/2014/main" id="{0D61B965-403B-87E6-6833-509346B2A0AD}"/>
              </a:ext>
            </a:extLst>
          </p:cNvPr>
          <p:cNvSpPr txBox="1"/>
          <p:nvPr/>
        </p:nvSpPr>
        <p:spPr>
          <a:xfrm>
            <a:off x="1635162" y="2569697"/>
            <a:ext cx="9402184" cy="3371692"/>
          </a:xfrm>
          <a:prstGeom prst="rect">
            <a:avLst/>
          </a:prstGeom>
          <a:noFill/>
        </p:spPr>
        <p:txBody>
          <a:bodyPr wrap="square" rtlCol="0">
            <a:spAutoFit/>
          </a:bodyPr>
          <a:lstStyle/>
          <a:p>
            <a:pPr>
              <a:lnSpc>
                <a:spcPct val="150000"/>
              </a:lnSpc>
            </a:pPr>
            <a:r>
              <a:rPr lang="zh-TW" altLang="en-US" dirty="0"/>
              <a:t>明確定義專案之核心商業問題：</a:t>
            </a:r>
          </a:p>
          <a:p>
            <a:pPr>
              <a:lnSpc>
                <a:spcPct val="150000"/>
              </a:lnSpc>
            </a:pPr>
            <a:r>
              <a:rPr lang="zh-TW" altLang="en-US" dirty="0"/>
              <a:t>電商平台如何辨識並維持高價值顧客，以提升顧客終身價值並降低流失風險。</a:t>
            </a:r>
            <a:endParaRPr lang="en-US" altLang="zh-TW" dirty="0"/>
          </a:p>
          <a:p>
            <a:pPr>
              <a:lnSpc>
                <a:spcPct val="150000"/>
              </a:lnSpc>
            </a:pPr>
            <a:endParaRPr lang="en-US" altLang="zh-TW" dirty="0"/>
          </a:p>
          <a:p>
            <a:pPr>
              <a:lnSpc>
                <a:spcPct val="150000"/>
              </a:lnSpc>
            </a:pPr>
            <a:r>
              <a:rPr lang="en-US" altLang="zh-TW" dirty="0"/>
              <a:t>1.</a:t>
            </a:r>
            <a:r>
              <a:rPr lang="zh-TW" altLang="en-US" dirty="0"/>
              <a:t>依據商業目標，將核心問題拆解為可分析的子目標</a:t>
            </a:r>
            <a:endParaRPr lang="en-US" altLang="zh-TW" dirty="0"/>
          </a:p>
          <a:p>
            <a:pPr>
              <a:lnSpc>
                <a:spcPct val="150000"/>
              </a:lnSpc>
            </a:pPr>
            <a:r>
              <a:rPr lang="en-US" altLang="zh-TW" dirty="0"/>
              <a:t>2.</a:t>
            </a:r>
            <a:r>
              <a:rPr lang="zh-TW" altLang="en-US" dirty="0"/>
              <a:t>明確界定本專案之分析定位與範圍</a:t>
            </a:r>
            <a:endParaRPr lang="en-US" altLang="zh-TW" dirty="0"/>
          </a:p>
          <a:p>
            <a:pPr>
              <a:lnSpc>
                <a:spcPct val="150000"/>
              </a:lnSpc>
            </a:pPr>
            <a:r>
              <a:rPr lang="en-US" altLang="zh-TW" dirty="0"/>
              <a:t>3.</a:t>
            </a:r>
            <a:r>
              <a:rPr lang="zh-TW" altLang="en-US" dirty="0"/>
              <a:t>訂定商業成功指標與模型成功指標，作為後續分析驗證依據</a:t>
            </a:r>
            <a:endParaRPr lang="en-US" altLang="zh-TW" dirty="0"/>
          </a:p>
          <a:p>
            <a:pPr>
              <a:lnSpc>
                <a:spcPct val="150000"/>
              </a:lnSpc>
            </a:pPr>
            <a:endParaRPr lang="zh-TW" altLang="en-US" dirty="0"/>
          </a:p>
          <a:p>
            <a:pPr>
              <a:lnSpc>
                <a:spcPct val="150000"/>
              </a:lnSpc>
            </a:pPr>
            <a:endParaRPr kumimoji="1" lang="zh-TW" altLang="en-US" dirty="0"/>
          </a:p>
        </p:txBody>
      </p:sp>
    </p:spTree>
    <p:extLst>
      <p:ext uri="{BB962C8B-B14F-4D97-AF65-F5344CB8AC3E}">
        <p14:creationId xmlns:p14="http://schemas.microsoft.com/office/powerpoint/2010/main" val="34756754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61E77D-5D74-F93F-3ACB-B6E40F002DC0}"/>
              </a:ext>
            </a:extLst>
          </p:cNvPr>
          <p:cNvSpPr>
            <a:spLocks noGrp="1"/>
          </p:cNvSpPr>
          <p:nvPr>
            <p:ph type="title"/>
          </p:nvPr>
        </p:nvSpPr>
        <p:spPr>
          <a:xfrm>
            <a:off x="913774" y="876700"/>
            <a:ext cx="10364451" cy="1596177"/>
          </a:xfrm>
        </p:spPr>
        <p:txBody>
          <a:bodyPr/>
          <a:lstStyle/>
          <a:p>
            <a:r>
              <a:rPr kumimoji="1" lang="zh-TW" altLang="en-US" dirty="0"/>
              <a:t>專案進度說明：</a:t>
            </a:r>
            <a:r>
              <a:rPr kumimoji="1" lang="en-US" altLang="zh-TW" dirty="0"/>
              <a:t>data understanding</a:t>
            </a:r>
            <a:br>
              <a:rPr kumimoji="1" lang="en-US" altLang="zh-TW" dirty="0"/>
            </a:br>
            <a:r>
              <a:rPr kumimoji="1" lang="zh-TW" altLang="en-US" dirty="0"/>
              <a:t>交易資料生命週期</a:t>
            </a:r>
          </a:p>
        </p:txBody>
      </p:sp>
      <p:pic>
        <p:nvPicPr>
          <p:cNvPr id="4" name="圖片 3">
            <a:extLst>
              <a:ext uri="{FF2B5EF4-FFF2-40B4-BE49-F238E27FC236}">
                <a16:creationId xmlns:a16="http://schemas.microsoft.com/office/drawing/2014/main" id="{97D4F4BD-BB1C-37A4-922B-DFFF759A9DAF}"/>
              </a:ext>
            </a:extLst>
          </p:cNvPr>
          <p:cNvPicPr>
            <a:picLocks noChangeAspect="1"/>
          </p:cNvPicPr>
          <p:nvPr/>
        </p:nvPicPr>
        <p:blipFill>
          <a:blip r:embed="rId2"/>
          <a:stretch>
            <a:fillRect/>
          </a:stretch>
        </p:blipFill>
        <p:spPr>
          <a:xfrm>
            <a:off x="774198" y="3321977"/>
            <a:ext cx="10643602" cy="1912659"/>
          </a:xfrm>
          <a:prstGeom prst="rect">
            <a:avLst/>
          </a:prstGeom>
        </p:spPr>
      </p:pic>
    </p:spTree>
    <p:extLst>
      <p:ext uri="{BB962C8B-B14F-4D97-AF65-F5344CB8AC3E}">
        <p14:creationId xmlns:p14="http://schemas.microsoft.com/office/powerpoint/2010/main" val="17377458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D26FA2-1426-98BD-B42F-203FDC25B08D}"/>
              </a:ext>
            </a:extLst>
          </p:cNvPr>
          <p:cNvSpPr>
            <a:spLocks noGrp="1"/>
          </p:cNvSpPr>
          <p:nvPr>
            <p:ph type="title"/>
          </p:nvPr>
        </p:nvSpPr>
        <p:spPr/>
        <p:txBody>
          <a:bodyPr/>
          <a:lstStyle/>
          <a:p>
            <a:r>
              <a:rPr kumimoji="1" lang="zh-TW" altLang="en-US" dirty="0"/>
              <a:t>專案進度說明：</a:t>
            </a:r>
            <a:br>
              <a:rPr kumimoji="1" lang="en-US" altLang="zh-TW" dirty="0"/>
            </a:br>
            <a:r>
              <a:rPr kumimoji="1" lang="en-US" altLang="zh-TW" dirty="0"/>
              <a:t>d</a:t>
            </a:r>
            <a:r>
              <a:rPr kumimoji="1" lang="en-US" altLang="zh-TW" cap="none" dirty="0"/>
              <a:t>ata</a:t>
            </a:r>
            <a:r>
              <a:rPr kumimoji="1" lang="en-US" altLang="zh-TW" dirty="0"/>
              <a:t> </a:t>
            </a:r>
            <a:r>
              <a:rPr kumimoji="1" lang="en-US" altLang="zh-TW" cap="none" dirty="0"/>
              <a:t>understanding</a:t>
            </a:r>
            <a:r>
              <a:rPr kumimoji="1" lang="en-US" altLang="zh-TW" dirty="0"/>
              <a:t>-</a:t>
            </a:r>
            <a:r>
              <a:rPr kumimoji="1" lang="en-US" altLang="zh-TW" cap="none" dirty="0"/>
              <a:t>Data Inventory</a:t>
            </a:r>
            <a:br>
              <a:rPr kumimoji="1" lang="en-US" altLang="zh-TW" dirty="0"/>
            </a:br>
            <a:endParaRPr kumimoji="1" lang="zh-TW" altLang="en-US" dirty="0"/>
          </a:p>
        </p:txBody>
      </p:sp>
      <p:pic>
        <p:nvPicPr>
          <p:cNvPr id="5" name="圖片 4">
            <a:extLst>
              <a:ext uri="{FF2B5EF4-FFF2-40B4-BE49-F238E27FC236}">
                <a16:creationId xmlns:a16="http://schemas.microsoft.com/office/drawing/2014/main" id="{0C59C2E8-6BA9-7DAC-F709-0A47C3CD8F38}"/>
              </a:ext>
            </a:extLst>
          </p:cNvPr>
          <p:cNvPicPr>
            <a:picLocks noChangeAspect="1"/>
          </p:cNvPicPr>
          <p:nvPr/>
        </p:nvPicPr>
        <p:blipFill>
          <a:blip r:embed="rId2"/>
          <a:stretch>
            <a:fillRect/>
          </a:stretch>
        </p:blipFill>
        <p:spPr>
          <a:xfrm>
            <a:off x="3677920" y="2100505"/>
            <a:ext cx="4470400" cy="3797300"/>
          </a:xfrm>
          <a:prstGeom prst="rect">
            <a:avLst/>
          </a:prstGeom>
        </p:spPr>
      </p:pic>
    </p:spTree>
    <p:extLst>
      <p:ext uri="{BB962C8B-B14F-4D97-AF65-F5344CB8AC3E}">
        <p14:creationId xmlns:p14="http://schemas.microsoft.com/office/powerpoint/2010/main" val="2521706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AFD4FC-1238-AE27-4B54-829B91BA294E}"/>
              </a:ext>
            </a:extLst>
          </p:cNvPr>
          <p:cNvSpPr>
            <a:spLocks noGrp="1"/>
          </p:cNvSpPr>
          <p:nvPr>
            <p:ph type="title"/>
          </p:nvPr>
        </p:nvSpPr>
        <p:spPr/>
        <p:txBody>
          <a:bodyPr/>
          <a:lstStyle/>
          <a:p>
            <a:r>
              <a:rPr kumimoji="1" lang="zh-TW" altLang="en-US" dirty="0"/>
              <a:t>專案進度說明：</a:t>
            </a:r>
            <a:r>
              <a:rPr kumimoji="1" lang="en-US" altLang="zh-TW" cap="none" dirty="0"/>
              <a:t>Data understanding</a:t>
            </a:r>
            <a:endParaRPr kumimoji="1" lang="zh-TW" altLang="en-US" dirty="0"/>
          </a:p>
        </p:txBody>
      </p:sp>
      <p:sp>
        <p:nvSpPr>
          <p:cNvPr id="3" name="內容版面配置區 2">
            <a:extLst>
              <a:ext uri="{FF2B5EF4-FFF2-40B4-BE49-F238E27FC236}">
                <a16:creationId xmlns:a16="http://schemas.microsoft.com/office/drawing/2014/main" id="{98AFB814-2403-F7C4-0AE0-9934E1EEB99B}"/>
              </a:ext>
            </a:extLst>
          </p:cNvPr>
          <p:cNvSpPr>
            <a:spLocks noGrp="1"/>
          </p:cNvSpPr>
          <p:nvPr>
            <p:ph sz="quarter" idx="13"/>
          </p:nvPr>
        </p:nvSpPr>
        <p:spPr>
          <a:xfrm>
            <a:off x="1918447" y="2248805"/>
            <a:ext cx="9359779" cy="3990678"/>
          </a:xfrm>
        </p:spPr>
        <p:txBody>
          <a:bodyPr/>
          <a:lstStyle/>
          <a:p>
            <a:pPr marL="0" indent="0">
              <a:buNone/>
            </a:pPr>
            <a:r>
              <a:rPr lang="zh-TW" altLang="en-US" dirty="0"/>
              <a:t>已完成事項：</a:t>
            </a:r>
            <a:endParaRPr lang="en-US" altLang="zh-TW" dirty="0"/>
          </a:p>
          <a:p>
            <a:pPr marL="0" indent="0">
              <a:buNone/>
            </a:pPr>
            <a:r>
              <a:rPr lang="en-US" altLang="zh-TW" dirty="0"/>
              <a:t>	</a:t>
            </a:r>
            <a:r>
              <a:rPr lang="zh-TW" altLang="en-US" dirty="0"/>
              <a:t>資料盤點</a:t>
            </a:r>
            <a:endParaRPr lang="en-US" altLang="zh-TW" dirty="0"/>
          </a:p>
          <a:p>
            <a:pPr marL="0" indent="0">
              <a:buNone/>
            </a:pPr>
            <a:r>
              <a:rPr lang="en-US" altLang="zh-TW" dirty="0"/>
              <a:t>	</a:t>
            </a:r>
            <a:r>
              <a:rPr lang="zh-TW" altLang="en-US" dirty="0"/>
              <a:t>欄位層級理解與定義</a:t>
            </a:r>
            <a:r>
              <a:rPr lang="en-US" altLang="zh-TW" dirty="0"/>
              <a:t>(</a:t>
            </a:r>
            <a:r>
              <a:rPr lang="en-US" altLang="zh-TW" cap="none" dirty="0" err="1"/>
              <a:t>column_inventory.csv</a:t>
            </a:r>
            <a:r>
              <a:rPr lang="en-US" altLang="zh-TW" dirty="0"/>
              <a:t>)</a:t>
            </a:r>
          </a:p>
          <a:p>
            <a:pPr marL="0" indent="0">
              <a:buNone/>
            </a:pPr>
            <a:endParaRPr lang="en-US" altLang="zh-TW" dirty="0"/>
          </a:p>
          <a:p>
            <a:pPr marL="0" indent="0">
              <a:buNone/>
            </a:pPr>
            <a:r>
              <a:rPr kumimoji="1" lang="zh-TW" altLang="en-US" dirty="0"/>
              <a:t>進行中：</a:t>
            </a:r>
            <a:endParaRPr kumimoji="1" lang="en-US" altLang="zh-TW" dirty="0"/>
          </a:p>
          <a:p>
            <a:pPr marL="0" indent="0">
              <a:buNone/>
            </a:pPr>
            <a:r>
              <a:rPr kumimoji="1" lang="en-US" altLang="zh-TW" dirty="0"/>
              <a:t>	</a:t>
            </a:r>
            <a:r>
              <a:rPr lang="zh-TW" altLang="en-US" dirty="0"/>
              <a:t>欄位粒度與關聯盤點 </a:t>
            </a:r>
            <a:endParaRPr lang="en-US" altLang="zh-TW" dirty="0"/>
          </a:p>
          <a:p>
            <a:pPr marL="0" indent="0">
              <a:buNone/>
            </a:pPr>
            <a:r>
              <a:rPr lang="en-US" altLang="zh-TW" dirty="0"/>
              <a:t>	</a:t>
            </a:r>
            <a:r>
              <a:rPr lang="zh-TW" altLang="en-US" dirty="0"/>
              <a:t>初步資料品質評估</a:t>
            </a:r>
            <a:endParaRPr lang="en-US" altLang="zh-TW" dirty="0"/>
          </a:p>
          <a:p>
            <a:pPr marL="0" indent="0">
              <a:buNone/>
            </a:pPr>
            <a:r>
              <a:rPr kumimoji="1" lang="en-US" altLang="zh-TW" dirty="0"/>
              <a:t>	</a:t>
            </a:r>
            <a:r>
              <a:rPr lang="zh-TW" altLang="en-US" dirty="0"/>
              <a:t>探索性資料分析</a:t>
            </a:r>
            <a:endParaRPr kumimoji="1" lang="en-US" altLang="zh-TW" dirty="0"/>
          </a:p>
          <a:p>
            <a:pPr marL="0" indent="0">
              <a:buNone/>
            </a:pPr>
            <a:endParaRPr lang="en-US" altLang="zh-TW" dirty="0"/>
          </a:p>
        </p:txBody>
      </p:sp>
    </p:spTree>
    <p:extLst>
      <p:ext uri="{BB962C8B-B14F-4D97-AF65-F5344CB8AC3E}">
        <p14:creationId xmlns:p14="http://schemas.microsoft.com/office/powerpoint/2010/main" val="2053529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E946C3-4D40-4A33-5D87-449CFF68DB0A}"/>
              </a:ext>
            </a:extLst>
          </p:cNvPr>
          <p:cNvSpPr>
            <a:spLocks noGrp="1"/>
          </p:cNvSpPr>
          <p:nvPr>
            <p:ph type="title"/>
          </p:nvPr>
        </p:nvSpPr>
        <p:spPr>
          <a:xfrm>
            <a:off x="913774" y="239961"/>
            <a:ext cx="10364451" cy="1596177"/>
          </a:xfrm>
        </p:spPr>
        <p:txBody>
          <a:bodyPr/>
          <a:lstStyle/>
          <a:p>
            <a:r>
              <a:rPr kumimoji="1" lang="zh-TW" altLang="en-US" dirty="0"/>
              <a:t>專案進度說明</a:t>
            </a:r>
          </a:p>
        </p:txBody>
      </p:sp>
      <p:sp>
        <p:nvSpPr>
          <p:cNvPr id="3" name="內容版面配置區 2">
            <a:extLst>
              <a:ext uri="{FF2B5EF4-FFF2-40B4-BE49-F238E27FC236}">
                <a16:creationId xmlns:a16="http://schemas.microsoft.com/office/drawing/2014/main" id="{4409FF09-C345-BB17-5116-2F935B6C124E}"/>
              </a:ext>
            </a:extLst>
          </p:cNvPr>
          <p:cNvSpPr>
            <a:spLocks noGrp="1"/>
          </p:cNvSpPr>
          <p:nvPr>
            <p:ph sz="quarter" idx="13"/>
          </p:nvPr>
        </p:nvSpPr>
        <p:spPr>
          <a:xfrm>
            <a:off x="913149" y="1689360"/>
            <a:ext cx="10363826" cy="1333539"/>
          </a:xfrm>
        </p:spPr>
        <p:txBody>
          <a:bodyPr/>
          <a:lstStyle/>
          <a:p>
            <a:pPr marL="0" indent="0">
              <a:buNone/>
            </a:pPr>
            <a:r>
              <a:rPr lang="zh-TW" altLang="en-US" dirty="0"/>
              <a:t>本專案採用 </a:t>
            </a:r>
            <a:r>
              <a:rPr lang="en" altLang="zh-TW" dirty="0"/>
              <a:t>CRISP-DM </a:t>
            </a:r>
            <a:r>
              <a:rPr lang="zh-TW" altLang="en-US" dirty="0"/>
              <a:t>作為方法論，並依照階段產出進行專案管理。目前已完成 </a:t>
            </a:r>
            <a:r>
              <a:rPr lang="en" altLang="zh-TW" dirty="0"/>
              <a:t>Business Understanding </a:t>
            </a:r>
            <a:r>
              <a:rPr lang="zh-TW" altLang="en-US" dirty="0"/>
              <a:t>與部分 </a:t>
            </a:r>
            <a:r>
              <a:rPr lang="en" altLang="zh-TW" dirty="0"/>
              <a:t>Data Understanding</a:t>
            </a:r>
            <a:r>
              <a:rPr lang="zh-TW" altLang="en" dirty="0"/>
              <a:t>（</a:t>
            </a:r>
            <a:r>
              <a:rPr lang="zh-TW" altLang="en-US" dirty="0"/>
              <a:t>資料盤點、欄位盤點），其餘階段仍在進行中。以下整理各階段之目前完成度與下一步工作項目。</a:t>
            </a:r>
            <a:endParaRPr kumimoji="1" lang="zh-TW" altLang="en-US" dirty="0"/>
          </a:p>
        </p:txBody>
      </p:sp>
      <p:pic>
        <p:nvPicPr>
          <p:cNvPr id="4" name="圖片 3">
            <a:extLst>
              <a:ext uri="{FF2B5EF4-FFF2-40B4-BE49-F238E27FC236}">
                <a16:creationId xmlns:a16="http://schemas.microsoft.com/office/drawing/2014/main" id="{350B0847-AEFC-4570-02A8-03DB438EC92E}"/>
              </a:ext>
            </a:extLst>
          </p:cNvPr>
          <p:cNvPicPr>
            <a:picLocks noChangeAspect="1"/>
          </p:cNvPicPr>
          <p:nvPr/>
        </p:nvPicPr>
        <p:blipFill>
          <a:blip r:embed="rId2"/>
          <a:stretch>
            <a:fillRect/>
          </a:stretch>
        </p:blipFill>
        <p:spPr>
          <a:xfrm>
            <a:off x="913149" y="3197018"/>
            <a:ext cx="7772400" cy="2764740"/>
          </a:xfrm>
          <a:prstGeom prst="rect">
            <a:avLst/>
          </a:prstGeom>
        </p:spPr>
      </p:pic>
    </p:spTree>
    <p:extLst>
      <p:ext uri="{BB962C8B-B14F-4D97-AF65-F5344CB8AC3E}">
        <p14:creationId xmlns:p14="http://schemas.microsoft.com/office/powerpoint/2010/main" val="2900197419"/>
      </p:ext>
    </p:extLst>
  </p:cSld>
  <p:clrMapOvr>
    <a:masterClrMapping/>
  </p:clrMapOvr>
</p:sld>
</file>

<file path=ppt/theme/theme1.xml><?xml version="1.0" encoding="utf-8"?>
<a:theme xmlns:a="http://schemas.openxmlformats.org/drawingml/2006/main" name="小水滴">
  <a:themeElements>
    <a:clrScheme name="小水滴">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小水滴">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小水滴">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Droplet</Template>
  <TotalTime>1704</TotalTime>
  <Words>1032</Words>
  <Application>Microsoft Macintosh PowerPoint</Application>
  <PresentationFormat>寬螢幕</PresentationFormat>
  <Paragraphs>92</Paragraphs>
  <Slides>24</Slides>
  <Notes>2</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24</vt:i4>
      </vt:variant>
    </vt:vector>
  </HeadingPairs>
  <TitlesOfParts>
    <vt:vector size="28" baseType="lpstr">
      <vt:lpstr>Aptos</vt:lpstr>
      <vt:lpstr>Arial</vt:lpstr>
      <vt:lpstr>Tw Cen MT</vt:lpstr>
      <vt:lpstr>小水滴</vt:lpstr>
      <vt:lpstr>巴西olist電商數據分析 </vt:lpstr>
      <vt:lpstr>目錄</vt:lpstr>
      <vt:lpstr>商業背景與研究動機</vt:lpstr>
      <vt:lpstr>專案目標：專案目標定義方法 </vt:lpstr>
      <vt:lpstr>專案目標：業務核心目標以以及目標拆解</vt:lpstr>
      <vt:lpstr>專案目標：商業成功指標</vt:lpstr>
      <vt:lpstr>專案目標：模型目標</vt:lpstr>
      <vt:lpstr>分析方法：crisp-dm</vt:lpstr>
      <vt:lpstr>分析方法： Data understanding目的 </vt:lpstr>
      <vt:lpstr>分析方法：Data understanding分析步驟</vt:lpstr>
      <vt:lpstr>分析方法Data understanding ： 探索性資料分析方法與問題定義</vt:lpstr>
      <vt:lpstr>分析方法Data understanding ： 探索性資料問題定義與做法</vt:lpstr>
      <vt:lpstr>分析方法Data understanding ： 分析可行性與限制評估</vt:lpstr>
      <vt:lpstr>分析方法: Data Preparation</vt:lpstr>
      <vt:lpstr>分析方法：Modeling 顧客分群</vt:lpstr>
      <vt:lpstr>分析方法：modeling 顧客流失預測</vt:lpstr>
      <vt:lpstr>分析方法：modeling高價值顧客策略挖掘</vt:lpstr>
      <vt:lpstr>分析方法：Deployment</vt:lpstr>
      <vt:lpstr>分析方法：Evaluation </vt:lpstr>
      <vt:lpstr>專案進度說明：Business understanding </vt:lpstr>
      <vt:lpstr>專案進度說明：data understanding 交易資料生命週期</vt:lpstr>
      <vt:lpstr>專案進度說明： data understanding-Data Inventory </vt:lpstr>
      <vt:lpstr>專案進度說明：Data understanding</vt:lpstr>
      <vt:lpstr>專案進度說明</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張凱評</dc:creator>
  <cp:lastModifiedBy>張凱評</cp:lastModifiedBy>
  <cp:revision>4</cp:revision>
  <dcterms:created xsi:type="dcterms:W3CDTF">2026-01-17T02:37:41Z</dcterms:created>
  <dcterms:modified xsi:type="dcterms:W3CDTF">2026-01-18T16:58:10Z</dcterms:modified>
</cp:coreProperties>
</file>