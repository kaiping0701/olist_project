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66" r:id="rId6"/>
    <p:sldId id="267" r:id="rId7"/>
    <p:sldId id="261" r:id="rId8"/>
    <p:sldId id="262" r:id="rId9"/>
    <p:sldId id="258" r:id="rId10"/>
    <p:sldId id="263" r:id="rId11"/>
    <p:sldId id="265" r:id="rId12"/>
    <p:sldId id="26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719"/>
  </p:normalViewPr>
  <p:slideViewPr>
    <p:cSldViewPr snapToGrid="0">
      <p:cViewPr>
        <p:scale>
          <a:sx n="100" d="100"/>
          <a:sy n="100" d="100"/>
        </p:scale>
        <p:origin x="-858" y="-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8A5866E4-58B5-39D6-0BCD-A9656C608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="" xmlns:a16="http://schemas.microsoft.com/office/drawing/2014/main" id="{AA265855-079A-2F0C-9AA2-FC07AD8BC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A2511750-016C-F993-4D66-05CC187F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8155B646-2C0C-6789-05C8-0D82DDD9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E359E4BE-21DB-AF8A-E025-CE15E4B4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104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BCB1973C-CB69-0FCC-0AB2-A3FF84E77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7EB95FB0-56F2-529E-FE6D-053DAF9C2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D30F2869-1415-3DB9-3132-FC43B745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1DE0C161-6AFB-9959-45CD-BADA80C2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74A39108-A69C-23C6-85B3-80AEBBCA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6937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74A662A2-F975-32C7-EF95-4D73ACB26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="" xmlns:a16="http://schemas.microsoft.com/office/drawing/2014/main" id="{12C8C03F-4ADF-88FF-C009-0D97F98EC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A506E8E8-ADBF-69C1-ECA9-653DA442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60F5C230-F8D5-752E-D4A6-A5BC9935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641DF90D-A68B-2FD1-7B5B-5EFE5C22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5269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E6430DD-F2A3-6237-C660-12D5CE19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808996C6-231C-B6DC-AC69-7BD572197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="" xmlns:a16="http://schemas.microsoft.com/office/drawing/2014/main" id="{50FE9284-3419-2C48-7D4C-71608C42D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="" xmlns:a16="http://schemas.microsoft.com/office/drawing/2014/main" id="{EB10AA42-29F1-33AD-9FBD-D2D30B5F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="" xmlns:a16="http://schemas.microsoft.com/office/drawing/2014/main" id="{0A6E2E6D-F16D-4A52-C825-D26F13B2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="" xmlns:a16="http://schemas.microsoft.com/office/drawing/2014/main" id="{7F9F5937-3388-E99B-B4B6-FC01FB31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092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488706A4-9E06-997C-FC0F-74D6CFAC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="" xmlns:a16="http://schemas.microsoft.com/office/drawing/2014/main" id="{8102A7D2-47CC-6810-098D-A1F64D22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="" xmlns:a16="http://schemas.microsoft.com/office/drawing/2014/main" id="{9641ABD6-3E26-9ABD-20A0-8761E374E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="" xmlns:a16="http://schemas.microsoft.com/office/drawing/2014/main" id="{551E5A51-408E-B955-D032-2431740D7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="" xmlns:a16="http://schemas.microsoft.com/office/drawing/2014/main" id="{DDED7A6E-1D25-BBE1-C47D-AC9635BAF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="" xmlns:a16="http://schemas.microsoft.com/office/drawing/2014/main" id="{380B189D-6A66-48A4-A9EB-1A71ECE7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="" xmlns:a16="http://schemas.microsoft.com/office/drawing/2014/main" id="{29BCFEAA-F324-D8AB-9D23-2F4279D0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="" xmlns:a16="http://schemas.microsoft.com/office/drawing/2014/main" id="{04AB93D4-47D0-2F17-14BA-10C2FE10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0312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FFA36A27-9A09-9FAF-9A31-14D6D803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="" xmlns:a16="http://schemas.microsoft.com/office/drawing/2014/main" id="{A524BCB6-202D-FB36-36A3-4BB7CC3F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="" xmlns:a16="http://schemas.microsoft.com/office/drawing/2014/main" id="{E7B68415-801C-8BB5-F530-F8C03977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="" xmlns:a16="http://schemas.microsoft.com/office/drawing/2014/main" id="{6C0C09A4-6837-1FA3-52C4-982C4ECF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312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="" xmlns:a16="http://schemas.microsoft.com/office/drawing/2014/main" id="{7CF51DA6-E794-D3D8-229E-5896EC29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="" xmlns:a16="http://schemas.microsoft.com/office/drawing/2014/main" id="{4374E2FC-BF6A-D46C-8531-3F2851E64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28727434-5B70-5187-D09F-134C78169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000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938D1E66-2612-40B5-1D1E-3D31EEB6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1A75A2C7-67E2-6BEA-AF53-A95313690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="" xmlns:a16="http://schemas.microsoft.com/office/drawing/2014/main" id="{E54153EF-4E5F-9E61-2E2E-055381221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="" xmlns:a16="http://schemas.microsoft.com/office/drawing/2014/main" id="{0E3B9E83-F741-EB19-39C3-E8BC1912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="" xmlns:a16="http://schemas.microsoft.com/office/drawing/2014/main" id="{5A0C553D-BA9B-CA47-2A09-0D1A2D3D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="" xmlns:a16="http://schemas.microsoft.com/office/drawing/2014/main" id="{F73A7EB0-0F51-970D-0E17-2A7E4D03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2082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2FF0631C-93CB-53A5-8EE5-B53CAF78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="" xmlns:a16="http://schemas.microsoft.com/office/drawing/2014/main" id="{F7F4938D-3F41-BC67-C360-026C62228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="" xmlns:a16="http://schemas.microsoft.com/office/drawing/2014/main" id="{5EF7D392-AB27-230F-C985-A0FD2ECF6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="" xmlns:a16="http://schemas.microsoft.com/office/drawing/2014/main" id="{E2486665-FD94-7633-B0AA-9CD1EA61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="" xmlns:a16="http://schemas.microsoft.com/office/drawing/2014/main" id="{A32D123C-ED2F-35E4-765B-561A1CC9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="" xmlns:a16="http://schemas.microsoft.com/office/drawing/2014/main" id="{A95F4F69-5C3A-4B42-F853-6702589C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256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9F17E411-F94A-5A86-6747-ACC4693A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="" xmlns:a16="http://schemas.microsoft.com/office/drawing/2014/main" id="{08E1AD79-3B2B-BA47-65C3-508477C86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F8447C8F-1D5F-3858-9031-BE1A1E18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05D4141F-CAF3-AD34-A3B3-3658A754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B6EA5E2F-77F3-D909-CA5B-B7830D54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8207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="" xmlns:a16="http://schemas.microsoft.com/office/drawing/2014/main" id="{17958A86-2A8A-66EA-2F94-0BA8805B0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="" xmlns:a16="http://schemas.microsoft.com/office/drawing/2014/main" id="{F48D5241-0A91-F47C-81CE-6FFED6ACE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E4F816C4-3B86-0348-4137-96554B84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06F8B7A0-A99D-D06B-3355-DD7852C3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89DFEC80-9BC9-D289-C389-1BF4057B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48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="" xmlns:a16="http://schemas.microsoft.com/office/drawing/2014/main" id="{22DEB9B2-F0D9-FCAA-7BB5-CAEA6700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="" xmlns:a16="http://schemas.microsoft.com/office/drawing/2014/main" id="{11FB3824-24F0-E961-90DE-E40AD5FB9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BFA1F722-05DA-CA3A-3C72-02012E59C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61AEA828-3E32-698F-4975-CC788502C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219ED868-1902-7C57-F8C8-18C3A386D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065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73FBF32-2995-3A21-9C50-D4E8E1D9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9785"/>
            <a:ext cx="9144000" cy="2387600"/>
          </a:xfrm>
        </p:spPr>
        <p:txBody>
          <a:bodyPr/>
          <a:lstStyle/>
          <a:p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電商數據分析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="" xmlns:a16="http://schemas.microsoft.com/office/drawing/2014/main" id="{54EEBF61-B24A-F7F5-FED5-39618285F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3708"/>
            <a:ext cx="9144000" cy="1655762"/>
          </a:xfrm>
        </p:spPr>
        <p:txBody>
          <a:bodyPr/>
          <a:lstStyle/>
          <a:p>
            <a:r>
              <a:rPr kumimoji="1" lang="zh-TW" altLang="en-US" dirty="0"/>
              <a:t>組員：</a:t>
            </a:r>
            <a:r>
              <a:rPr kumimoji="1" lang="en-US" altLang="zh-TW" dirty="0"/>
              <a:t>3311341097 </a:t>
            </a:r>
            <a:r>
              <a:rPr kumimoji="1" lang="zh-TW" altLang="en-US" dirty="0"/>
              <a:t>張凱評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994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AA964907-2F34-8CC1-2A32-579F06022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721A3190-7610-CC29-6BEE-9717D83F1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研究動機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</a:t>
            </a:r>
            <a:r>
              <a:rPr kumimoji="1" lang="en-US" altLang="zh-TW" dirty="0" smtClean="0"/>
              <a:t>.</a:t>
            </a:r>
            <a:r>
              <a:rPr kumimoji="1" lang="zh-TW" altLang="en-US" dirty="0" smtClean="0"/>
              <a:t> 專案</a:t>
            </a:r>
            <a:r>
              <a:rPr kumimoji="1" lang="zh-TW" altLang="en-US" dirty="0"/>
              <a:t>簡介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專案目標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 </a:t>
            </a:r>
            <a:r>
              <a:rPr kumimoji="1" lang="zh-TW" altLang="en-US" dirty="0"/>
              <a:t>問題定義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5. </a:t>
            </a:r>
            <a:r>
              <a:rPr kumimoji="1" lang="zh-TW" altLang="en-US" dirty="0"/>
              <a:t>分析方法與</a:t>
            </a:r>
            <a:r>
              <a:rPr kumimoji="1" lang="zh-TW" altLang="en-US" dirty="0" smtClean="0"/>
              <a:t>流程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6</a:t>
            </a:r>
            <a:r>
              <a:rPr kumimoji="1" lang="en-US" altLang="zh-TW" dirty="0" smtClean="0"/>
              <a:t>. </a:t>
            </a:r>
            <a:r>
              <a:rPr kumimoji="1" lang="zh-TW" altLang="en-US" dirty="0"/>
              <a:t>分析結果與洞察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7</a:t>
            </a:r>
            <a:r>
              <a:rPr kumimoji="1" lang="en-US" altLang="zh-TW" dirty="0" smtClean="0"/>
              <a:t>. </a:t>
            </a:r>
            <a:r>
              <a:rPr kumimoji="1" lang="zh-TW" altLang="en-US" dirty="0"/>
              <a:t>專案應用價值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4679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527BBA93-D19C-1DCB-A67E-5F097C5A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研究動機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52A8C93A-AA53-AF17-7AEF-6461B49F4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/>
              <a:t>顧客流失問題嚴重：在電商平台中，平均客戶的流失率高達</a:t>
            </a:r>
            <a:r>
              <a:rPr kumimoji="1" lang="en-US" altLang="zh-TW" dirty="0"/>
              <a:t>60%</a:t>
            </a:r>
            <a:r>
              <a:rPr kumimoji="1" lang="zh-TW" altLang="en-US" dirty="0"/>
              <a:t>，如何留住核心顧客是企業面對的核心挑戰。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行銷資源配置低效：傳統行銷資源通常平均發放，難以區分高價值、低價值客戶。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數據分析可以提供精準策略：透過顧客行為資料分析，能夠辨識高價值客戶並且提供行銷建議。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3520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92A789BA-A81E-1489-2F7D-3E76E0C0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56CD4498-EFB4-2AFE-36B9-D64980EB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50" y="2263795"/>
            <a:ext cx="10515600" cy="2571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TW" altLang="en-US" dirty="0"/>
              <a:t>本專案以</a:t>
            </a:r>
            <a:r>
              <a:rPr kumimoji="1" lang="en-US" altLang="zh-TW" dirty="0"/>
              <a:t>Kaggle </a:t>
            </a:r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電商平台真實數據，其中包含訂單、顧客、賣家、商品、地區、付款、評價等 </a:t>
            </a:r>
            <a:r>
              <a:rPr kumimoji="1" lang="en-US" altLang="zh-TW" dirty="0"/>
              <a:t>9 </a:t>
            </a:r>
            <a:r>
              <a:rPr kumimoji="1" lang="zh-TW" altLang="en-US" dirty="0"/>
              <a:t>個維度的數據集。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根據用戶習慣進行探索式資料分析，並且建構顧客價值分析模型。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以辨識高價值顧客、預測顧客未來價值，並且提出行銷的</a:t>
            </a:r>
            <a:r>
              <a:rPr kumimoji="1" lang="zh-TW" altLang="en-US" dirty="0" smtClean="0"/>
              <a:t>建議藉此提高企業營收。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2436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63047"/>
            <a:ext cx="10515600" cy="1325563"/>
          </a:xfrm>
        </p:spPr>
        <p:txBody>
          <a:bodyPr/>
          <a:lstStyle/>
          <a:p>
            <a:r>
              <a:rPr lang="zh-TW" altLang="en-US" dirty="0" smtClean="0"/>
              <a:t>專案簡介</a:t>
            </a:r>
            <a:r>
              <a:rPr lang="en-US" altLang="zh-TW" dirty="0" smtClean="0"/>
              <a:t>(</a:t>
            </a:r>
            <a:r>
              <a:rPr lang="zh-TW" altLang="en-US" dirty="0" smtClean="0"/>
              <a:t>資料來源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8199" y="1825625"/>
            <a:ext cx="11039475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專案使用的是</a:t>
            </a:r>
            <a:r>
              <a:rPr lang="en-US" altLang="zh-TW" dirty="0" err="1" smtClean="0"/>
              <a:t>Kaggle</a:t>
            </a:r>
            <a:r>
              <a:rPr lang="zh-TW" altLang="en-US" dirty="0" smtClean="0"/>
              <a:t>的公開真實資料</a:t>
            </a:r>
            <a:r>
              <a:rPr lang="en-US" altLang="zh-TW" dirty="0"/>
              <a:t>:Brazilian </a:t>
            </a:r>
            <a:r>
              <a:rPr lang="en-US" altLang="zh-TW" dirty="0" smtClean="0"/>
              <a:t>E-Commerce</a:t>
            </a:r>
          </a:p>
          <a:p>
            <a:pPr marL="0" indent="0">
              <a:buNone/>
            </a:pPr>
            <a:r>
              <a:rPr lang="en-US" altLang="zh-TW" dirty="0" err="1" smtClean="0"/>
              <a:t>Olist</a:t>
            </a:r>
            <a:r>
              <a:rPr lang="zh-TW" altLang="en-US" dirty="0" smtClean="0"/>
              <a:t>是巴西最大的電商平台之一。搜集時間由</a:t>
            </a:r>
            <a:r>
              <a:rPr lang="en-US" altLang="zh-TW" dirty="0" smtClean="0"/>
              <a:t>2016</a:t>
            </a:r>
            <a:r>
              <a:rPr lang="zh-TW" altLang="en-US" dirty="0" smtClean="0"/>
              <a:t>年</a:t>
            </a:r>
            <a:r>
              <a:rPr lang="en-US" altLang="zh-TW" dirty="0" smtClean="0"/>
              <a:t>10</a:t>
            </a:r>
            <a:r>
              <a:rPr lang="zh-TW" altLang="en-US" dirty="0" smtClean="0"/>
              <a:t>月至</a:t>
            </a:r>
            <a:r>
              <a:rPr lang="en-US" altLang="zh-TW" dirty="0" smtClean="0"/>
              <a:t>2018</a:t>
            </a:r>
            <a:r>
              <a:rPr lang="zh-TW" altLang="en-US" dirty="0" smtClean="0"/>
              <a:t>年</a:t>
            </a:r>
            <a:r>
              <a:rPr lang="en-US" altLang="zh-TW" dirty="0" smtClean="0"/>
              <a:t>12</a:t>
            </a:r>
            <a:r>
              <a:rPr lang="zh-TW" altLang="en-US" dirty="0" smtClean="0"/>
              <a:t>月，約</a:t>
            </a:r>
            <a:r>
              <a:rPr lang="en-US" altLang="zh-TW" dirty="0" smtClean="0"/>
              <a:t>100000</a:t>
            </a:r>
            <a:r>
              <a:rPr lang="zh-TW" altLang="en-US" dirty="0" smtClean="0"/>
              <a:t>筆訂單紀錄。資料集涵蓋從訂單下單、付款、物流配送到顧客評價的完整流程。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總共有</a:t>
            </a:r>
            <a:r>
              <a:rPr lang="en-US" altLang="zh-TW" dirty="0" smtClean="0"/>
              <a:t>9</a:t>
            </a:r>
            <a:r>
              <a:rPr lang="zh-TW" altLang="en-US" dirty="0" smtClean="0"/>
              <a:t>張表互相關聯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(</a:t>
            </a:r>
            <a:r>
              <a:rPr lang="zh-TW" altLang="en-US" dirty="0" smtClean="0"/>
              <a:t>顧客、賣家、訂單明細、付款方式、商品、地理位置、顧客評價等</a:t>
            </a:r>
            <a:r>
              <a:rPr lang="en-US" altLang="zh-TW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480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07571" y="0"/>
            <a:ext cx="10515600" cy="1325563"/>
          </a:xfrm>
        </p:spPr>
        <p:txBody>
          <a:bodyPr/>
          <a:lstStyle/>
          <a:p>
            <a:r>
              <a:rPr lang="zh-TW" altLang="en-US" dirty="0" smtClean="0"/>
              <a:t>專案簡介 </a:t>
            </a:r>
            <a:r>
              <a:rPr lang="en-US" altLang="zh-TW" dirty="0" smtClean="0"/>
              <a:t>(ERD</a:t>
            </a:r>
            <a:r>
              <a:rPr lang="zh-TW" altLang="en-US" dirty="0"/>
              <a:t>圖</a:t>
            </a:r>
            <a:r>
              <a:rPr lang="en-US" altLang="zh-TW" dirty="0" smtClean="0"/>
              <a:t>)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57" y="946058"/>
            <a:ext cx="5873468" cy="5140619"/>
          </a:xfrm>
        </p:spPr>
      </p:pic>
    </p:spTree>
    <p:extLst>
      <p:ext uri="{BB962C8B-B14F-4D97-AF65-F5344CB8AC3E}">
        <p14:creationId xmlns:p14="http://schemas.microsoft.com/office/powerpoint/2010/main" val="175054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345C3C6B-2CF1-47F2-B4EE-1541F576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1EAF72C6-CE6A-21DF-3505-6B538D9C1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32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進行</a:t>
            </a:r>
            <a:r>
              <a:rPr kumimoji="1" lang="en-US" altLang="zh-TW" dirty="0"/>
              <a:t>EDA</a:t>
            </a:r>
            <a:r>
              <a:rPr kumimoji="1" lang="zh-TW" altLang="en-US" dirty="0"/>
              <a:t>探索式資料分析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 </a:t>
            </a:r>
            <a:r>
              <a:rPr kumimoji="1" lang="zh-TW" altLang="en-US" dirty="0"/>
              <a:t>建構顧客價值分析模型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分析商品關聯與行為</a:t>
            </a:r>
            <a:r>
              <a:rPr kumimoji="1" lang="zh-TW" altLang="en-US" dirty="0" smtClean="0"/>
              <a:t>特徵</a:t>
            </a:r>
            <a:endParaRPr kumimoji="1" lang="en-US" altLang="zh-TW" dirty="0" smtClean="0"/>
          </a:p>
          <a:p>
            <a:pPr marL="0" indent="0">
              <a:buNone/>
            </a:pPr>
            <a:r>
              <a:rPr kumimoji="1" lang="en-US" altLang="zh-TW" dirty="0" smtClean="0"/>
              <a:t>4.</a:t>
            </a:r>
            <a:r>
              <a:rPr kumimoji="1" lang="zh-TW" altLang="en-US" dirty="0" smtClean="0"/>
              <a:t> 視覺化</a:t>
            </a:r>
            <a:r>
              <a:rPr kumimoji="1" lang="zh-TW" altLang="en-US" dirty="0"/>
              <a:t>洞察儀錶</a:t>
            </a:r>
            <a:r>
              <a:rPr kumimoji="1" lang="zh-TW" altLang="en-US" dirty="0" smtClean="0"/>
              <a:t>板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</a:t>
            </a:r>
            <a:r>
              <a:rPr kumimoji="1" lang="en-US" altLang="zh-TW" dirty="0" smtClean="0"/>
              <a:t>. </a:t>
            </a:r>
            <a:r>
              <a:rPr kumimoji="1" lang="zh-TW" altLang="en-US" dirty="0"/>
              <a:t>根據分析結果提供行銷決策建議</a:t>
            </a:r>
          </a:p>
        </p:txBody>
      </p:sp>
    </p:spTree>
    <p:extLst>
      <p:ext uri="{BB962C8B-B14F-4D97-AF65-F5344CB8AC3E}">
        <p14:creationId xmlns:p14="http://schemas.microsoft.com/office/powerpoint/2010/main" val="226548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947CB4B9-2F55-CF95-563C-C190490C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問題定義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F75CD922-8F6B-6FB8-94BB-9038EDA21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21018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TW" dirty="0" smtClean="0"/>
              <a:t>1.</a:t>
            </a:r>
            <a:r>
              <a:rPr kumimoji="1" lang="zh-TW" altLang="en-US" dirty="0" smtClean="0"/>
              <a:t>平台</a:t>
            </a:r>
            <a:r>
              <a:rPr kumimoji="1" lang="zh-TW" altLang="en-US" dirty="0"/>
              <a:t>的價值</a:t>
            </a:r>
            <a:r>
              <a:rPr kumimoji="1" lang="zh-TW" altLang="en-US" dirty="0" smtClean="0"/>
              <a:t>結構與顧客價值差異</a:t>
            </a:r>
            <a:r>
              <a:rPr kumimoji="1" lang="en-US" altLang="zh-TW" dirty="0" smtClean="0"/>
              <a:t>?</a:t>
            </a:r>
            <a:r>
              <a:rPr kumimoji="1" lang="zh-TW" altLang="en-US" dirty="0" smtClean="0"/>
              <a:t> </a:t>
            </a:r>
            <a:endParaRPr kumimoji="1" lang="en-US" altLang="zh-TW" dirty="0" smtClean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</a:t>
            </a:r>
            <a:r>
              <a:rPr kumimoji="1" lang="en-US" altLang="zh-TW" dirty="0" smtClean="0"/>
              <a:t>.</a:t>
            </a:r>
            <a:r>
              <a:rPr kumimoji="1" lang="zh-TW" altLang="en-US" dirty="0" smtClean="0"/>
              <a:t>是否能夠利用歷史行為資料建立顧客流失風險模型，以提早識  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 smtClean="0"/>
              <a:t>  別</a:t>
            </a:r>
            <a:r>
              <a:rPr kumimoji="1" lang="zh-TW" altLang="en-US" dirty="0"/>
              <a:t>高風險顧客，並進行再行銷</a:t>
            </a:r>
            <a:r>
              <a:rPr kumimoji="1" lang="en-US" altLang="zh-TW" dirty="0"/>
              <a:t>?</a:t>
            </a:r>
            <a:endParaRPr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</a:t>
            </a:r>
            <a:r>
              <a:rPr kumimoji="1" lang="en-US" altLang="zh-TW" dirty="0" smtClean="0"/>
              <a:t>.</a:t>
            </a:r>
            <a:r>
              <a:rPr kumimoji="1" lang="zh-TW" altLang="en-US" dirty="0" smtClean="0"/>
              <a:t>高</a:t>
            </a:r>
            <a:r>
              <a:rPr kumimoji="1" lang="zh-TW" altLang="en-US" dirty="0"/>
              <a:t>價值</a:t>
            </a:r>
            <a:r>
              <a:rPr kumimoji="1" lang="zh-TW" altLang="en-US" dirty="0" smtClean="0"/>
              <a:t>顧客</a:t>
            </a:r>
            <a:r>
              <a:rPr kumimoji="1" lang="zh-TW" altLang="en-US" dirty="0" smtClean="0"/>
              <a:t>是否有呈現明顯的商品組合偏好</a:t>
            </a:r>
            <a:r>
              <a:rPr kumimoji="1" lang="en-US" altLang="zh-TW" dirty="0" smtClean="0"/>
              <a:t>?</a:t>
            </a:r>
            <a:r>
              <a:rPr kumimoji="1" lang="zh-TW" altLang="en-US" dirty="0" smtClean="0"/>
              <a:t>可否依此建立商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 smtClean="0"/>
              <a:t>  品</a:t>
            </a:r>
            <a:r>
              <a:rPr kumimoji="1" lang="zh-TW" altLang="en-US" dirty="0"/>
              <a:t>搭配行銷</a:t>
            </a:r>
            <a:r>
              <a:rPr kumimoji="1" lang="zh-TW" altLang="en-US" dirty="0" smtClean="0"/>
              <a:t>策略</a:t>
            </a:r>
            <a:r>
              <a:rPr kumimoji="1" lang="en-US" altLang="zh-TW" dirty="0" smtClean="0"/>
              <a:t>?</a:t>
            </a:r>
            <a:r>
              <a:rPr kumimoji="1" lang="zh-TW" altLang="en-US" dirty="0" smtClean="0"/>
              <a:t> 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2960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54DBC0CE-AD07-0529-BD50-D4EDE94C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分析方法與</a:t>
            </a:r>
            <a:r>
              <a:rPr kumimoji="1" lang="zh-TW" altLang="en-US" dirty="0" smtClean="0"/>
              <a:t>流程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40D0D739-751E-CB9A-3274-1BB43160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4700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 smtClean="0"/>
              <a:t>資料清理</a:t>
            </a:r>
            <a:endParaRPr kumimoji="1" lang="en-US" altLang="zh-TW" dirty="0" smtClean="0"/>
          </a:p>
          <a:p>
            <a:pPr marL="514350" indent="-514350">
              <a:buAutoNum type="arabicPeriod"/>
            </a:pPr>
            <a:r>
              <a:rPr kumimoji="1" lang="zh-TW" altLang="en-US" dirty="0" smtClean="0"/>
              <a:t>探索式資料分析</a:t>
            </a:r>
            <a:endParaRPr kumimoji="1" lang="en-US" altLang="zh-TW" dirty="0" smtClean="0"/>
          </a:p>
          <a:p>
            <a:pPr marL="514350" indent="-514350">
              <a:buAutoNum type="arabicPeriod"/>
            </a:pPr>
            <a:r>
              <a:rPr kumimoji="1" lang="zh-TW" altLang="en-US" dirty="0" smtClean="0"/>
              <a:t>顧客價值模型建構 </a:t>
            </a:r>
            <a:endParaRPr kumimoji="1" lang="en-US" altLang="zh-TW" dirty="0" smtClean="0"/>
          </a:p>
          <a:p>
            <a:pPr marL="457200" lvl="1" indent="0">
              <a:buNone/>
            </a:pPr>
            <a:r>
              <a:rPr kumimoji="1" lang="en-US" altLang="zh-TW" dirty="0" smtClean="0"/>
              <a:t>(K-means</a:t>
            </a:r>
            <a:r>
              <a:rPr kumimoji="1" lang="zh-TW" altLang="en-US" dirty="0"/>
              <a:t>、</a:t>
            </a:r>
            <a:r>
              <a:rPr kumimoji="1" lang="en-US" altLang="zh-TW" dirty="0" smtClean="0"/>
              <a:t>RFM</a:t>
            </a:r>
            <a:r>
              <a:rPr kumimoji="1" lang="zh-TW" altLang="en-US" dirty="0" smtClean="0"/>
              <a:t>模型、</a:t>
            </a:r>
            <a:r>
              <a:rPr kumimoji="1" lang="en-US" altLang="zh-TW" dirty="0" smtClean="0"/>
              <a:t>Random Forest</a:t>
            </a:r>
            <a:r>
              <a:rPr kumimoji="1" lang="zh-TW" altLang="en-US" dirty="0" smtClean="0"/>
              <a:t>、</a:t>
            </a:r>
            <a:r>
              <a:rPr kumimoji="1" lang="en-US" altLang="zh-TW" dirty="0" err="1" smtClean="0"/>
              <a:t>apriori</a:t>
            </a:r>
            <a:r>
              <a:rPr kumimoji="1" lang="en-US" altLang="zh-TW" dirty="0" smtClean="0"/>
              <a:t>)</a:t>
            </a:r>
          </a:p>
          <a:p>
            <a:pPr marL="514350" indent="-514350">
              <a:buAutoNum type="arabicPeriod"/>
            </a:pPr>
            <a:r>
              <a:rPr kumimoji="1" lang="zh-TW" altLang="en-US" dirty="0" smtClean="0"/>
              <a:t>視覺化洞察儀錶板</a:t>
            </a:r>
            <a:endParaRPr kumimoji="1" lang="en-US" altLang="zh-TW" dirty="0" smtClean="0"/>
          </a:p>
          <a:p>
            <a:pPr marL="514350" indent="-514350">
              <a:buAutoNum type="arabicPeriod"/>
            </a:pPr>
            <a:r>
              <a:rPr kumimoji="1" lang="zh-TW" altLang="en-US" dirty="0" smtClean="0"/>
              <a:t>給予行銷策略建議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5994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分析結果與</a:t>
            </a:r>
            <a:r>
              <a:rPr kumimoji="1" lang="zh-TW" altLang="en-US" dirty="0" smtClean="0"/>
              <a:t>洞察</a:t>
            </a:r>
            <a:r>
              <a:rPr kumimoji="1" lang="en-US" altLang="zh-TW" dirty="0" smtClean="0"/>
              <a:t>1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720798"/>
              </p:ext>
            </p:extLst>
          </p:nvPr>
        </p:nvGraphicFramePr>
        <p:xfrm>
          <a:off x="781049" y="2307318"/>
          <a:ext cx="10515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/>
                <a:gridCol w="3706587"/>
                <a:gridCol w="3042556"/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分析面向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預期結果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商業洞察</a:t>
                      </a:r>
                      <a:endParaRPr lang="zh-TW" altLang="en-US" dirty="0"/>
                    </a:p>
                  </a:txBody>
                  <a:tcPr/>
                </a:tc>
              </a:tr>
              <a:tr h="234151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EDA</a:t>
                      </a:r>
                      <a:r>
                        <a:rPr lang="zh-TW" altLang="en-US" baseline="0" dirty="0" smtClean="0"/>
                        <a:t> 探索資料分析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dirty="0" smtClean="0"/>
                        <a:t>找出資料整體的分佈</a:t>
                      </a:r>
                      <a:endParaRPr lang="en-US" altLang="zh-TW" dirty="0" smtClean="0"/>
                    </a:p>
                    <a:p>
                      <a:pPr marL="0" indent="0">
                        <a:buNone/>
                      </a:pPr>
                      <a:endParaRPr lang="en-US" altLang="zh-TW" dirty="0" smtClean="0"/>
                    </a:p>
                    <a:p>
                      <a:r>
                        <a:rPr lang="en-US" altLang="zh-TW" dirty="0" smtClean="0"/>
                        <a:t>2.</a:t>
                      </a:r>
                      <a:r>
                        <a:rPr lang="zh-TW" altLang="en-US" baseline="0" dirty="0" smtClean="0"/>
                        <a:t> </a:t>
                      </a:r>
                      <a:r>
                        <a:rPr lang="zh-TW" altLang="en-US" dirty="0" smtClean="0"/>
                        <a:t>確認顧客消費是否符合</a:t>
                      </a:r>
                      <a:r>
                        <a:rPr lang="en-US" altLang="zh-TW" dirty="0" smtClean="0"/>
                        <a:t>28</a:t>
                      </a:r>
                      <a:r>
                        <a:rPr lang="zh-TW" altLang="en-US" dirty="0" smtClean="0"/>
                        <a:t>分佈</a:t>
                      </a:r>
                      <a:endParaRPr lang="en-US" altLang="zh-TW" dirty="0" smtClean="0"/>
                    </a:p>
                    <a:p>
                      <a:endParaRPr lang="en-US" altLang="zh-TW" dirty="0" smtClean="0"/>
                    </a:p>
                    <a:p>
                      <a:r>
                        <a:rPr lang="en-US" altLang="zh-TW" dirty="0" smtClean="0"/>
                        <a:t>3.</a:t>
                      </a:r>
                      <a:r>
                        <a:rPr lang="zh-TW" altLang="en-US" baseline="0" dirty="0" smtClean="0"/>
                        <a:t> </a:t>
                      </a:r>
                      <a:r>
                        <a:rPr lang="zh-TW" altLang="en-US" dirty="0" smtClean="0"/>
                        <a:t>分析不同地區、商品類別對於 營收的影響</a:t>
                      </a:r>
                      <a:endParaRPr lang="en-US" altLang="zh-TW" dirty="0" smtClean="0"/>
                    </a:p>
                    <a:p>
                      <a:endParaRPr lang="en-US" altLang="zh-TW" dirty="0" smtClean="0"/>
                    </a:p>
                    <a:p>
                      <a:r>
                        <a:rPr lang="en-US" altLang="zh-TW" dirty="0" smtClean="0"/>
                        <a:t>4.</a:t>
                      </a:r>
                      <a:r>
                        <a:rPr lang="zh-TW" altLang="en-US" baseline="0" dirty="0" smtClean="0"/>
                        <a:t> </a:t>
                      </a:r>
                      <a:r>
                        <a:rPr lang="zh-TW" altLang="en-US" dirty="0" smtClean="0"/>
                        <a:t>找出影響客戶滿意度的主要相關因素</a:t>
                      </a:r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dirty="0" smtClean="0"/>
                        <a:t>幫助企業了解數據的營收來源與關鍵地區</a:t>
                      </a:r>
                      <a:endParaRPr lang="en-US" altLang="zh-TW" dirty="0" smtClean="0"/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 smtClean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 smtClean="0"/>
                        <a:t>為後續建模提供依據</a:t>
                      </a:r>
                      <a:endParaRPr lang="en-US" altLang="zh-TW" dirty="0" smtClean="0"/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 smtClean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 smtClean="0"/>
                        <a:t>為後續行銷決策提供依據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顧客價值分析 </a:t>
                      </a:r>
                      <a:r>
                        <a:rPr lang="en-US" altLang="zh-TW" dirty="0" smtClean="0"/>
                        <a:t>(RFM</a:t>
                      </a:r>
                      <a:r>
                        <a:rPr lang="zh-TW" altLang="en-US" dirty="0" smtClean="0"/>
                        <a:t>、</a:t>
                      </a:r>
                      <a:r>
                        <a:rPr lang="en-US" altLang="zh-TW" dirty="0" smtClean="0"/>
                        <a:t>K-means)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區分高價值、低價值客戶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企業可以針對不同客群給出對應的行銷策略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673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分析結果與洞察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752828"/>
              </p:ext>
            </p:extLst>
          </p:nvPr>
        </p:nvGraphicFramePr>
        <p:xfrm>
          <a:off x="805543" y="1890939"/>
          <a:ext cx="10515600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/>
                <a:gridCol w="3243943"/>
                <a:gridCol w="350520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分析面向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預期結果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商業洞察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顧客流失分析 </a:t>
                      </a:r>
                      <a:r>
                        <a:rPr lang="en-US" altLang="zh-TW" dirty="0" smtClean="0"/>
                        <a:t>(Random</a:t>
                      </a:r>
                      <a:r>
                        <a:rPr lang="en-US" altLang="zh-TW" baseline="0" dirty="0" smtClean="0"/>
                        <a:t> Forest</a:t>
                      </a:r>
                      <a:r>
                        <a:rPr lang="en-US" altLang="zh-TW" dirty="0" smtClean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準確預測客戶流失機率</a:t>
                      </a:r>
                      <a:r>
                        <a:rPr lang="en-US" altLang="zh-TW" dirty="0" smtClean="0"/>
                        <a:t/>
                      </a:r>
                      <a:br>
                        <a:rPr lang="en-US" altLang="zh-TW" dirty="0" smtClean="0"/>
                      </a:br>
                      <a:r>
                        <a:rPr lang="en-US" altLang="zh-TW" dirty="0" smtClean="0"/>
                        <a:t>(AUC</a:t>
                      </a:r>
                      <a:r>
                        <a:rPr lang="en-US" altLang="zh-TW" baseline="0" dirty="0" smtClean="0"/>
                        <a:t> 0.85</a:t>
                      </a:r>
                      <a:r>
                        <a:rPr lang="zh-TW" altLang="en-US" baseline="0" dirty="0" smtClean="0"/>
                        <a:t>以上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在客戶進入高流失風險區間發送優惠信息留住客人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商品關聯分析 </a:t>
                      </a:r>
                      <a:r>
                        <a:rPr lang="en-US" altLang="zh-TW" dirty="0" smtClean="0"/>
                        <a:t>(</a:t>
                      </a:r>
                      <a:r>
                        <a:rPr lang="en-US" altLang="zh-TW" dirty="0" err="1" smtClean="0"/>
                        <a:t>Apriori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找出高價值客戶常購的商品組合。發現不同客群之間的商品關聯差異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交叉銷售、個人化推薦。設計促銷組合包提高轉化率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視覺化儀錶板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顧客分群分佈</a:t>
                      </a:r>
                      <a:endParaRPr lang="en-US" altLang="zh-TW" dirty="0" smtClean="0"/>
                    </a:p>
                    <a:p>
                      <a:r>
                        <a:rPr lang="zh-TW" altLang="en-US" dirty="0" smtClean="0"/>
                        <a:t>地區營收熱力圖</a:t>
                      </a:r>
                      <a:endParaRPr lang="en-US" altLang="zh-TW" dirty="0" smtClean="0"/>
                    </a:p>
                    <a:p>
                      <a:r>
                        <a:rPr lang="zh-TW" altLang="en-US" dirty="0" smtClean="0"/>
                        <a:t>回購率趨勢圖</a:t>
                      </a:r>
                      <a:endParaRPr lang="en-US" altLang="zh-TW" dirty="0" smtClean="0"/>
                    </a:p>
                    <a:p>
                      <a:r>
                        <a:rPr lang="zh-TW" altLang="en-US" dirty="0" smtClean="0"/>
                        <a:t>商品關聯視覺圖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協助管理層掌握高價值客群分佈與營收來源。以做出決策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行銷策略建議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根據分析結果給出具體行銷建議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提升顧客</a:t>
                      </a:r>
                      <a:r>
                        <a:rPr lang="en-US" altLang="zh-TW" dirty="0" smtClean="0"/>
                        <a:t>LTV</a:t>
                      </a:r>
                      <a:r>
                        <a:rPr lang="zh-TW" altLang="en-US" dirty="0" smtClean="0"/>
                        <a:t>，優化行銷資源配置，提高營收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690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專案應用價值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2475" y="2816225"/>
            <a:ext cx="10515600" cy="179387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1.</a:t>
            </a:r>
            <a:r>
              <a:rPr lang="zh-TW" altLang="en-US" dirty="0" smtClean="0"/>
              <a:t> 協助</a:t>
            </a:r>
            <a:r>
              <a:rPr lang="zh-TW" altLang="en-US" dirty="0"/>
              <a:t>企業辨識高價值顧客，優化行銷資源配置。</a:t>
            </a:r>
          </a:p>
          <a:p>
            <a:pPr marL="0" indent="0">
              <a:buNone/>
            </a:pPr>
            <a:r>
              <a:rPr lang="en-US" altLang="zh-TW" dirty="0" smtClean="0"/>
              <a:t>2.</a:t>
            </a:r>
            <a:r>
              <a:rPr lang="zh-TW" altLang="en-US" dirty="0" smtClean="0"/>
              <a:t> 預測</a:t>
            </a:r>
            <a:r>
              <a:rPr lang="zh-TW" altLang="en-US" dirty="0"/>
              <a:t>顧客流失風險，提升顧客留存率與營收穩定性。</a:t>
            </a:r>
          </a:p>
          <a:p>
            <a:pPr marL="0" indent="0">
              <a:buNone/>
            </a:pPr>
            <a:r>
              <a:rPr lang="en-US" altLang="zh-TW" dirty="0" smtClean="0"/>
              <a:t>3.</a:t>
            </a:r>
            <a:r>
              <a:rPr lang="zh-TW" altLang="en-US" dirty="0" smtClean="0"/>
              <a:t> 透過</a:t>
            </a:r>
            <a:r>
              <a:rPr lang="zh-TW" altLang="en-US" dirty="0"/>
              <a:t>數據分析建立決策依據，強化電商平台的競爭力。</a:t>
            </a:r>
          </a:p>
        </p:txBody>
      </p:sp>
    </p:spTree>
    <p:extLst>
      <p:ext uri="{BB962C8B-B14F-4D97-AF65-F5344CB8AC3E}">
        <p14:creationId xmlns:p14="http://schemas.microsoft.com/office/powerpoint/2010/main" val="891419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2915</TotalTime>
  <Words>733</Words>
  <Application>Microsoft Office PowerPoint</Application>
  <PresentationFormat>自訂</PresentationFormat>
  <Paragraphs>92</Paragraphs>
  <Slides>12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Office 佈景主題</vt:lpstr>
      <vt:lpstr>巴西olist電商數據分析</vt:lpstr>
      <vt:lpstr>專案大綱</vt:lpstr>
      <vt:lpstr>研究動機</vt:lpstr>
      <vt:lpstr>專案簡介</vt:lpstr>
      <vt:lpstr>專案簡介(資料來源)</vt:lpstr>
      <vt:lpstr>專案簡介 (ERD圖) </vt:lpstr>
      <vt:lpstr>專案目標</vt:lpstr>
      <vt:lpstr>問題定義</vt:lpstr>
      <vt:lpstr>分析方法與流程</vt:lpstr>
      <vt:lpstr>分析結果與洞察1</vt:lpstr>
      <vt:lpstr>分析結果與洞察2</vt:lpstr>
      <vt:lpstr>專案應用價值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巴西olist電商數據分析</dc:title>
  <dc:creator>張凱評</dc:creator>
  <cp:lastModifiedBy>RoomControl</cp:lastModifiedBy>
  <cp:revision>15</cp:revision>
  <dcterms:created xsi:type="dcterms:W3CDTF">2025-11-09T13:13:47Z</dcterms:created>
  <dcterms:modified xsi:type="dcterms:W3CDTF">2025-11-14T11:59:49Z</dcterms:modified>
</cp:coreProperties>
</file>