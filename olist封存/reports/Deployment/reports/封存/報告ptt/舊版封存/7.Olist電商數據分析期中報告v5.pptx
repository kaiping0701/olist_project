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9" r:id="rId5"/>
    <p:sldId id="266" r:id="rId6"/>
    <p:sldId id="267" r:id="rId7"/>
    <p:sldId id="261" r:id="rId8"/>
    <p:sldId id="262" r:id="rId9"/>
    <p:sldId id="258" r:id="rId10"/>
    <p:sldId id="268" r:id="rId11"/>
    <p:sldId id="263" r:id="rId12"/>
    <p:sldId id="265" r:id="rId13"/>
    <p:sldId id="264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669"/>
  </p:normalViewPr>
  <p:slideViewPr>
    <p:cSldViewPr snapToGrid="0">
      <p:cViewPr varScale="1">
        <p:scale>
          <a:sx n="101" d="100"/>
          <a:sy n="101" d="100"/>
        </p:scale>
        <p:origin x="66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5866E4-58B5-39D6-0BCD-A9656C608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A265855-079A-2F0C-9AA2-FC07AD8BC8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511750-016C-F993-4D66-05CC187F4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55B646-2C0C-6789-05C8-0D82DDD9A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59E4BE-21DB-AF8A-E025-CE15E4B41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51049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B1973C-CB69-0FCC-0AB2-A3FF84E77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B95FB0-56F2-529E-FE6D-053DAF9C2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0F2869-1415-3DB9-3132-FC43B745C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DE0C161-6AFB-9959-45CD-BADA80C23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4A39108-A69C-23C6-85B3-80AEBBCAA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69372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A662A2-F975-32C7-EF95-4D73ACB26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2C8C03F-4ADF-88FF-C009-0D97F98EC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06E8E8-ADBF-69C1-ECA9-653DA4420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F5C230-F8D5-752E-D4A6-A5BC99354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1DF90D-A68B-2FD1-7B5B-5EFE5C22A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5269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6430DD-F2A3-6237-C660-12D5CE19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8996C6-231C-B6DC-AC69-7BD572197B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0FE9284-3419-2C48-7D4C-71608C42D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B10AA42-29F1-33AD-9FBD-D2D30B5F6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6E2E6D-F16D-4A52-C825-D26F13B21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9F5937-3388-E99B-B4B6-FC01FB311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90929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8706A4-9E06-997C-FC0F-74D6CFAC7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102A7D2-47CC-6810-098D-A1F64D223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641ABD6-3E26-9ABD-20A0-8761E374E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51E5A51-408E-B955-D032-2431740D7F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DED7A6E-1D25-BBE1-C47D-AC9635BAF4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80B189D-6A66-48A4-A9EB-1A71ECE7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2025/11/15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9BCFEAA-F324-D8AB-9D23-2F4279D0E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4AB93D4-47D0-2F17-14BA-10C2FE109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03121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A36A27-9A09-9FAF-9A31-14D6D803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524BCB6-202D-FB36-36A3-4BB7CC3FA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2025/11/15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7B68415-801C-8BB5-F530-F8C03977C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C0C09A4-6837-1FA3-52C4-982C4ECFE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3126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CF51DA6-E794-D3D8-229E-5896EC29B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2025/11/15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374E2FC-BF6A-D46C-8531-3F2851E64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727434-5B70-5187-D09F-134C78169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0007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8D1E66-2612-40B5-1D1E-3D31EEB69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75A2C7-67E2-6BEA-AF53-A95313690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54153EF-4E5F-9E61-2E2E-055381221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E3B9E83-F741-EB19-39C3-E8BC1912A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0C553D-BA9B-CA47-2A09-0D1A2D3D3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73A7EB0-0F51-970D-0E17-2A7E4D03A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82082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F0631C-93CB-53A5-8EE5-B53CAF782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7F4938D-3F41-BC67-C360-026C622285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EF7D392-AB27-230F-C985-A0FD2ECF6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2486665-FD94-7633-B0AA-9CD1EA61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32D123C-ED2F-35E4-765B-561A1CC9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95F4F69-5C3A-4B42-F853-6702589C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2567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17E411-F94A-5A86-6747-ACC4693A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8E1AD79-3B2B-BA47-65C3-508477C86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447C8F-1D5F-3858-9031-BE1A1E186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D4141F-CAF3-AD34-A3B3-3658A754A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EA5E2F-77F3-D909-CA5B-B7830D54E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82072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7958A86-2A8A-66EA-2F94-0BA8805B0F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48D5241-0A91-F47C-81CE-6FFED6ACE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4F816C4-3B86-0348-4137-96554B84F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F8B7A0-A99D-D06B-3355-DD7852C37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DFEC80-9BC9-D289-C389-1BF4057B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3482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2DEB9B2-F0D9-FCAA-7BB5-CAEA67006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FB3824-24F0-E961-90DE-E40AD5FB9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FA1F722-05DA-CA3A-3C72-02012E59C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728561-3D45-3941-B0F7-A26B6CA19DB3}" type="datetimeFigureOut">
              <a:rPr kumimoji="1" lang="zh-TW" altLang="en-US" smtClean="0"/>
              <a:t>2025/11/15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AEA828-3E32-698F-4975-CC788502C7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9ED868-1902-7C57-F8C8-18C3A386DA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20653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3FBF32-2995-3A21-9C50-D4E8E1D9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9785"/>
            <a:ext cx="9144000" cy="2387600"/>
          </a:xfrm>
        </p:spPr>
        <p:txBody>
          <a:bodyPr/>
          <a:lstStyle/>
          <a:p>
            <a:r>
              <a:rPr kumimoji="1" lang="zh-TW" altLang="en-US" dirty="0"/>
              <a:t>巴西</a:t>
            </a:r>
            <a:r>
              <a:rPr kumimoji="1" lang="en-US" altLang="zh-TW" dirty="0" err="1"/>
              <a:t>olist</a:t>
            </a:r>
            <a:r>
              <a:rPr kumimoji="1" lang="zh-TW" altLang="en-US" dirty="0"/>
              <a:t>電商數據分析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4EEBF61-B24A-F7F5-FED5-39618285F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93708"/>
            <a:ext cx="9144000" cy="1655762"/>
          </a:xfrm>
        </p:spPr>
        <p:txBody>
          <a:bodyPr/>
          <a:lstStyle/>
          <a:p>
            <a:r>
              <a:rPr kumimoji="1" lang="zh-TW" altLang="en-US" dirty="0"/>
              <a:t>組員：</a:t>
            </a:r>
            <a:r>
              <a:rPr kumimoji="1" lang="en-US" altLang="zh-TW" dirty="0"/>
              <a:t>3311341097 </a:t>
            </a:r>
            <a:r>
              <a:rPr kumimoji="1" lang="zh-TW" altLang="en-US" dirty="0"/>
              <a:t>張凱評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09946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964907-2F34-8CC1-2A32-579F06022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專案大綱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1A3190-7610-CC29-6BEE-9717D83F1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TW" dirty="0"/>
              <a:t>1. </a:t>
            </a:r>
            <a:r>
              <a:rPr kumimoji="1" lang="zh-TW" altLang="en-US" dirty="0"/>
              <a:t>研究動機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2.</a:t>
            </a:r>
            <a:r>
              <a:rPr kumimoji="1" lang="zh-TW" altLang="en-US" dirty="0"/>
              <a:t> 專案簡介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3. </a:t>
            </a:r>
            <a:r>
              <a:rPr kumimoji="1" lang="zh-TW" altLang="en-US" dirty="0"/>
              <a:t>專案目標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4. </a:t>
            </a:r>
            <a:r>
              <a:rPr kumimoji="1" lang="zh-TW" altLang="en-US" dirty="0"/>
              <a:t>問題定義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5. </a:t>
            </a:r>
            <a:r>
              <a:rPr kumimoji="1" lang="zh-TW" altLang="en-US" dirty="0"/>
              <a:t>分析方法與流程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6. </a:t>
            </a:r>
            <a:r>
              <a:rPr kumimoji="1" lang="zh-TW" altLang="en-US" dirty="0"/>
              <a:t>分析結果與洞察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7. </a:t>
            </a:r>
            <a:r>
              <a:rPr kumimoji="1" lang="zh-TW" altLang="en-US" dirty="0"/>
              <a:t>專案應用價值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46795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7BBA93-D19C-1DCB-A67E-5F097C5A5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研究動機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A8C93A-AA53-AF17-7AEF-6461B49F4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kumimoji="1" lang="zh-TW" altLang="en-US" dirty="0"/>
              <a:t>顧客流失問題嚴重：在電商平台中，平均客戶的流失率高達</a:t>
            </a:r>
            <a:r>
              <a:rPr kumimoji="1" lang="en-US" altLang="zh-TW" dirty="0"/>
              <a:t>60%</a:t>
            </a:r>
            <a:r>
              <a:rPr kumimoji="1" lang="zh-TW" altLang="en-US" dirty="0"/>
              <a:t>，如何留住核心顧客是企業面對的核心挑戰。</a:t>
            </a:r>
            <a:endParaRPr kumimoji="1" lang="en-US" altLang="zh-TW" dirty="0"/>
          </a:p>
          <a:p>
            <a:pPr marL="514350" indent="-514350">
              <a:buAutoNum type="arabicPeriod"/>
            </a:pP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行銷資源配置低效：傳統行銷資源通常平均發放，難以區分高價值、低價值客戶。</a:t>
            </a:r>
            <a:endParaRPr kumimoji="1" lang="en-US" altLang="zh-TW" dirty="0"/>
          </a:p>
          <a:p>
            <a:pPr marL="514350" indent="-514350">
              <a:buAutoNum type="arabicPeriod"/>
            </a:pP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數據分析可以提供精準策略：透過顧客行為資料分析，能夠辨識高價值客戶並且提供行銷建議。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035201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A789BA-A81E-1489-2F7D-3E76E0C0B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專案簡介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CD4498-EFB4-2AFE-36B9-D64980EB4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150" y="2263795"/>
            <a:ext cx="10515600" cy="2571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TW" altLang="en-US" dirty="0"/>
              <a:t>本專案以</a:t>
            </a:r>
            <a:r>
              <a:rPr kumimoji="1" lang="en-US" altLang="zh-TW" dirty="0"/>
              <a:t>Kaggle </a:t>
            </a:r>
            <a:r>
              <a:rPr kumimoji="1" lang="zh-TW" altLang="en-US" dirty="0"/>
              <a:t>巴西</a:t>
            </a:r>
            <a:r>
              <a:rPr kumimoji="1" lang="en-US" altLang="zh-TW" dirty="0" err="1"/>
              <a:t>olist</a:t>
            </a:r>
            <a:r>
              <a:rPr kumimoji="1" lang="zh-TW" altLang="en-US" dirty="0"/>
              <a:t>電商平台真實數據，其中包含訂單、顧客、賣家、商品、地區、付款、評價等 </a:t>
            </a:r>
            <a:r>
              <a:rPr kumimoji="1" lang="en-US" altLang="zh-TW" dirty="0"/>
              <a:t>9 </a:t>
            </a:r>
            <a:r>
              <a:rPr kumimoji="1" lang="zh-TW" altLang="en-US" dirty="0"/>
              <a:t>個維度的數據集。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根據用戶習慣進行探索式資料分析，並且建構顧客價值分析模型。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以辨識高價值顧客、預測顧客未來價值，並且提出行銷的建議藉此提高企業營收。</a:t>
            </a:r>
          </a:p>
        </p:txBody>
      </p:sp>
    </p:spTree>
    <p:extLst>
      <p:ext uri="{BB962C8B-B14F-4D97-AF65-F5344CB8AC3E}">
        <p14:creationId xmlns:p14="http://schemas.microsoft.com/office/powerpoint/2010/main" val="1424365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63047"/>
            <a:ext cx="10515600" cy="1325563"/>
          </a:xfrm>
        </p:spPr>
        <p:txBody>
          <a:bodyPr/>
          <a:lstStyle/>
          <a:p>
            <a:r>
              <a:rPr lang="zh-TW" altLang="en-US" dirty="0"/>
              <a:t>專案簡介</a:t>
            </a:r>
            <a:r>
              <a:rPr lang="en-US" altLang="zh-TW" dirty="0"/>
              <a:t>(</a:t>
            </a:r>
            <a:r>
              <a:rPr lang="zh-TW" altLang="en-US" dirty="0"/>
              <a:t>資料來源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838199" y="1825625"/>
            <a:ext cx="11039475" cy="4351338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/>
              <a:t>專案使用的是</a:t>
            </a:r>
            <a:r>
              <a:rPr lang="en-US" altLang="zh-TW" dirty="0" err="1"/>
              <a:t>Kaggle</a:t>
            </a:r>
            <a:r>
              <a:rPr lang="zh-TW" altLang="en-US" dirty="0"/>
              <a:t>的公開真實資料</a:t>
            </a:r>
            <a:r>
              <a:rPr lang="en-US" altLang="zh-TW" dirty="0"/>
              <a:t>:Brazilian E-Commerce</a:t>
            </a:r>
          </a:p>
          <a:p>
            <a:pPr marL="0" indent="0">
              <a:buNone/>
            </a:pPr>
            <a:r>
              <a:rPr lang="en-US" altLang="zh-TW" dirty="0" err="1"/>
              <a:t>Olist</a:t>
            </a:r>
            <a:r>
              <a:rPr lang="zh-TW" altLang="en-US" dirty="0"/>
              <a:t>是巴西最大的電商平台之一。搜集時間由</a:t>
            </a:r>
            <a:r>
              <a:rPr lang="en-US" altLang="zh-TW" dirty="0"/>
              <a:t>2016</a:t>
            </a:r>
            <a:r>
              <a:rPr lang="zh-TW" altLang="en-US" dirty="0"/>
              <a:t>年</a:t>
            </a:r>
            <a:r>
              <a:rPr lang="en-US" altLang="zh-TW" dirty="0"/>
              <a:t>10</a:t>
            </a:r>
            <a:r>
              <a:rPr lang="zh-TW" altLang="en-US" dirty="0"/>
              <a:t>月至</a:t>
            </a:r>
            <a:r>
              <a:rPr lang="en-US" altLang="zh-TW" dirty="0"/>
              <a:t>2018</a:t>
            </a:r>
            <a:r>
              <a:rPr lang="zh-TW" altLang="en-US" dirty="0"/>
              <a:t>年</a:t>
            </a:r>
            <a:r>
              <a:rPr lang="en-US" altLang="zh-TW" dirty="0"/>
              <a:t>12</a:t>
            </a:r>
            <a:r>
              <a:rPr lang="zh-TW" altLang="en-US" dirty="0"/>
              <a:t>月，約</a:t>
            </a:r>
            <a:r>
              <a:rPr lang="en-US" altLang="zh-TW" dirty="0"/>
              <a:t>100000</a:t>
            </a:r>
            <a:r>
              <a:rPr lang="zh-TW" altLang="en-US" dirty="0"/>
              <a:t>筆訂單紀錄。資料集涵蓋從訂單下單、付款、物流配送到顧客評價的完整流程。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總共有</a:t>
            </a:r>
            <a:r>
              <a:rPr lang="en-US" altLang="zh-TW" dirty="0"/>
              <a:t>9</a:t>
            </a:r>
            <a:r>
              <a:rPr lang="zh-TW" altLang="en-US" dirty="0"/>
              <a:t>張表互相關聯 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顧客、賣家、訂單明細、付款方式、商品、地理位置、顧客評價等</a:t>
            </a:r>
            <a:r>
              <a:rPr lang="en-US" altLang="zh-TW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34800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07571" y="0"/>
            <a:ext cx="10515600" cy="1325563"/>
          </a:xfrm>
        </p:spPr>
        <p:txBody>
          <a:bodyPr/>
          <a:lstStyle/>
          <a:p>
            <a:r>
              <a:rPr lang="zh-TW" altLang="en-US" dirty="0"/>
              <a:t>專案簡介 </a:t>
            </a:r>
            <a:r>
              <a:rPr lang="en-US" altLang="zh-TW" dirty="0"/>
              <a:t>(ERD</a:t>
            </a:r>
            <a:r>
              <a:rPr lang="zh-TW" altLang="en-US" dirty="0"/>
              <a:t>圖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57" y="946058"/>
            <a:ext cx="5873468" cy="5140619"/>
          </a:xfrm>
        </p:spPr>
      </p:pic>
    </p:spTree>
    <p:extLst>
      <p:ext uri="{BB962C8B-B14F-4D97-AF65-F5344CB8AC3E}">
        <p14:creationId xmlns:p14="http://schemas.microsoft.com/office/powerpoint/2010/main" val="1750546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5C3C6B-2CF1-47F2-B4EE-1541F576A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專案目標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AF72C6-CE6A-21DF-3505-6B538D9C1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32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1. </a:t>
            </a:r>
            <a:r>
              <a:rPr kumimoji="1" lang="zh-TW" altLang="en-US" dirty="0"/>
              <a:t>進行</a:t>
            </a:r>
            <a:r>
              <a:rPr kumimoji="1" lang="en-US" altLang="zh-TW" dirty="0"/>
              <a:t>EDA</a:t>
            </a:r>
            <a:r>
              <a:rPr kumimoji="1" lang="zh-TW" altLang="en-US" dirty="0"/>
              <a:t>探索式資料分析 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2. </a:t>
            </a:r>
            <a:r>
              <a:rPr kumimoji="1" lang="zh-TW" altLang="en-US" dirty="0"/>
              <a:t>建構顧客價值分析模型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3. </a:t>
            </a:r>
            <a:r>
              <a:rPr kumimoji="1" lang="zh-TW" altLang="en-US" dirty="0"/>
              <a:t>分析商品關聯與行為特徵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4.</a:t>
            </a:r>
            <a:r>
              <a:rPr kumimoji="1" lang="zh-TW" altLang="en-US" dirty="0"/>
              <a:t> 視覺化洞察儀錶板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5. </a:t>
            </a:r>
            <a:r>
              <a:rPr kumimoji="1" lang="zh-TW" altLang="en-US" dirty="0"/>
              <a:t>根據分析結果提供行銷決策建議</a:t>
            </a:r>
          </a:p>
        </p:txBody>
      </p:sp>
    </p:spTree>
    <p:extLst>
      <p:ext uri="{BB962C8B-B14F-4D97-AF65-F5344CB8AC3E}">
        <p14:creationId xmlns:p14="http://schemas.microsoft.com/office/powerpoint/2010/main" val="2265485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7CB4B9-2F55-CF95-563C-C190490CE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問題定義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5CD922-8F6B-6FB8-94BB-9038EDA21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5" y="210185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TW" dirty="0"/>
              <a:t>1.</a:t>
            </a:r>
            <a:r>
              <a:rPr kumimoji="1" lang="zh-TW" altLang="en-US" dirty="0"/>
              <a:t>平台的價值結構與顧客價值差異</a:t>
            </a:r>
            <a:r>
              <a:rPr kumimoji="1" lang="en-US" altLang="zh-TW" dirty="0"/>
              <a:t>?</a:t>
            </a:r>
            <a:r>
              <a:rPr kumimoji="1" lang="zh-TW" altLang="en-US" dirty="0"/>
              <a:t> 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2.</a:t>
            </a:r>
            <a:r>
              <a:rPr kumimoji="1" lang="zh-TW" altLang="en-US" dirty="0"/>
              <a:t>是否能夠利用歷史行為資料建立顧客流失風險模型，以提早識   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  別高風險顧客，並進行再行銷</a:t>
            </a:r>
            <a:r>
              <a:rPr kumimoji="1" lang="en-US" altLang="zh-TW" dirty="0"/>
              <a:t>?</a:t>
            </a:r>
            <a:endParaRPr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3.</a:t>
            </a:r>
            <a:r>
              <a:rPr kumimoji="1" lang="zh-TW" altLang="en-US" dirty="0"/>
              <a:t>高價值顧客是否有呈現明顯的商品組合偏好</a:t>
            </a:r>
            <a:r>
              <a:rPr kumimoji="1" lang="en-US" altLang="zh-TW" dirty="0"/>
              <a:t>?</a:t>
            </a:r>
            <a:r>
              <a:rPr kumimoji="1" lang="zh-TW" altLang="en-US" dirty="0"/>
              <a:t>可否依此建立商 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  品搭配行銷策略</a:t>
            </a:r>
            <a:r>
              <a:rPr kumimoji="1" lang="en-US" altLang="zh-TW" dirty="0"/>
              <a:t>?</a:t>
            </a:r>
            <a:r>
              <a:rPr kumimoji="1" lang="zh-TW" altLang="en-US" dirty="0"/>
              <a:t> 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929601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DBC0CE-AD07-0529-BD50-D4EDE94C7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分析方法與流程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D0D739-751E-CB9A-3274-1BB431606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4700"/>
            <a:ext cx="10515600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kumimoji="1" lang="zh-TW" altLang="en-US" dirty="0"/>
              <a:t>資料清理</a:t>
            </a: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探索式資料分析</a:t>
            </a: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顧客價值模型建構 </a:t>
            </a:r>
            <a:endParaRPr kumimoji="1" lang="en-US" altLang="zh-TW" dirty="0"/>
          </a:p>
          <a:p>
            <a:pPr marL="457200" lvl="1" indent="0">
              <a:buNone/>
            </a:pPr>
            <a:r>
              <a:rPr kumimoji="1" lang="en-US" altLang="zh-TW" dirty="0"/>
              <a:t>(K-means</a:t>
            </a:r>
            <a:r>
              <a:rPr kumimoji="1" lang="zh-TW" altLang="en-US" dirty="0"/>
              <a:t>、</a:t>
            </a:r>
            <a:r>
              <a:rPr kumimoji="1" lang="en-US" altLang="zh-TW" dirty="0"/>
              <a:t>RFM</a:t>
            </a:r>
            <a:r>
              <a:rPr kumimoji="1" lang="zh-TW" altLang="en-US" dirty="0"/>
              <a:t>模型、</a:t>
            </a:r>
            <a:r>
              <a:rPr kumimoji="1" lang="en-US" altLang="zh-TW" dirty="0"/>
              <a:t>Random Forest</a:t>
            </a:r>
            <a:r>
              <a:rPr kumimoji="1" lang="zh-TW" altLang="en-US" dirty="0"/>
              <a:t>、</a:t>
            </a:r>
            <a:r>
              <a:rPr lang="en" altLang="zh-TW" dirty="0" err="1"/>
              <a:t>XGBoost</a:t>
            </a:r>
            <a:r>
              <a:rPr lang="en" altLang="zh-TW" dirty="0"/>
              <a:t> Regressor</a:t>
            </a:r>
            <a:r>
              <a:rPr kumimoji="1" lang="zh-TW" altLang="en-US" dirty="0"/>
              <a:t>、</a:t>
            </a:r>
            <a:r>
              <a:rPr kumimoji="1" lang="en-US" altLang="zh-TW" dirty="0" err="1"/>
              <a:t>apriori</a:t>
            </a:r>
            <a:r>
              <a:rPr kumimoji="1" lang="en-US" altLang="zh-TW" dirty="0"/>
              <a:t>)</a:t>
            </a:r>
          </a:p>
          <a:p>
            <a:pPr marL="514350" indent="-514350">
              <a:buAutoNum type="arabicPeriod"/>
            </a:pPr>
            <a:r>
              <a:rPr kumimoji="1" lang="zh-TW" altLang="en-US" dirty="0"/>
              <a:t>視覺化洞察儀錶板</a:t>
            </a: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給予行銷策略建議</a:t>
            </a: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en-US" altLang="zh-TW" dirty="0"/>
              <a:t>GitHub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zh-TW" altLang="en-US" dirty="0"/>
              <a:t>儲存分析結果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55994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05D243-2BC8-A2D4-BE0B-BB9238316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kumimoji="1" lang="zh-TW" altLang="en-US" dirty="0"/>
              <a:t>分析流程圖</a:t>
            </a:r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3DA3DE55-8432-DE54-2ADF-83D4D6CDC3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18660" y="87822"/>
            <a:ext cx="3050640" cy="668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52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分析結果與洞察</a:t>
            </a:r>
            <a:r>
              <a:rPr kumimoji="1" lang="en-US" altLang="zh-TW" dirty="0"/>
              <a:t>1</a:t>
            </a:r>
            <a:endParaRPr lang="zh-TW" altLang="en-US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1720798"/>
              </p:ext>
            </p:extLst>
          </p:nvPr>
        </p:nvGraphicFramePr>
        <p:xfrm>
          <a:off x="781049" y="2307318"/>
          <a:ext cx="10515600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6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6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2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分析面向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預期結果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商業洞察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1517">
                <a:tc>
                  <a:txBody>
                    <a:bodyPr/>
                    <a:lstStyle/>
                    <a:p>
                      <a:r>
                        <a:rPr lang="en-US" altLang="zh-TW" dirty="0"/>
                        <a:t>EDA</a:t>
                      </a:r>
                      <a:r>
                        <a:rPr lang="zh-TW" altLang="en-US" baseline="0" dirty="0"/>
                        <a:t> 探索資料分析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zh-TW" altLang="en-US" dirty="0"/>
                        <a:t>找出資料整體的分佈</a:t>
                      </a:r>
                      <a:endParaRPr lang="en-US" altLang="zh-TW" dirty="0"/>
                    </a:p>
                    <a:p>
                      <a:pPr marL="0" indent="0">
                        <a:buNone/>
                      </a:pPr>
                      <a:endParaRPr lang="en-US" altLang="zh-TW" dirty="0"/>
                    </a:p>
                    <a:p>
                      <a:r>
                        <a:rPr lang="en-US" altLang="zh-TW" dirty="0"/>
                        <a:t>2.</a:t>
                      </a:r>
                      <a:r>
                        <a:rPr lang="zh-TW" altLang="en-US" baseline="0" dirty="0"/>
                        <a:t> </a:t>
                      </a:r>
                      <a:r>
                        <a:rPr lang="zh-TW" altLang="en-US" dirty="0"/>
                        <a:t>確認顧客消費是否符合</a:t>
                      </a:r>
                      <a:r>
                        <a:rPr lang="en-US" altLang="zh-TW" dirty="0"/>
                        <a:t>28</a:t>
                      </a:r>
                      <a:r>
                        <a:rPr lang="zh-TW" altLang="en-US" dirty="0"/>
                        <a:t>分佈</a:t>
                      </a:r>
                      <a:endParaRPr lang="en-US" altLang="zh-TW" dirty="0"/>
                    </a:p>
                    <a:p>
                      <a:endParaRPr lang="en-US" altLang="zh-TW" dirty="0"/>
                    </a:p>
                    <a:p>
                      <a:r>
                        <a:rPr lang="en-US" altLang="zh-TW" dirty="0"/>
                        <a:t>3.</a:t>
                      </a:r>
                      <a:r>
                        <a:rPr lang="zh-TW" altLang="en-US" baseline="0" dirty="0"/>
                        <a:t> </a:t>
                      </a:r>
                      <a:r>
                        <a:rPr lang="zh-TW" altLang="en-US" dirty="0"/>
                        <a:t>分析不同地區、商品類別對於 營收的影響</a:t>
                      </a:r>
                      <a:endParaRPr lang="en-US" altLang="zh-TW" dirty="0"/>
                    </a:p>
                    <a:p>
                      <a:endParaRPr lang="en-US" altLang="zh-TW" dirty="0"/>
                    </a:p>
                    <a:p>
                      <a:r>
                        <a:rPr lang="en-US" altLang="zh-TW" dirty="0"/>
                        <a:t>4.</a:t>
                      </a:r>
                      <a:r>
                        <a:rPr lang="zh-TW" altLang="en-US" baseline="0" dirty="0"/>
                        <a:t> </a:t>
                      </a:r>
                      <a:r>
                        <a:rPr lang="zh-TW" altLang="en-US" dirty="0"/>
                        <a:t>找出影響客戶滿意度的主要相關因素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zh-TW" altLang="en-US" dirty="0"/>
                        <a:t>幫助企業了解數據的營收來源與關鍵地區</a:t>
                      </a:r>
                      <a:endParaRPr lang="en-US" altLang="zh-TW" dirty="0"/>
                    </a:p>
                    <a:p>
                      <a:pPr marL="342900" indent="-342900">
                        <a:buAutoNum type="arabicPeriod"/>
                      </a:pPr>
                      <a:endParaRPr lang="en-US" altLang="zh-TW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zh-TW" altLang="en-US" dirty="0"/>
                        <a:t>為後續建模提供依據</a:t>
                      </a:r>
                      <a:endParaRPr lang="en-US" altLang="zh-TW" dirty="0"/>
                    </a:p>
                    <a:p>
                      <a:pPr marL="342900" indent="-342900">
                        <a:buAutoNum type="arabicPeriod"/>
                      </a:pPr>
                      <a:endParaRPr lang="en-US" altLang="zh-TW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zh-TW" altLang="en-US" dirty="0"/>
                        <a:t>為後續行銷決策提供依據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顧客價值分析 </a:t>
                      </a:r>
                      <a:r>
                        <a:rPr lang="en-US" altLang="zh-TW" dirty="0"/>
                        <a:t>(RFM</a:t>
                      </a:r>
                      <a:r>
                        <a:rPr lang="zh-TW" altLang="en-US" dirty="0"/>
                        <a:t>、</a:t>
                      </a:r>
                      <a:r>
                        <a:rPr lang="en-US" altLang="zh-TW" dirty="0"/>
                        <a:t>K-means)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區分高價值、低價值客戶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企業可以針對不同客群給出對應的行銷策略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2673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分析結果與洞察</a:t>
            </a:r>
            <a:r>
              <a:rPr lang="en-US" altLang="zh-TW" dirty="0"/>
              <a:t>2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1269084"/>
              </p:ext>
            </p:extLst>
          </p:nvPr>
        </p:nvGraphicFramePr>
        <p:xfrm>
          <a:off x="703943" y="1446439"/>
          <a:ext cx="10515600" cy="521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6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3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分析面向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預期結果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商業洞察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顧客流失分析 </a:t>
                      </a:r>
                      <a:r>
                        <a:rPr lang="en-US" altLang="zh-TW" dirty="0"/>
                        <a:t>(Random</a:t>
                      </a:r>
                      <a:r>
                        <a:rPr lang="en-US" altLang="zh-TW" baseline="0" dirty="0"/>
                        <a:t> Forest</a:t>
                      </a:r>
                      <a:r>
                        <a:rPr lang="en-US" altLang="zh-TW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準確預測客戶流失機率</a:t>
                      </a:r>
                      <a:br>
                        <a:rPr lang="en-US" altLang="zh-TW" dirty="0"/>
                      </a:br>
                      <a:r>
                        <a:rPr lang="en-US" altLang="zh-TW" dirty="0"/>
                        <a:t>(AUC</a:t>
                      </a:r>
                      <a:r>
                        <a:rPr lang="en-US" altLang="zh-TW" baseline="0" dirty="0"/>
                        <a:t> 0.85</a:t>
                      </a:r>
                      <a:r>
                        <a:rPr lang="zh-TW" altLang="en-US" baseline="0" dirty="0"/>
                        <a:t>以上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在客戶進入高流失風險區間發送優惠信息留住客人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顧客</a:t>
                      </a:r>
                      <a:r>
                        <a:rPr lang="en-US" altLang="zh-TW" dirty="0"/>
                        <a:t>LTV</a:t>
                      </a:r>
                      <a:r>
                        <a:rPr lang="zh-TW" altLang="en-US" dirty="0"/>
                        <a:t>預測</a:t>
                      </a:r>
                      <a:r>
                        <a:rPr lang="en-US" altLang="zh-TW" dirty="0"/>
                        <a:t> (</a:t>
                      </a:r>
                      <a:r>
                        <a:rPr lang="en" altLang="zh-TW" dirty="0" err="1"/>
                        <a:t>XGBoost</a:t>
                      </a:r>
                      <a:r>
                        <a:rPr lang="en" altLang="zh-TW" dirty="0"/>
                        <a:t> Regressor</a:t>
                      </a:r>
                      <a:r>
                        <a:rPr lang="en-US" altLang="zh-TW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準確預測顧客未來六個月</a:t>
                      </a:r>
                      <a:r>
                        <a:rPr lang="en-US" altLang="zh-TW" dirty="0"/>
                        <a:t>LTV</a:t>
                      </a:r>
                      <a:r>
                        <a:rPr lang="zh-TW" altLang="en-US" dirty="0"/>
                        <a:t>，</a:t>
                      </a:r>
                      <a:endParaRPr lang="en-US" altLang="zh-TW" dirty="0"/>
                    </a:p>
                    <a:p>
                      <a:r>
                        <a:rPr lang="en-US" altLang="zh-TW" dirty="0"/>
                        <a:t>(R^2 0.75</a:t>
                      </a:r>
                      <a:r>
                        <a:rPr lang="zh-TW" altLang="en-US" dirty="0"/>
                        <a:t>以上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鎖定高 </a:t>
                      </a:r>
                      <a:r>
                        <a:rPr lang="en" altLang="zh-TW" dirty="0"/>
                        <a:t>LTV </a:t>
                      </a:r>
                      <a:r>
                        <a:rPr lang="zh-TW" altLang="en-US" dirty="0"/>
                        <a:t>顧客進行差異化行銷與留存策略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542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商品關聯分析 </a:t>
                      </a:r>
                      <a:r>
                        <a:rPr lang="en-US" altLang="zh-TW" dirty="0"/>
                        <a:t>(</a:t>
                      </a:r>
                      <a:r>
                        <a:rPr lang="en-US" altLang="zh-TW" dirty="0" err="1"/>
                        <a:t>Apriori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找出高價值客戶常購的商品組合。發現不同客群之間的商品關聯差異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交叉銷售、個人化推薦。設計促銷組合包提高轉化率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視覺化儀錶板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TW" dirty="0"/>
                        <a:t>EDA</a:t>
                      </a:r>
                      <a:r>
                        <a:rPr lang="zh-TW" altLang="en-US" dirty="0"/>
                        <a:t>結果</a:t>
                      </a:r>
                      <a:r>
                        <a:rPr lang="zh-TW" altLang="en" dirty="0"/>
                        <a:t>、</a:t>
                      </a:r>
                      <a:r>
                        <a:rPr lang="zh-TW" altLang="en-US" dirty="0"/>
                        <a:t>顧客分群、流失預測、</a:t>
                      </a:r>
                      <a:r>
                        <a:rPr lang="en" altLang="zh-TW" dirty="0"/>
                        <a:t>LTV </a:t>
                      </a:r>
                      <a:r>
                        <a:rPr lang="zh-TW" altLang="en-US" dirty="0"/>
                        <a:t>預測與商品關聯分析結果，建立可互動的決策儀表板。</a:t>
                      </a:r>
                      <a:br>
                        <a:rPr lang="zh-TW" altLang="en-US" dirty="0"/>
                      </a:br>
                      <a:r>
                        <a:rPr lang="zh-TW" altLang="en-US" dirty="0"/>
                        <a:t>可視化顧客價值結構、流失風險層級、</a:t>
                      </a:r>
                      <a:r>
                        <a:rPr lang="en" altLang="zh-TW" dirty="0"/>
                        <a:t>LTV </a:t>
                      </a:r>
                      <a:r>
                        <a:rPr lang="zh-TW" altLang="en-US" dirty="0"/>
                        <a:t>分布與高價值顧客偏好。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協助管理層掌握高價值客群分佈與營收來源。以做出決策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行銷策略建議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根據分析結果給出具體行銷建議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提升顧客</a:t>
                      </a:r>
                      <a:r>
                        <a:rPr lang="en-US" altLang="zh-TW" dirty="0"/>
                        <a:t>LTV</a:t>
                      </a:r>
                      <a:r>
                        <a:rPr lang="zh-TW" altLang="en-US" dirty="0"/>
                        <a:t>，優化行銷資源配置，提高營收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690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專案應用價值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52475" y="2816225"/>
            <a:ext cx="10515600" cy="1793875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1.</a:t>
            </a:r>
            <a:r>
              <a:rPr lang="zh-TW" altLang="en-US" dirty="0"/>
              <a:t> 協助企業辨識高價值顧客，優化行銷資源配置。</a:t>
            </a:r>
          </a:p>
          <a:p>
            <a:pPr marL="0" indent="0">
              <a:buNone/>
            </a:pPr>
            <a:r>
              <a:rPr lang="en-US" altLang="zh-TW" dirty="0"/>
              <a:t>2.</a:t>
            </a:r>
            <a:r>
              <a:rPr lang="zh-TW" altLang="en-US" dirty="0"/>
              <a:t> 預測顧客流失風險，提升顧客留存率與營收穩定性。</a:t>
            </a:r>
          </a:p>
          <a:p>
            <a:pPr marL="0" indent="0">
              <a:buNone/>
            </a:pPr>
            <a:r>
              <a:rPr lang="en-US" altLang="zh-TW" dirty="0"/>
              <a:t>3.</a:t>
            </a:r>
            <a:r>
              <a:rPr lang="zh-TW" altLang="en-US" dirty="0"/>
              <a:t> 透過數據分析建立決策依據，強化電商平台的競爭力。</a:t>
            </a:r>
          </a:p>
        </p:txBody>
      </p:sp>
    </p:spTree>
    <p:extLst>
      <p:ext uri="{BB962C8B-B14F-4D97-AF65-F5344CB8AC3E}">
        <p14:creationId xmlns:p14="http://schemas.microsoft.com/office/powerpoint/2010/main" val="891419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2992</TotalTime>
  <Words>799</Words>
  <Application>Microsoft Macintosh PowerPoint</Application>
  <PresentationFormat>寬螢幕</PresentationFormat>
  <Paragraphs>95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佈景主題</vt:lpstr>
      <vt:lpstr>巴西olist電商數據分析</vt:lpstr>
      <vt:lpstr>專案大綱</vt:lpstr>
      <vt:lpstr>研究動機</vt:lpstr>
      <vt:lpstr>專案簡介</vt:lpstr>
      <vt:lpstr>專案簡介(資料來源)</vt:lpstr>
      <vt:lpstr>專案簡介 (ERD圖) </vt:lpstr>
      <vt:lpstr>專案目標</vt:lpstr>
      <vt:lpstr>問題定義</vt:lpstr>
      <vt:lpstr>分析方法與流程</vt:lpstr>
      <vt:lpstr>分析流程圖</vt:lpstr>
      <vt:lpstr>分析結果與洞察1</vt:lpstr>
      <vt:lpstr>分析結果與洞察2</vt:lpstr>
      <vt:lpstr>專案應用價值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巴西olist電商數據分析</dc:title>
  <dc:creator>張凱評</dc:creator>
  <cp:lastModifiedBy>張凱評</cp:lastModifiedBy>
  <cp:revision>17</cp:revision>
  <dcterms:created xsi:type="dcterms:W3CDTF">2025-11-09T13:13:47Z</dcterms:created>
  <dcterms:modified xsi:type="dcterms:W3CDTF">2025-11-15T03:00:55Z</dcterms:modified>
</cp:coreProperties>
</file>