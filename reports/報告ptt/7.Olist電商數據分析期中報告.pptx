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sldIdLst>
    <p:sldId id="256" r:id="rId2"/>
    <p:sldId id="257" r:id="rId3"/>
    <p:sldId id="260" r:id="rId4"/>
    <p:sldId id="259" r:id="rId5"/>
    <p:sldId id="266" r:id="rId6"/>
    <p:sldId id="267" r:id="rId7"/>
    <p:sldId id="261" r:id="rId8"/>
    <p:sldId id="262" r:id="rId9"/>
    <p:sldId id="258" r:id="rId10"/>
    <p:sldId id="268" r:id="rId11"/>
    <p:sldId id="263" r:id="rId12"/>
    <p:sldId id="265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3"/>
    <p:restoredTop sz="94669"/>
  </p:normalViewPr>
  <p:slideViewPr>
    <p:cSldViewPr snapToGrid="0">
      <p:cViewPr varScale="1">
        <p:scale>
          <a:sx n="101" d="100"/>
          <a:sy n="101" d="100"/>
        </p:scale>
        <p:origin x="52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2025/11/16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08259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2025/11/16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86644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2025/11/16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173485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2025/11/16</a:t>
            </a:fld>
            <a:endParaRPr kumimoji="1"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1893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2025/11/16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439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2025/11/16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1268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2025/11/16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2277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2025/11/16</a:t>
            </a:fld>
            <a:endParaRPr kumimoji="1" lang="zh-TW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63875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9728561-3D45-3941-B0F7-A26B6CA19DB3}" type="datetimeFigureOut">
              <a:rPr kumimoji="1" lang="zh-TW" altLang="en-US" smtClean="0"/>
              <a:t>2025/11/16</a:t>
            </a:fld>
            <a:endParaRPr kumimoji="1"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85847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11532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52159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9728561-3D45-3941-B0F7-A26B6CA19DB3}" type="datetimeFigureOut">
              <a:rPr kumimoji="1" lang="zh-TW" altLang="en-US" smtClean="0"/>
              <a:t>2025/11/16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71163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3FBF32-2995-3A21-9C50-D4E8E1D9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9785"/>
            <a:ext cx="9144000" cy="2387600"/>
          </a:xfrm>
        </p:spPr>
        <p:txBody>
          <a:bodyPr/>
          <a:lstStyle/>
          <a:p>
            <a:r>
              <a:rPr kumimoji="1" lang="zh-TW" altLang="en-US" dirty="0"/>
              <a:t>巴西</a:t>
            </a:r>
            <a:r>
              <a:rPr kumimoji="1" lang="en-US" altLang="zh-TW" dirty="0" err="1"/>
              <a:t>olist</a:t>
            </a:r>
            <a:r>
              <a:rPr kumimoji="1" lang="zh-TW" altLang="en-US" dirty="0"/>
              <a:t>電商數據分析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4EEBF61-B24A-F7F5-FED5-39618285F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0" y="4244508"/>
            <a:ext cx="9144000" cy="1655762"/>
          </a:xfrm>
        </p:spPr>
        <p:txBody>
          <a:bodyPr/>
          <a:lstStyle/>
          <a:p>
            <a:pPr algn="l"/>
            <a:r>
              <a:rPr kumimoji="1" lang="zh-TW" altLang="en-US" dirty="0"/>
              <a:t>組員：</a:t>
            </a:r>
            <a:r>
              <a:rPr kumimoji="1" lang="en-US" altLang="zh-TW" dirty="0"/>
              <a:t>3311341097 </a:t>
            </a:r>
            <a:r>
              <a:rPr kumimoji="1" lang="zh-TW" altLang="en-US" dirty="0"/>
              <a:t>張凱評</a:t>
            </a:r>
            <a:endParaRPr kumimoji="1" lang="en-US" altLang="zh-TW" dirty="0"/>
          </a:p>
          <a:p>
            <a:pPr algn="l"/>
            <a:r>
              <a:rPr kumimoji="1" lang="zh-TW" altLang="en-US" dirty="0"/>
              <a:t>指導老師：謝文仲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994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964907-2F34-8CC1-2A32-579F06022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1A3190-7610-CC29-6BEE-9717D83F1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791325"/>
            <a:ext cx="7729728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sz="2000" dirty="0"/>
              <a:t>1. </a:t>
            </a:r>
            <a:r>
              <a:rPr kumimoji="1" lang="zh-TW" altLang="en-US" sz="2000" dirty="0"/>
              <a:t>研究動機</a:t>
            </a:r>
            <a:endParaRPr kumimoji="1" lang="en-US" altLang="zh-TW" sz="2000" dirty="0"/>
          </a:p>
          <a:p>
            <a:pPr marL="0" indent="0">
              <a:buNone/>
            </a:pPr>
            <a:r>
              <a:rPr kumimoji="1" lang="en-US" altLang="zh-TW" sz="2000" dirty="0"/>
              <a:t>2.</a:t>
            </a:r>
            <a:r>
              <a:rPr kumimoji="1" lang="zh-TW" altLang="en-US" sz="2000" dirty="0"/>
              <a:t> 專案簡介</a:t>
            </a:r>
            <a:endParaRPr kumimoji="1" lang="en-US" altLang="zh-TW" sz="2000" dirty="0"/>
          </a:p>
          <a:p>
            <a:pPr marL="0" indent="0">
              <a:buNone/>
            </a:pPr>
            <a:r>
              <a:rPr kumimoji="1" lang="en-US" altLang="zh-TW" sz="2000" dirty="0"/>
              <a:t>3. </a:t>
            </a:r>
            <a:r>
              <a:rPr kumimoji="1" lang="zh-TW" altLang="en-US" sz="2000" dirty="0"/>
              <a:t>專案目標</a:t>
            </a:r>
            <a:endParaRPr kumimoji="1" lang="en-US" altLang="zh-TW" sz="2000" dirty="0"/>
          </a:p>
          <a:p>
            <a:pPr marL="0" indent="0">
              <a:buNone/>
            </a:pPr>
            <a:r>
              <a:rPr kumimoji="1" lang="en-US" altLang="zh-TW" sz="2000" dirty="0"/>
              <a:t>4. </a:t>
            </a:r>
            <a:r>
              <a:rPr kumimoji="1" lang="zh-TW" altLang="en-US" sz="2000" dirty="0"/>
              <a:t>問題定義</a:t>
            </a:r>
            <a:endParaRPr kumimoji="1" lang="en-US" altLang="zh-TW" sz="2000" dirty="0"/>
          </a:p>
          <a:p>
            <a:pPr marL="0" indent="0">
              <a:buNone/>
            </a:pPr>
            <a:r>
              <a:rPr kumimoji="1" lang="en-US" altLang="zh-TW" sz="2000" dirty="0"/>
              <a:t>5. </a:t>
            </a:r>
            <a:r>
              <a:rPr kumimoji="1" lang="zh-TW" altLang="en-US" sz="2000" dirty="0"/>
              <a:t>分析方法與流程</a:t>
            </a:r>
            <a:endParaRPr kumimoji="1" lang="en-US" altLang="zh-TW" sz="2000" dirty="0"/>
          </a:p>
          <a:p>
            <a:pPr marL="0" indent="0">
              <a:buNone/>
            </a:pPr>
            <a:r>
              <a:rPr kumimoji="1" lang="en-US" altLang="zh-TW" sz="2000" dirty="0"/>
              <a:t>6. </a:t>
            </a:r>
            <a:r>
              <a:rPr kumimoji="1" lang="zh-TW" altLang="en-US" sz="2000" dirty="0"/>
              <a:t>分析結果與洞察</a:t>
            </a:r>
            <a:endParaRPr kumimoji="1" lang="en-US" altLang="zh-TW" sz="2000" dirty="0"/>
          </a:p>
          <a:p>
            <a:pPr marL="0" indent="0">
              <a:buNone/>
            </a:pPr>
            <a:r>
              <a:rPr kumimoji="1" lang="en-US" altLang="zh-TW" sz="2000" dirty="0"/>
              <a:t>7. </a:t>
            </a:r>
            <a:r>
              <a:rPr kumimoji="1" lang="zh-TW" altLang="en-US" sz="2000" dirty="0"/>
              <a:t>專案應用價值</a:t>
            </a:r>
            <a:endParaRPr kumimoji="1" lang="en-US" altLang="zh-TW" sz="2000" dirty="0"/>
          </a:p>
          <a:p>
            <a:pPr marL="0" indent="0">
              <a:buNone/>
            </a:pPr>
            <a:endParaRPr kumimoji="1"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84679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7BBA93-D19C-1DCB-A67E-5F097C5A5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研究動機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A8C93A-AA53-AF17-7AEF-6461B49F4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kumimoji="1" lang="zh-TW" altLang="en-US" dirty="0"/>
              <a:t>顧客流失問題嚴重：在電商平台中，平均客戶的流失率高達</a:t>
            </a:r>
            <a:r>
              <a:rPr kumimoji="1" lang="en-US" altLang="zh-TW" dirty="0"/>
              <a:t>60%</a:t>
            </a:r>
            <a:r>
              <a:rPr kumimoji="1" lang="zh-TW" altLang="en-US" dirty="0"/>
              <a:t>，如何留住核心顧客是企業面對的核心挑戰。</a:t>
            </a:r>
            <a:endParaRPr kumimoji="1" lang="en-US" altLang="zh-TW" dirty="0"/>
          </a:p>
          <a:p>
            <a:pPr marL="514350" indent="-514350">
              <a:buAutoNum type="arabicPeriod"/>
            </a:pP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行銷資源配置低效：傳統行銷資源通常平均發放，難以區分高價值、低價值客戶。</a:t>
            </a:r>
            <a:endParaRPr kumimoji="1" lang="en-US" altLang="zh-TW" dirty="0"/>
          </a:p>
          <a:p>
            <a:pPr marL="514350" indent="-514350">
              <a:buAutoNum type="arabicPeriod"/>
            </a:pP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數據分析可以提供精準策略：透過顧客行為資料分析，能夠辨識高價值客戶並且提供行銷建議。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3520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A789BA-A81E-1489-2F7D-3E76E0C0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CD4498-EFB4-2AFE-36B9-D64980EB4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963"/>
            <a:ext cx="8413750" cy="1695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TW" altLang="en-US" dirty="0"/>
              <a:t>本專案以</a:t>
            </a:r>
            <a:r>
              <a:rPr kumimoji="1" lang="en-US" altLang="zh-TW" dirty="0"/>
              <a:t>Kaggle </a:t>
            </a:r>
            <a:r>
              <a:rPr kumimoji="1" lang="zh-TW" altLang="en-US" dirty="0"/>
              <a:t>巴西</a:t>
            </a:r>
            <a:r>
              <a:rPr kumimoji="1" lang="en-US" altLang="zh-TW" dirty="0" err="1"/>
              <a:t>olist</a:t>
            </a:r>
            <a:r>
              <a:rPr kumimoji="1" lang="zh-TW" altLang="en-US" dirty="0"/>
              <a:t>電商平台真實數據，其中包含訂單、顧客、賣家、商品、地區、付款、評價等 </a:t>
            </a:r>
            <a:r>
              <a:rPr kumimoji="1" lang="en-US" altLang="zh-TW" dirty="0"/>
              <a:t>9 </a:t>
            </a:r>
            <a:r>
              <a:rPr kumimoji="1" lang="zh-TW" altLang="en-US" dirty="0"/>
              <a:t>個維度的數據集。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根據用戶習慣進行探索式資料分析，並且建構顧客價值分析模型。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以辨識高價值顧客、預測顧客未來價值，並且提出行銷的建議藉此提高企業營收。</a:t>
            </a:r>
          </a:p>
        </p:txBody>
      </p:sp>
    </p:spTree>
    <p:extLst>
      <p:ext uri="{BB962C8B-B14F-4D97-AF65-F5344CB8AC3E}">
        <p14:creationId xmlns:p14="http://schemas.microsoft.com/office/powerpoint/2010/main" val="142436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63047"/>
            <a:ext cx="10515600" cy="1325563"/>
          </a:xfrm>
        </p:spPr>
        <p:txBody>
          <a:bodyPr/>
          <a:lstStyle/>
          <a:p>
            <a:r>
              <a:rPr lang="zh-TW" altLang="en-US" dirty="0"/>
              <a:t>專案簡介</a:t>
            </a:r>
            <a:r>
              <a:rPr lang="en-US" altLang="zh-TW" dirty="0"/>
              <a:t>(</a:t>
            </a:r>
            <a:r>
              <a:rPr lang="zh-TW" altLang="en-US" dirty="0"/>
              <a:t>資料來源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838200" y="2841625"/>
            <a:ext cx="11039475" cy="2314575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專案使用的是</a:t>
            </a:r>
            <a:r>
              <a:rPr lang="en-US" altLang="zh-TW" dirty="0" err="1"/>
              <a:t>Kaggle</a:t>
            </a:r>
            <a:r>
              <a:rPr lang="zh-TW" altLang="en-US" dirty="0"/>
              <a:t>的公開真實資料</a:t>
            </a:r>
            <a:r>
              <a:rPr lang="en-US" altLang="zh-TW" dirty="0"/>
              <a:t>:Brazilian E-Commerce</a:t>
            </a:r>
          </a:p>
          <a:p>
            <a:pPr marL="0" indent="0">
              <a:buNone/>
            </a:pPr>
            <a:r>
              <a:rPr lang="en-US" altLang="zh-TW" dirty="0" err="1"/>
              <a:t>Olist</a:t>
            </a:r>
            <a:r>
              <a:rPr lang="zh-TW" altLang="en-US" dirty="0"/>
              <a:t>是巴西最大的電商平台之一。搜集時間由</a:t>
            </a:r>
            <a:r>
              <a:rPr lang="en-US" altLang="zh-TW" dirty="0"/>
              <a:t>2016</a:t>
            </a:r>
            <a:r>
              <a:rPr lang="zh-TW" altLang="en-US" dirty="0"/>
              <a:t>年</a:t>
            </a:r>
            <a:r>
              <a:rPr lang="en-US" altLang="zh-TW" dirty="0"/>
              <a:t>10</a:t>
            </a:r>
            <a:r>
              <a:rPr lang="zh-TW" altLang="en-US" dirty="0"/>
              <a:t>月至</a:t>
            </a:r>
            <a:r>
              <a:rPr lang="en-US" altLang="zh-TW" dirty="0"/>
              <a:t>2018</a:t>
            </a:r>
            <a:r>
              <a:rPr lang="zh-TW" altLang="en-US" dirty="0"/>
              <a:t>年</a:t>
            </a:r>
            <a:r>
              <a:rPr lang="en-US" altLang="zh-TW" dirty="0"/>
              <a:t>12</a:t>
            </a:r>
            <a:r>
              <a:rPr lang="zh-TW" altLang="en-US" dirty="0"/>
              <a:t>月，約</a:t>
            </a:r>
            <a:r>
              <a:rPr lang="en-US" altLang="zh-TW" dirty="0"/>
              <a:t>100000</a:t>
            </a:r>
            <a:r>
              <a:rPr lang="zh-TW" altLang="en-US" dirty="0"/>
              <a:t>筆訂單紀錄。資料集涵蓋從訂單下單、付款、物流配送到顧客評價的完整流程。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總共有</a:t>
            </a:r>
            <a:r>
              <a:rPr lang="en-US" altLang="zh-TW" dirty="0"/>
              <a:t>9</a:t>
            </a:r>
            <a:r>
              <a:rPr lang="zh-TW" altLang="en-US" dirty="0"/>
              <a:t>張表互相關聯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顧客、賣家、訂單明細、付款方式、商品、地理位置、顧客評價等</a:t>
            </a:r>
            <a:r>
              <a:rPr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480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07571" y="0"/>
            <a:ext cx="10515600" cy="1325563"/>
          </a:xfrm>
        </p:spPr>
        <p:txBody>
          <a:bodyPr/>
          <a:lstStyle/>
          <a:p>
            <a:r>
              <a:rPr lang="zh-TW" altLang="en-US" dirty="0"/>
              <a:t>專案簡介 </a:t>
            </a:r>
            <a:r>
              <a:rPr lang="en-US" altLang="zh-TW" dirty="0"/>
              <a:t>(ERD</a:t>
            </a:r>
            <a:r>
              <a:rPr lang="zh-TW" altLang="en-US" dirty="0"/>
              <a:t>圖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491" y="1477963"/>
            <a:ext cx="6147018" cy="5380037"/>
          </a:xfrm>
        </p:spPr>
      </p:pic>
    </p:spTree>
    <p:extLst>
      <p:ext uri="{BB962C8B-B14F-4D97-AF65-F5344CB8AC3E}">
        <p14:creationId xmlns:p14="http://schemas.microsoft.com/office/powerpoint/2010/main" val="1750546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5C3C6B-2CF1-47F2-B4EE-1541F576A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專案目標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AF72C6-CE6A-21DF-3505-6B538D9C1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503489"/>
            <a:ext cx="8966200" cy="28813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1. </a:t>
            </a:r>
            <a:r>
              <a:rPr kumimoji="1" lang="zh-TW" altLang="en-US" dirty="0"/>
              <a:t>進行</a:t>
            </a:r>
            <a:r>
              <a:rPr kumimoji="1" lang="en-US" altLang="zh-TW" dirty="0"/>
              <a:t>EDA</a:t>
            </a:r>
            <a:r>
              <a:rPr kumimoji="1" lang="zh-TW" altLang="en-US" dirty="0"/>
              <a:t>探索式資料分析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 </a:t>
            </a:r>
            <a:r>
              <a:rPr kumimoji="1" lang="zh-TW" altLang="en-US" dirty="0"/>
              <a:t>建構顧客價值分析模型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 </a:t>
            </a:r>
            <a:r>
              <a:rPr kumimoji="1" lang="zh-TW" altLang="en-US" dirty="0"/>
              <a:t>分析商品關聯與行為特徵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4.</a:t>
            </a:r>
            <a:r>
              <a:rPr kumimoji="1" lang="zh-TW" altLang="en-US" dirty="0"/>
              <a:t> 視覺化洞察儀錶板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5. </a:t>
            </a:r>
            <a:r>
              <a:rPr kumimoji="1" lang="zh-TW" altLang="en-US" dirty="0"/>
              <a:t>根據分析結果提供行銷決策建議</a:t>
            </a:r>
          </a:p>
        </p:txBody>
      </p:sp>
    </p:spTree>
    <p:extLst>
      <p:ext uri="{BB962C8B-B14F-4D97-AF65-F5344CB8AC3E}">
        <p14:creationId xmlns:p14="http://schemas.microsoft.com/office/powerpoint/2010/main" val="2265485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7CB4B9-2F55-CF95-563C-C190490C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問題定義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5CD922-8F6B-6FB8-94BB-9038EDA21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889250"/>
            <a:ext cx="7318375" cy="2647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/>
              <a:t>1.</a:t>
            </a:r>
            <a:r>
              <a:rPr kumimoji="1" lang="zh-TW" altLang="en-US" dirty="0"/>
              <a:t>平台的價值結構與顧客價值差異</a:t>
            </a:r>
            <a:r>
              <a:rPr kumimoji="1" lang="en-US" altLang="zh-TW" dirty="0"/>
              <a:t>?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</a:t>
            </a:r>
            <a:r>
              <a:rPr kumimoji="1" lang="zh-TW" altLang="en-US" dirty="0"/>
              <a:t>是否能夠利用歷史行為資料建立顧客流失風險模型，以提早識  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  別高風險顧客，並進行再行銷</a:t>
            </a:r>
            <a:r>
              <a:rPr kumimoji="1" lang="en-US" altLang="zh-TW" dirty="0"/>
              <a:t>?</a:t>
            </a:r>
          </a:p>
          <a:p>
            <a:pPr marL="0" indent="0">
              <a:buNone/>
            </a:pPr>
            <a:r>
              <a:rPr kumimoji="1" lang="en-US" altLang="zh-TW" dirty="0"/>
              <a:t>3.</a:t>
            </a:r>
            <a:r>
              <a:rPr kumimoji="1" lang="zh-TW" altLang="en-US" dirty="0"/>
              <a:t>哪些關鍵變量跟顧客流失、</a:t>
            </a:r>
            <a:r>
              <a:rPr kumimoji="1" lang="en-US" altLang="zh-TW" dirty="0"/>
              <a:t>LTV</a:t>
            </a:r>
            <a:r>
              <a:rPr kumimoji="1" lang="zh-TW" altLang="en-US" dirty="0"/>
              <a:t>高低有強烈相關？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4.</a:t>
            </a:r>
            <a:r>
              <a:rPr kumimoji="1" lang="zh-TW" altLang="en-US" dirty="0"/>
              <a:t>高價值顧客是否有呈現明顯的商品組合偏好</a:t>
            </a:r>
            <a:r>
              <a:rPr kumimoji="1" lang="en-US" altLang="zh-TW" dirty="0"/>
              <a:t>?</a:t>
            </a:r>
            <a:r>
              <a:rPr kumimoji="1" lang="zh-TW" altLang="en-US" dirty="0"/>
              <a:t>可否依此建立商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  品搭配行銷策略</a:t>
            </a:r>
            <a:r>
              <a:rPr kumimoji="1" lang="en-US" altLang="zh-TW" dirty="0"/>
              <a:t>?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29601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DBC0CE-AD07-0529-BD50-D4EDE94C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分析方法與流程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D0D739-751E-CB9A-3274-1BB43160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718308"/>
            <a:ext cx="9728200" cy="317500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kumimoji="1" lang="zh-TW" altLang="en-US" dirty="0"/>
              <a:t>資料清理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探索式資料分析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顧客價值模型建構 </a:t>
            </a:r>
            <a:endParaRPr kumimoji="1" lang="en-US" altLang="zh-TW" dirty="0"/>
          </a:p>
          <a:p>
            <a:pPr marL="457200" lvl="1" indent="0">
              <a:buNone/>
            </a:pPr>
            <a:r>
              <a:rPr kumimoji="1" lang="en-US" altLang="zh-TW" dirty="0"/>
              <a:t>(K-means</a:t>
            </a:r>
            <a:r>
              <a:rPr kumimoji="1" lang="zh-TW" altLang="en-US" dirty="0"/>
              <a:t>、</a:t>
            </a:r>
            <a:r>
              <a:rPr kumimoji="1" lang="en-US" altLang="zh-TW" dirty="0"/>
              <a:t>RFM</a:t>
            </a:r>
            <a:r>
              <a:rPr kumimoji="1" lang="zh-TW" altLang="en-US" dirty="0"/>
              <a:t>模型、</a:t>
            </a:r>
            <a:r>
              <a:rPr kumimoji="1" lang="en-US" altLang="zh-TW" dirty="0"/>
              <a:t>Random Forest</a:t>
            </a:r>
            <a:r>
              <a:rPr kumimoji="1" lang="zh-TW" altLang="en-US" dirty="0"/>
              <a:t>、</a:t>
            </a:r>
            <a:r>
              <a:rPr lang="en" altLang="zh-TW" dirty="0" err="1"/>
              <a:t>XGBoost</a:t>
            </a:r>
            <a:r>
              <a:rPr lang="en" altLang="zh-TW" dirty="0"/>
              <a:t> Regressor</a:t>
            </a:r>
            <a:r>
              <a:rPr kumimoji="1" lang="zh-TW" altLang="en-US" dirty="0"/>
              <a:t>、</a:t>
            </a:r>
            <a:r>
              <a:rPr kumimoji="1" lang="en-US" altLang="zh-TW" dirty="0" err="1"/>
              <a:t>apriori</a:t>
            </a:r>
            <a:r>
              <a:rPr kumimoji="1" lang="en-US" altLang="zh-TW" dirty="0"/>
              <a:t>)</a:t>
            </a:r>
          </a:p>
          <a:p>
            <a:pPr marL="514350" indent="-514350">
              <a:buAutoNum type="arabicPeriod"/>
            </a:pPr>
            <a:r>
              <a:rPr kumimoji="1" lang="zh-TW" altLang="en-US" dirty="0"/>
              <a:t>視覺化洞察儀錶板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給予行銷策略建議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en-US" altLang="zh-TW" dirty="0"/>
              <a:t>GitHub</a:t>
            </a:r>
            <a:r>
              <a:rPr kumimoji="1" lang="zh-TW" altLang="en-US" dirty="0"/>
              <a:t> 版本控制</a:t>
            </a:r>
          </a:p>
        </p:txBody>
      </p:sp>
    </p:spTree>
    <p:extLst>
      <p:ext uri="{BB962C8B-B14F-4D97-AF65-F5344CB8AC3E}">
        <p14:creationId xmlns:p14="http://schemas.microsoft.com/office/powerpoint/2010/main" val="3455994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05D243-2BC8-A2D4-BE0B-BB9238316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3733800" cy="1524000"/>
          </a:xfrm>
        </p:spPr>
        <p:txBody>
          <a:bodyPr/>
          <a:lstStyle/>
          <a:p>
            <a:r>
              <a:rPr kumimoji="1" lang="zh-TW" altLang="en-US" dirty="0"/>
              <a:t>分析流程圖</a:t>
            </a: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3DA3DE55-8432-DE54-2ADF-83D4D6CDC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8260" y="87822"/>
            <a:ext cx="3050640" cy="668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2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31136" y="621792"/>
            <a:ext cx="7729728" cy="1188720"/>
          </a:xfrm>
        </p:spPr>
        <p:txBody>
          <a:bodyPr/>
          <a:lstStyle/>
          <a:p>
            <a:r>
              <a:rPr kumimoji="1" lang="zh-TW" altLang="en-US" dirty="0"/>
              <a:t>分析結果與洞察</a:t>
            </a:r>
            <a:r>
              <a:rPr kumimoji="1" lang="en-US" altLang="zh-TW" dirty="0"/>
              <a:t>1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8073218"/>
              </p:ext>
            </p:extLst>
          </p:nvPr>
        </p:nvGraphicFramePr>
        <p:xfrm>
          <a:off x="838200" y="2878818"/>
          <a:ext cx="10515600" cy="2599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6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2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分析面向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預期結果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商業洞察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9042">
                <a:tc>
                  <a:txBody>
                    <a:bodyPr/>
                    <a:lstStyle/>
                    <a:p>
                      <a:r>
                        <a:rPr lang="en-US" altLang="zh-TW" dirty="0"/>
                        <a:t>EDA</a:t>
                      </a:r>
                      <a:r>
                        <a:rPr lang="zh-TW" altLang="en-US" baseline="0" dirty="0"/>
                        <a:t> 探索資料分析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1.</a:t>
                      </a:r>
                      <a:r>
                        <a:rPr lang="zh-TW" altLang="en-US" dirty="0"/>
                        <a:t>資料整體概況與品質檢查</a:t>
                      </a:r>
                      <a:endParaRPr lang="en-US" altLang="zh-TW" dirty="0"/>
                    </a:p>
                    <a:p>
                      <a:pPr marL="0" indent="0">
                        <a:buNone/>
                      </a:pPr>
                      <a:r>
                        <a:rPr lang="en-US" altLang="zh-TW" dirty="0"/>
                        <a:t>2. </a:t>
                      </a:r>
                      <a:r>
                        <a:rPr lang="zh-TW" altLang="en-US" dirty="0"/>
                        <a:t>顧客與訂單行為分析</a:t>
                      </a:r>
                      <a:endParaRPr lang="en-US" altLang="zh-TW" dirty="0"/>
                    </a:p>
                    <a:p>
                      <a:r>
                        <a:rPr lang="en-US" altLang="zh-TW" baseline="0" dirty="0"/>
                        <a:t>3.</a:t>
                      </a:r>
                      <a:r>
                        <a:rPr lang="zh-TW" altLang="en-US" baseline="0" dirty="0"/>
                        <a:t> 商品與品類分析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4. </a:t>
                      </a:r>
                      <a:r>
                        <a:rPr lang="zh-TW" altLang="en-US" dirty="0"/>
                        <a:t>地區分析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5.</a:t>
                      </a:r>
                      <a:r>
                        <a:rPr lang="zh-TW" altLang="en-US" dirty="0"/>
                        <a:t>顧客評價與滿意度分析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幫助企業了解數據的營收來源與關鍵地區</a:t>
                      </a: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為後續建模提供依據</a:t>
                      </a: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為後續行銷決策提供依據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顧客價值分析 </a:t>
                      </a:r>
                      <a:r>
                        <a:rPr lang="en-US" altLang="zh-TW" dirty="0"/>
                        <a:t>(RFM</a:t>
                      </a:r>
                      <a:r>
                        <a:rPr lang="zh-TW" altLang="en-US" dirty="0"/>
                        <a:t>、</a:t>
                      </a:r>
                      <a:r>
                        <a:rPr lang="en-US" altLang="zh-TW" dirty="0"/>
                        <a:t>K-means)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區分高價值、低價值客戶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企業可以針對不同客群給出對應的行銷策略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673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31136" y="194401"/>
            <a:ext cx="7729728" cy="1188720"/>
          </a:xfrm>
        </p:spPr>
        <p:txBody>
          <a:bodyPr/>
          <a:lstStyle/>
          <a:p>
            <a:r>
              <a:rPr lang="zh-TW" altLang="en-US" dirty="0"/>
              <a:t>分析結果與洞察</a:t>
            </a:r>
            <a:r>
              <a:rPr lang="en-US" altLang="zh-TW" dirty="0"/>
              <a:t>2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269084"/>
              </p:ext>
            </p:extLst>
          </p:nvPr>
        </p:nvGraphicFramePr>
        <p:xfrm>
          <a:off x="703943" y="1446439"/>
          <a:ext cx="10515600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3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分析面向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預期結果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商業洞察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顧客流失分析 </a:t>
                      </a:r>
                      <a:r>
                        <a:rPr lang="en-US" altLang="zh-TW" dirty="0"/>
                        <a:t>(Random</a:t>
                      </a:r>
                      <a:r>
                        <a:rPr lang="en-US" altLang="zh-TW" baseline="0" dirty="0"/>
                        <a:t> Forest</a:t>
                      </a:r>
                      <a:r>
                        <a:rPr lang="en-US" altLang="zh-TW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準確預測客戶流失機率</a:t>
                      </a:r>
                      <a:br>
                        <a:rPr lang="en-US" altLang="zh-TW" dirty="0"/>
                      </a:br>
                      <a:r>
                        <a:rPr lang="en-US" altLang="zh-TW" dirty="0"/>
                        <a:t>(AUC</a:t>
                      </a:r>
                      <a:r>
                        <a:rPr lang="en-US" altLang="zh-TW" baseline="0" dirty="0"/>
                        <a:t> 0.85</a:t>
                      </a:r>
                      <a:r>
                        <a:rPr lang="zh-TW" altLang="en-US" baseline="0" dirty="0"/>
                        <a:t>以上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在客戶進入高流失風險區間發送優惠信息留住客人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</a:t>
                      </a:r>
                      <a:r>
                        <a:rPr lang="en-US" altLang="zh-TW" dirty="0"/>
                        <a:t>LTV</a:t>
                      </a:r>
                      <a:r>
                        <a:rPr lang="zh-TW" altLang="en-US" dirty="0"/>
                        <a:t>預測</a:t>
                      </a:r>
                      <a:r>
                        <a:rPr lang="en-US" altLang="zh-TW" dirty="0"/>
                        <a:t> (</a:t>
                      </a:r>
                      <a:r>
                        <a:rPr lang="en" altLang="zh-TW" dirty="0" err="1"/>
                        <a:t>XGBoost</a:t>
                      </a:r>
                      <a:r>
                        <a:rPr lang="en" altLang="zh-TW" dirty="0"/>
                        <a:t> Regressor</a:t>
                      </a:r>
                      <a:r>
                        <a:rPr lang="en-US" altLang="zh-TW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準確預測顧客未來六個月</a:t>
                      </a:r>
                      <a:r>
                        <a:rPr lang="en-US" altLang="zh-TW" dirty="0"/>
                        <a:t>LTV</a:t>
                      </a:r>
                      <a:r>
                        <a:rPr lang="zh-TW" altLang="en-US" dirty="0"/>
                        <a:t>，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(R^2 0.75</a:t>
                      </a:r>
                      <a:r>
                        <a:rPr lang="zh-TW" altLang="en-US" dirty="0"/>
                        <a:t>以上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鎖定高 </a:t>
                      </a:r>
                      <a:r>
                        <a:rPr lang="en" altLang="zh-TW" dirty="0"/>
                        <a:t>LTV </a:t>
                      </a:r>
                      <a:r>
                        <a:rPr lang="zh-TW" altLang="en-US" dirty="0"/>
                        <a:t>顧客進行差異化行銷與留存策略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542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商品關聯分析 </a:t>
                      </a:r>
                      <a:r>
                        <a:rPr lang="en-US" altLang="zh-TW" dirty="0"/>
                        <a:t>(</a:t>
                      </a:r>
                      <a:r>
                        <a:rPr lang="en-US" altLang="zh-TW" dirty="0" err="1"/>
                        <a:t>Apriori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找出高價值客戶常購的商品組合。發現不同客群之間的商品關聯差異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交叉銷售、個人化推薦。設計促銷組合包提高轉化率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視覺化儀錶板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/>
                        <a:t>EDA</a:t>
                      </a:r>
                      <a:r>
                        <a:rPr lang="zh-TW" altLang="en-US" dirty="0"/>
                        <a:t>結果</a:t>
                      </a:r>
                      <a:r>
                        <a:rPr lang="zh-TW" altLang="en" dirty="0"/>
                        <a:t>、</a:t>
                      </a:r>
                      <a:r>
                        <a:rPr lang="zh-TW" altLang="en-US" dirty="0"/>
                        <a:t>顧客分群、流失預測、</a:t>
                      </a:r>
                      <a:r>
                        <a:rPr lang="en" altLang="zh-TW" dirty="0"/>
                        <a:t>LTV </a:t>
                      </a:r>
                      <a:r>
                        <a:rPr lang="zh-TW" altLang="en-US" dirty="0"/>
                        <a:t>預測與商品關聯分析結果，建立可互動的決策儀表板。</a:t>
                      </a:r>
                      <a:br>
                        <a:rPr lang="zh-TW" altLang="en-US" dirty="0"/>
                      </a:br>
                      <a:r>
                        <a:rPr lang="zh-TW" altLang="en-US" dirty="0"/>
                        <a:t>可視化顧客價值結構、流失風險層級、</a:t>
                      </a:r>
                      <a:r>
                        <a:rPr lang="en" altLang="zh-TW" dirty="0"/>
                        <a:t>LTV </a:t>
                      </a:r>
                      <a:r>
                        <a:rPr lang="zh-TW" altLang="en-US" dirty="0"/>
                        <a:t>分布與高價值顧客偏好。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協助管理層掌握高價值客群分佈與營收來源。以做出決策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行銷策略建議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根據分析結果給出具體行銷建議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提升顧客</a:t>
                      </a:r>
                      <a:r>
                        <a:rPr lang="en-US" altLang="zh-TW" dirty="0"/>
                        <a:t>LTV</a:t>
                      </a:r>
                      <a:r>
                        <a:rPr lang="zh-TW" altLang="en-US" dirty="0"/>
                        <a:t>，優化行銷資源配置，提高營收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690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專案應用價值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31136" y="3133725"/>
            <a:ext cx="5851525" cy="134937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1.</a:t>
            </a:r>
            <a:r>
              <a:rPr lang="zh-TW" altLang="en-US" dirty="0"/>
              <a:t> 協助企業辨識高價值顧客，優化行銷資源配置。</a:t>
            </a:r>
          </a:p>
          <a:p>
            <a:pPr marL="0" indent="0">
              <a:buNone/>
            </a:pPr>
            <a:r>
              <a:rPr lang="en-US" altLang="zh-TW" dirty="0"/>
              <a:t>2.</a:t>
            </a:r>
            <a:r>
              <a:rPr lang="zh-TW" altLang="en-US" dirty="0"/>
              <a:t> 預測顧客流失風險，提升顧客留存率與營收穩定性。</a:t>
            </a:r>
          </a:p>
          <a:p>
            <a:pPr marL="0" indent="0">
              <a:buNone/>
            </a:pPr>
            <a:r>
              <a:rPr lang="en-US" altLang="zh-TW" dirty="0"/>
              <a:t>3.</a:t>
            </a:r>
            <a:r>
              <a:rPr lang="zh-TW" altLang="en-US" dirty="0"/>
              <a:t> 透過數據分析建立決策依據，強化電商平台的競爭力。</a:t>
            </a:r>
          </a:p>
        </p:txBody>
      </p:sp>
    </p:spTree>
    <p:extLst>
      <p:ext uri="{BB962C8B-B14F-4D97-AF65-F5344CB8AC3E}">
        <p14:creationId xmlns:p14="http://schemas.microsoft.com/office/powerpoint/2010/main" val="891419497"/>
      </p:ext>
    </p:extLst>
  </p:cSld>
  <p:clrMapOvr>
    <a:masterClrMapping/>
  </p:clrMapOvr>
</p:sld>
</file>

<file path=ppt/theme/theme1.xml><?xml version="1.0" encoding="utf-8"?>
<a:theme xmlns:a="http://schemas.openxmlformats.org/drawingml/2006/main" name="包裹">
  <a:themeElements>
    <a:clrScheme name="包裹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包裹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包裹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3218</TotalTime>
  <Words>813</Words>
  <Application>Microsoft Macintosh PowerPoint</Application>
  <PresentationFormat>寬螢幕</PresentationFormat>
  <Paragraphs>91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包裹</vt:lpstr>
      <vt:lpstr>巴西olist電商數據分析</vt:lpstr>
      <vt:lpstr>專案大綱</vt:lpstr>
      <vt:lpstr>研究動機</vt:lpstr>
      <vt:lpstr>專案簡介</vt:lpstr>
      <vt:lpstr>專案簡介(資料來源)</vt:lpstr>
      <vt:lpstr>專案簡介 (ERD圖) </vt:lpstr>
      <vt:lpstr>專案目標</vt:lpstr>
      <vt:lpstr>問題定義</vt:lpstr>
      <vt:lpstr>分析方法與流程</vt:lpstr>
      <vt:lpstr>分析流程圖</vt:lpstr>
      <vt:lpstr>分析結果與洞察1</vt:lpstr>
      <vt:lpstr>分析結果與洞察2</vt:lpstr>
      <vt:lpstr>專案應用價值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巴西olist電商數據分析</dc:title>
  <dc:creator>張凱評</dc:creator>
  <cp:lastModifiedBy>張凱評</cp:lastModifiedBy>
  <cp:revision>19</cp:revision>
  <dcterms:created xsi:type="dcterms:W3CDTF">2025-11-09T13:13:47Z</dcterms:created>
  <dcterms:modified xsi:type="dcterms:W3CDTF">2025-11-16T06:16:14Z</dcterms:modified>
</cp:coreProperties>
</file>