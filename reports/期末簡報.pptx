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37"/>
  </p:notesMasterIdLst>
  <p:sldIdLst>
    <p:sldId id="256" r:id="rId2"/>
    <p:sldId id="268" r:id="rId3"/>
    <p:sldId id="258" r:id="rId4"/>
    <p:sldId id="264" r:id="rId5"/>
    <p:sldId id="265" r:id="rId6"/>
    <p:sldId id="266" r:id="rId7"/>
    <p:sldId id="267" r:id="rId8"/>
    <p:sldId id="259" r:id="rId9"/>
    <p:sldId id="269" r:id="rId10"/>
    <p:sldId id="271" r:id="rId11"/>
    <p:sldId id="272" r:id="rId12"/>
    <p:sldId id="270" r:id="rId13"/>
    <p:sldId id="273" r:id="rId14"/>
    <p:sldId id="274" r:id="rId15"/>
    <p:sldId id="260" r:id="rId16"/>
    <p:sldId id="275" r:id="rId17"/>
    <p:sldId id="261" r:id="rId18"/>
    <p:sldId id="276" r:id="rId19"/>
    <p:sldId id="262" r:id="rId20"/>
    <p:sldId id="277" r:id="rId21"/>
    <p:sldId id="263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9" r:id="rId33"/>
    <p:sldId id="288" r:id="rId34"/>
    <p:sldId id="290" r:id="rId35"/>
    <p:sldId id="291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25"/>
  </p:normalViewPr>
  <p:slideViewPr>
    <p:cSldViewPr snapToGrid="0">
      <p:cViewPr>
        <p:scale>
          <a:sx n="119" d="100"/>
          <a:sy n="119" d="100"/>
        </p:scale>
        <p:origin x="216" y="-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E29A1B-E08A-C04B-9334-FDC997FE9DEB}" type="datetimeFigureOut">
              <a:rPr kumimoji="1" lang="zh-TW" altLang="en-US" smtClean="0"/>
              <a:t>2026/5/31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EB63D-830E-6042-9F4A-C61B7BD2147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11467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EB63D-830E-6042-9F4A-C61B7BD2147E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76354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EB63D-830E-6042-9F4A-C61B7BD2147E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87863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EB63D-830E-6042-9F4A-C61B7BD2147E}" type="slidenum">
              <a:rPr kumimoji="1" lang="zh-TW" altLang="en-US" smtClean="0"/>
              <a:t>26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62145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FC7CB-44F5-CFA8-0D67-CF5DC6018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DABCE0B-9704-045D-9935-490608809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22F1D8F-1A9C-1486-CDAB-D4E7B10BA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140B7BC-8933-918E-A0FA-C577F112A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EB63D-830E-6042-9F4A-C61B7BD2147E}" type="slidenum">
              <a:rPr kumimoji="1" lang="zh-TW" altLang="en-US" smtClean="0"/>
              <a:t>27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98991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9CE18-0E4B-132E-A6C6-410FE11B9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5F68D6F-2127-16AD-F737-8BB26B267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72BCE6C-AB3F-E6D4-BD1D-0F67FD63A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DDBFE0-A7E5-866B-4BF4-F1EF6D40B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EB63D-830E-6042-9F4A-C61B7BD2147E}" type="slidenum">
              <a:rPr kumimoji="1" lang="zh-TW" altLang="en-US" smtClean="0"/>
              <a:t>28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71660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57A15-24EC-7323-AE6D-FE4BA145B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07A4AF5-E4B1-C577-ADA9-FE9205C69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F4A332A-D586-7BF3-1EA4-AAA3259FD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0E704A-7114-C8D7-41AA-E0C1AFFA69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EB63D-830E-6042-9F4A-C61B7BD2147E}" type="slidenum">
              <a:rPr kumimoji="1" lang="zh-TW" altLang="en-US" smtClean="0"/>
              <a:t>29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850735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160FC-3C53-75B8-EB77-FB3EB5BE8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1F795E2-D21C-83BE-9193-9C4106A6B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272654D-DDAD-6B22-6C59-2271A539BA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7C0E82-E30B-73B5-F2C4-4E3705155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EB63D-830E-6042-9F4A-C61B7BD2147E}" type="slidenum">
              <a:rPr kumimoji="1" lang="zh-TW" altLang="en-US" smtClean="0"/>
              <a:t>30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998189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0BCD2-F729-3225-6352-30FC0F24E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3C7D5B-21CC-17AD-3A38-872E45555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045A1B4-6EBD-7346-C672-2F26357D62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2EFFFB-8D69-53E5-F499-2CDD60C5F3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EB63D-830E-6042-9F4A-C61B7BD2147E}" type="slidenum">
              <a:rPr kumimoji="1" lang="zh-TW" altLang="en-US" smtClean="0"/>
              <a:t>31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040112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D40D7-66C0-5657-790A-129A037E6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390AE38-2653-A700-0E0A-0CFF78C21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486A8CA-9EFC-2306-40B9-88F2E7E54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AE9916-CAB5-EEF9-BE0B-28F68821F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EB63D-830E-6042-9F4A-C61B7BD2147E}" type="slidenum">
              <a:rPr kumimoji="1" lang="zh-TW" altLang="en-US" smtClean="0"/>
              <a:t>32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385173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FF587-1C4F-7394-DEF8-8E7FC1286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49B3785-21D6-960E-B3E4-B9725CD80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7733460-CF01-D526-D46B-E744737435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2911E3-49F6-4537-D9A5-DC7C6D666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EB63D-830E-6042-9F4A-C61B7BD2147E}" type="slidenum">
              <a:rPr kumimoji="1" lang="zh-TW" altLang="en-US" smtClean="0"/>
              <a:t>33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649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5/31/26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5/31/26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5/31/26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5/31/26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5/31/26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5/31/26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5/31/26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5/31/26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5/31/26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5/31/26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EA1BBB-0A61-4C90-DE51-F0E697F64C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TW" cap="none" dirty="0" err="1"/>
              <a:t>Olist</a:t>
            </a:r>
            <a:r>
              <a:rPr kumimoji="1" lang="zh-TW" altLang="en-US" cap="none" dirty="0"/>
              <a:t>電商平台首購顧客二購轉化分析與再行銷決策支援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F5C6782-FDA4-A216-6B68-DE650341D5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TW" altLang="en-US" dirty="0"/>
              <a:t>姓名：張凱評</a:t>
            </a:r>
            <a:endParaRPr kumimoji="1" lang="en-US" altLang="zh-TW" dirty="0"/>
          </a:p>
          <a:p>
            <a:r>
              <a:rPr kumimoji="1" lang="zh-TW" altLang="en-US" dirty="0"/>
              <a:t>學號：</a:t>
            </a:r>
            <a:r>
              <a:rPr kumimoji="1" lang="en-US" altLang="zh-TW" dirty="0"/>
              <a:t>3311341097</a:t>
            </a:r>
          </a:p>
          <a:p>
            <a:r>
              <a:rPr kumimoji="1" lang="zh-TW" altLang="en-US" dirty="0"/>
              <a:t>指導教授：謝文仲</a:t>
            </a:r>
          </a:p>
        </p:txBody>
      </p:sp>
    </p:spTree>
    <p:extLst>
      <p:ext uri="{BB962C8B-B14F-4D97-AF65-F5344CB8AC3E}">
        <p14:creationId xmlns:p14="http://schemas.microsoft.com/office/powerpoint/2010/main" val="351460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BAE7DD-0955-40D2-1BA3-6108EC3C7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524090"/>
            <a:ext cx="7729728" cy="1188720"/>
          </a:xfrm>
        </p:spPr>
        <p:txBody>
          <a:bodyPr/>
          <a:lstStyle/>
          <a:p>
            <a:r>
              <a:rPr kumimoji="1" lang="zh-TW" altLang="en-US" dirty="0"/>
              <a:t>執行摘要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6588B7-F4A7-70FE-161A-5545AF6EA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826764"/>
            <a:ext cx="7729728" cy="14068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zh-TW" dirty="0"/>
              <a:t>本專案以 CRISP-DM 為分析流程，針對 Olist 電商平台「顧客二購率偏低」的問題，從業務目標出發，透過資料理解、特徵工程與二購傾向模型，找出較有再購潛力的首購顧客，並將分析結果轉化為可執行的再行銷決策建議。</a:t>
            </a:r>
          </a:p>
        </p:txBody>
      </p:sp>
    </p:spTree>
    <p:extLst>
      <p:ext uri="{BB962C8B-B14F-4D97-AF65-F5344CB8AC3E}">
        <p14:creationId xmlns:p14="http://schemas.microsoft.com/office/powerpoint/2010/main" val="2848401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93F422-1AF6-D9CF-98FC-085348FCD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Business Understanding</a:t>
            </a:r>
            <a:br>
              <a:rPr kumimoji="1" lang="en-US" altLang="zh-TW" dirty="0"/>
            </a:br>
            <a:r>
              <a:rPr kumimoji="1" lang="en-US" altLang="zh-TW" dirty="0"/>
              <a:t>(</a:t>
            </a:r>
            <a:r>
              <a:rPr kumimoji="1" lang="zh-TW" altLang="en-US" dirty="0"/>
              <a:t>背景與研究動機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265AF67-12D7-1271-5FE8-C98E207E3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本專案以模擬電商平台數據分析師的角色出發，聚焦於平台顧客留存與二購轉化問</a:t>
            </a:r>
          </a:p>
          <a:p>
            <a:r>
              <a:rPr lang="zh-TW" altLang="zh-TW" dirty="0"/>
              <a:t>題。根據目前資料觀察，平台顧客購買行為高度集中於一次性交易，約 97% 顧客僅</a:t>
            </a:r>
          </a:p>
          <a:p>
            <a:r>
              <a:rPr lang="zh-TW" altLang="zh-TW" dirty="0"/>
              <a:t>購買一次，回購顧客占比僅約 3%，顯示整體留存結構偏弱。這代表多數顧客在首購</a:t>
            </a:r>
          </a:p>
          <a:p>
            <a:r>
              <a:rPr lang="zh-TW" altLang="zh-TW" dirty="0"/>
              <a:t>後未能持續留下，使平台難以透過重複消費累積顧客終身價值，長期營收將更依賴持</a:t>
            </a:r>
          </a:p>
          <a:p>
            <a:r>
              <a:rPr lang="zh-TW" altLang="zh-TW" dirty="0"/>
              <a:t>續獲取新客，顧客經營效率也因此受到限制。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94061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049CB-4D57-F3E8-425B-1F8EB9394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E7C0FC-A347-6FFC-20BA-8D0CCD370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Business Understanding</a:t>
            </a:r>
            <a:br>
              <a:rPr kumimoji="1" lang="en-US" altLang="zh-TW" dirty="0"/>
            </a:br>
            <a:r>
              <a:rPr kumimoji="1" lang="en-US" altLang="zh-TW" dirty="0"/>
              <a:t>(</a:t>
            </a:r>
            <a:r>
              <a:rPr lang="zh-TW" altLang="zh-TW" dirty="0"/>
              <a:t>業務核心問題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80A959-B95D-688E-605D-325F99C1E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5036" y="2396744"/>
            <a:ext cx="9084564" cy="3101983"/>
          </a:xfrm>
        </p:spPr>
        <p:txBody>
          <a:bodyPr>
            <a:normAutofit/>
          </a:bodyPr>
          <a:lstStyle/>
          <a:p>
            <a:r>
              <a:rPr lang="zh-TW" altLang="zh-TW" dirty="0"/>
              <a:t>平台顧客購買行為高度集中於一次性交易，整體回購比例偏低，顯示平台留存結構偏弱，顧客價值難以持續累積</a:t>
            </a:r>
          </a:p>
          <a:p>
            <a:r>
              <a:rPr lang="zh-TW" altLang="zh-TW" dirty="0"/>
              <a:t>因此，本專案聚焦核心業務問題：</a:t>
            </a:r>
          </a:p>
          <a:p>
            <a:r>
              <a:rPr lang="zh-TW" altLang="zh-TW" dirty="0"/>
              <a:t>在平台顧客購買行為高度集中於一次性交易、二購顧客僅約占 3% 的情況下，</a:t>
            </a:r>
          </a:p>
          <a:p>
            <a:r>
              <a:rPr lang="zh-TW" altLang="zh-TW" dirty="0"/>
              <a:t>如何提升首購顧客的二購轉化率，使更多顧客進入持續購買關係並累積長期價</a:t>
            </a:r>
          </a:p>
          <a:p>
            <a:r>
              <a:rPr lang="zh-TW" altLang="zh-TW" dirty="0"/>
              <a:t>值？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539B9FA-F0EA-2E1D-3DF5-263C8464D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741" y="4467824"/>
            <a:ext cx="4398518" cy="206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279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27674-8E30-B3CC-65D4-48ED907CC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61A595-1A70-8AD0-2E3C-F44AE2E58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470302"/>
            <a:ext cx="7729728" cy="1188720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Business Understanding</a:t>
            </a:r>
            <a:br>
              <a:rPr kumimoji="1" lang="en-US" altLang="zh-TW" dirty="0"/>
            </a:br>
            <a:r>
              <a:rPr kumimoji="1" lang="en-US" altLang="zh-TW" dirty="0"/>
              <a:t>(</a:t>
            </a:r>
            <a:r>
              <a:rPr lang="zh-TW" altLang="zh-TW" dirty="0"/>
              <a:t>核心業務目</a:t>
            </a:r>
            <a:r>
              <a:rPr lang="zh-TW" altLang="en-US" dirty="0"/>
              <a:t>標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0E9B9C-E41B-7A8F-8C7D-4811F17AB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5163" y="3945368"/>
            <a:ext cx="9084564" cy="1035424"/>
          </a:xfrm>
        </p:spPr>
        <p:txBody>
          <a:bodyPr>
            <a:normAutofit/>
          </a:bodyPr>
          <a:lstStyle/>
          <a:p>
            <a:r>
              <a:rPr lang="zh-TW" altLang="zh-TW" dirty="0"/>
              <a:t>在平台回購率偏低且留存結構偏弱的情況下，希望建立一套可量化的分析流程，協助</a:t>
            </a:r>
          </a:p>
          <a:p>
            <a:r>
              <a:rPr lang="zh-TW" altLang="zh-TW" dirty="0"/>
              <a:t>辨識具有二購潛力的首購顧客，支援平台進行更有效的留存與再購經營。</a:t>
            </a:r>
          </a:p>
          <a:p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2591418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FDA79-885F-F736-048B-B67185FA5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CE9E2E-DFD4-58B7-1AEA-716CF6C35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Business Understanding</a:t>
            </a:r>
            <a:br>
              <a:rPr kumimoji="1" lang="en-US" altLang="zh-TW" dirty="0"/>
            </a:br>
            <a:r>
              <a:rPr kumimoji="1" lang="en-US" altLang="zh-TW" dirty="0"/>
              <a:t>(</a:t>
            </a:r>
            <a:r>
              <a:rPr lang="zh-TW" altLang="zh-TW" dirty="0"/>
              <a:t>核心</a:t>
            </a:r>
            <a:r>
              <a:rPr lang="zh-TW" altLang="en-US" dirty="0"/>
              <a:t>問題拆解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58847B7-CD18-C0BB-0DF5-486431EED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04B3921-9B18-FC91-6AA4-061439584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464" y="2451839"/>
            <a:ext cx="7772400" cy="344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23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D2B123-8965-A6AC-E292-50E515A0A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56616"/>
            <a:ext cx="7729728" cy="1188720"/>
          </a:xfrm>
        </p:spPr>
        <p:txBody>
          <a:bodyPr/>
          <a:lstStyle/>
          <a:p>
            <a:r>
              <a:rPr kumimoji="1" lang="en-US" altLang="zh-TW" dirty="0"/>
              <a:t>Business Understanding</a:t>
            </a:r>
            <a:br>
              <a:rPr kumimoji="1" lang="en-US" altLang="zh-TW" dirty="0"/>
            </a:br>
            <a:r>
              <a:rPr kumimoji="1" lang="en-US" altLang="zh-TW" dirty="0"/>
              <a:t>(</a:t>
            </a:r>
            <a:r>
              <a:rPr kumimoji="1" lang="zh-TW" altLang="en-US" dirty="0"/>
              <a:t>專案分析方法</a:t>
            </a:r>
            <a:r>
              <a:rPr kumimoji="1" lang="en-US" altLang="zh-TW" dirty="0"/>
              <a:t>CRISP-dm)</a:t>
            </a:r>
            <a:endParaRPr kumimoji="1" lang="zh-TW" altLang="en-US" dirty="0"/>
          </a:p>
        </p:txBody>
      </p:sp>
      <p:pic>
        <p:nvPicPr>
          <p:cNvPr id="1026" name="Picture 2" descr="iT 邦幫忙::一起幫忙解決難題，拯救IT 人的一天">
            <a:extLst>
              <a:ext uri="{FF2B5EF4-FFF2-40B4-BE49-F238E27FC236}">
                <a16:creationId xmlns:a16="http://schemas.microsoft.com/office/drawing/2014/main" id="{FB475B7D-F3A1-4FE9-81FB-183D8CA9B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0" y="1886712"/>
            <a:ext cx="4368800" cy="436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9563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293800-EC0F-3156-D9E4-00089EBC4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Data Understanding</a:t>
            </a:r>
            <a:br>
              <a:rPr kumimoji="1" lang="en-US" altLang="zh-TW" dirty="0"/>
            </a:br>
            <a:r>
              <a:rPr kumimoji="1" lang="en-US" altLang="zh-TW" dirty="0"/>
              <a:t>(</a:t>
            </a:r>
            <a:r>
              <a:rPr kumimoji="1" lang="zh-TW" altLang="en-US" dirty="0"/>
              <a:t>執行框架</a:t>
            </a:r>
            <a:r>
              <a:rPr kumimoji="1" lang="en-US" altLang="zh-TW" dirty="0"/>
              <a:t>) </a:t>
            </a:r>
            <a:endParaRPr kumimoji="1"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889D032-3F6E-7F2B-D2C9-C0919370A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12E0D10-DA32-347B-B728-3EF58B007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464" y="2551983"/>
            <a:ext cx="7772400" cy="346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439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B4237-417E-BB25-38B5-E70F216C0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BAD11E-79CC-D29A-BEE3-5A46777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394998"/>
            <a:ext cx="7729728" cy="1188720"/>
          </a:xfrm>
        </p:spPr>
        <p:txBody>
          <a:bodyPr/>
          <a:lstStyle/>
          <a:p>
            <a:r>
              <a:rPr kumimoji="1" lang="en-US" altLang="zh-TW" dirty="0"/>
              <a:t>Data Understanding</a:t>
            </a:r>
            <a:br>
              <a:rPr kumimoji="1" lang="en-US" altLang="zh-TW" dirty="0"/>
            </a:br>
            <a:r>
              <a:rPr kumimoji="1" lang="en-US" altLang="zh-TW" dirty="0"/>
              <a:t>(</a:t>
            </a:r>
            <a:r>
              <a:rPr kumimoji="1" lang="zh-TW" altLang="en-US" dirty="0"/>
              <a:t>靜態理解</a:t>
            </a:r>
            <a:r>
              <a:rPr kumimoji="1" lang="en-US" altLang="zh-TW" dirty="0"/>
              <a:t>)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0A5D0E-CF51-B83F-0608-72581A956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700354"/>
            <a:ext cx="7729728" cy="1762648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kumimoji="1" lang="en-US" altLang="zh-TW" dirty="0"/>
              <a:t>Table Inventory:</a:t>
            </a:r>
            <a:r>
              <a:rPr lang="zh-TW" altLang="zh-TW" dirty="0"/>
              <a:t>盤點每張資料表的筆數、欄位數與用途。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zh-TW" altLang="zh-TW" dirty="0"/>
              <a:t>Column Inventory</a:t>
            </a:r>
            <a:r>
              <a:rPr lang="en-US" altLang="zh-TW" dirty="0"/>
              <a:t>: </a:t>
            </a:r>
            <a:r>
              <a:rPr lang="zh-TW" altLang="en-US" dirty="0"/>
              <a:t>檢查每個欄位的商業意義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kumimoji="1" lang="zh-TW" altLang="en-US" dirty="0"/>
              <a:t>關聯檢查：</a:t>
            </a:r>
            <a:r>
              <a:rPr lang="zh-TW" altLang="zh-TW" dirty="0"/>
              <a:t>確認資料表之間的主鍵、外鍵與 Join 關係是否合理。</a:t>
            </a:r>
            <a:endParaRPr lang="en-US" altLang="zh-TW" dirty="0"/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kumimoji="1" lang="zh-TW" altLang="en-US" dirty="0"/>
              <a:t>資料品質檢查：</a:t>
            </a:r>
            <a:r>
              <a:rPr lang="zh-TW" altLang="zh-TW" dirty="0"/>
              <a:t>檢查缺失值、重複值、異常值與時間欄位邏輯。 </a:t>
            </a:r>
          </a:p>
          <a:p>
            <a:pPr marL="342900" indent="-342900">
              <a:buAutoNum type="arabicPeriod"/>
            </a:pP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3765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FB5E5-7B5B-66AA-EAB3-BA17922DC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6053AB-F1A0-0E25-3331-A8233726C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5" y="383779"/>
            <a:ext cx="7729728" cy="1188720"/>
          </a:xfrm>
        </p:spPr>
        <p:txBody>
          <a:bodyPr/>
          <a:lstStyle/>
          <a:p>
            <a:r>
              <a:rPr kumimoji="1" lang="en-US" altLang="zh-TW" dirty="0"/>
              <a:t>Data Understanding</a:t>
            </a:r>
            <a:br>
              <a:rPr kumimoji="1" lang="en-US" altLang="zh-TW" dirty="0"/>
            </a:br>
            <a:r>
              <a:rPr kumimoji="1" lang="en-US" altLang="zh-TW" dirty="0"/>
              <a:t>(</a:t>
            </a:r>
            <a:r>
              <a:rPr kumimoji="1" lang="zh-TW" altLang="en-US" dirty="0"/>
              <a:t>關聯檢查</a:t>
            </a:r>
            <a:r>
              <a:rPr kumimoji="1" lang="en-US" altLang="zh-TW" dirty="0"/>
              <a:t>-</a:t>
            </a:r>
            <a:r>
              <a:rPr kumimoji="1" lang="en-US" altLang="zh-TW" dirty="0" err="1"/>
              <a:t>erd</a:t>
            </a:r>
            <a:r>
              <a:rPr kumimoji="1" lang="zh-TW" altLang="en-US" dirty="0"/>
              <a:t>圖</a:t>
            </a:r>
            <a:r>
              <a:rPr kumimoji="1" lang="en-US" altLang="zh-TW" dirty="0"/>
              <a:t>) 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4839C32F-8343-9C72-AD51-0880CF8B55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6218" y="1884469"/>
            <a:ext cx="4839561" cy="423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768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A8D99-35F2-F8D5-E4F4-CBD2FDA6D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B7868E-AED9-827D-768C-23EFC22F2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695150"/>
            <a:ext cx="7729728" cy="1188720"/>
          </a:xfrm>
        </p:spPr>
        <p:txBody>
          <a:bodyPr/>
          <a:lstStyle/>
          <a:p>
            <a:r>
              <a:rPr kumimoji="1" lang="en-US" altLang="zh-TW" dirty="0"/>
              <a:t>Data Understanding</a:t>
            </a:r>
            <a:br>
              <a:rPr kumimoji="1" lang="en-US" altLang="zh-TW" dirty="0"/>
            </a:br>
            <a:r>
              <a:rPr kumimoji="1" lang="en-US" altLang="zh-TW" dirty="0"/>
              <a:t>(</a:t>
            </a:r>
            <a:r>
              <a:rPr kumimoji="1" lang="zh-TW" altLang="en-US" dirty="0"/>
              <a:t>靜態理解結論</a:t>
            </a:r>
            <a:r>
              <a:rPr kumimoji="1" lang="en-US" altLang="zh-TW" dirty="0"/>
              <a:t>) </a:t>
            </a:r>
            <a:endParaRPr kumimoji="1" lang="zh-TW" alt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A2F7B4B-5706-9733-AB86-F83F3E900E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6" y="2619376"/>
            <a:ext cx="895629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資料表關聯正常</a:t>
            </a:r>
            <a:b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主鍵與外鍵皆可對應，資料表之間可以正確串接。 </a:t>
            </a: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主要欄位可用</a:t>
            </a:r>
            <a:b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顧客、訂單、商品、付款、評價、物流等核心欄位沒有嚴重缺失，足以支援後續分析。</a:t>
            </a: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時間邏輯正常</a:t>
            </a:r>
            <a:b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訂單時間、付款時間、出貨時間、到貨時間的先後順序大致符合交易流程。 </a:t>
            </a:r>
            <a:endParaRPr kumimoji="0" lang="en-US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TW" altLang="zh-TW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金額邏輯正常</a:t>
            </a:r>
            <a:b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zh-TW" altLang="zh-TW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商品金額、付款金額與運費欄位沒有明顯不合理情況，可作為交易金額分析基礎。</a:t>
            </a:r>
          </a:p>
        </p:txBody>
      </p:sp>
    </p:spTree>
    <p:extLst>
      <p:ext uri="{BB962C8B-B14F-4D97-AF65-F5344CB8AC3E}">
        <p14:creationId xmlns:p14="http://schemas.microsoft.com/office/powerpoint/2010/main" val="85672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C71EE-E752-2AA2-A30B-738833EF7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617CA9-FD7F-43A8-2199-34CC09AF2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Data Understanding</a:t>
            </a:r>
            <a:br>
              <a:rPr kumimoji="1" lang="en-US" altLang="zh-TW" dirty="0"/>
            </a:br>
            <a:r>
              <a:rPr kumimoji="1" lang="en-US" altLang="zh-TW" dirty="0"/>
              <a:t>(</a:t>
            </a:r>
            <a:r>
              <a:rPr kumimoji="1" lang="zh-TW" altLang="en-US" dirty="0"/>
              <a:t>動態探索</a:t>
            </a:r>
            <a:r>
              <a:rPr kumimoji="1" lang="en-US" altLang="zh-TW" dirty="0"/>
              <a:t>-</a:t>
            </a:r>
            <a:r>
              <a:rPr kumimoji="1" lang="en-US" altLang="zh-TW" dirty="0" err="1"/>
              <a:t>eda</a:t>
            </a:r>
            <a:r>
              <a:rPr kumimoji="1" lang="zh-TW" altLang="en-US" dirty="0"/>
              <a:t>框架</a:t>
            </a:r>
            <a:r>
              <a:rPr kumimoji="1" lang="en-US" altLang="zh-TW" dirty="0"/>
              <a:t>)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E116CB-283F-D83C-059B-52A756366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3096D40-F98A-9527-D149-465CF2E1E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2536243"/>
            <a:ext cx="7772400" cy="335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753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892A6-9E23-CC78-B0C0-2AE04483E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93CC961-31F5-7273-6AFD-543804DFC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2919"/>
            <a:ext cx="7729728" cy="1188720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Data Understanding</a:t>
            </a:r>
            <a:br>
              <a:rPr kumimoji="1" lang="en-US" altLang="zh-TW" dirty="0"/>
            </a:br>
            <a:r>
              <a:rPr kumimoji="1" lang="en-US" altLang="zh-TW" dirty="0"/>
              <a:t>(</a:t>
            </a:r>
            <a:r>
              <a:rPr kumimoji="1" lang="zh-TW" altLang="en-US" dirty="0"/>
              <a:t>動態探索</a:t>
            </a:r>
            <a:r>
              <a:rPr kumimoji="1" lang="en-US" altLang="zh-TW" dirty="0"/>
              <a:t>-</a:t>
            </a:r>
            <a:r>
              <a:rPr lang="zh-TW" altLang="zh-TW" dirty="0"/>
              <a:t>平台留存結構是什麼</a:t>
            </a:r>
            <a:r>
              <a:rPr lang="en-US" altLang="zh-TW" dirty="0"/>
              <a:t>?)</a:t>
            </a:r>
            <a:endParaRPr kumimoji="1"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44A0FE6-B690-89F1-F259-A0E0FA7A9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386FF55-6BF4-05CC-5499-E75177BCB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219" y="1652732"/>
            <a:ext cx="7289561" cy="467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84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BFAF0-94C2-85C8-8FF4-579950BEC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D53BF-EE1F-67FA-979A-808AA3DD7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Data Understanding</a:t>
            </a:r>
            <a:br>
              <a:rPr kumimoji="1" lang="en-US" altLang="zh-TW" dirty="0"/>
            </a:br>
            <a:r>
              <a:rPr kumimoji="1" lang="en-US" altLang="zh-TW" dirty="0"/>
              <a:t>(</a:t>
            </a:r>
            <a:r>
              <a:rPr kumimoji="1" lang="zh-TW" altLang="en-US" dirty="0"/>
              <a:t>動態探索</a:t>
            </a:r>
            <a:r>
              <a:rPr kumimoji="1" lang="en-US" altLang="zh-TW" dirty="0"/>
              <a:t>-</a:t>
            </a:r>
            <a:r>
              <a:rPr lang="zh-TW" altLang="zh-TW" dirty="0"/>
              <a:t>哪些因素跟二購有關？</a:t>
            </a:r>
            <a:r>
              <a:rPr lang="en-US" altLang="zh-TW" dirty="0"/>
              <a:t>)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AA7357C-F7A1-895B-5B33-DC997C26F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45B333A-29D7-6726-C95D-01E021978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464" y="2294441"/>
            <a:ext cx="7772400" cy="378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620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D3E0E4-C199-42F9-A7DE-03FBE0102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Data Preparation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22E1AC-205F-75DB-42B9-667A78429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826764"/>
            <a:ext cx="7729728" cy="610765"/>
          </a:xfrm>
        </p:spPr>
        <p:txBody>
          <a:bodyPr/>
          <a:lstStyle/>
          <a:p>
            <a:r>
              <a:rPr lang="zh-TW" altLang="zh-TW" dirty="0"/>
              <a:t>將原始多表資料整理成「首購顧客層級」資料集，用來</a:t>
            </a:r>
            <a:r>
              <a:rPr lang="zh-TW" altLang="en-US" dirty="0"/>
              <a:t>進行建模分析</a:t>
            </a:r>
            <a:endParaRPr lang="zh-TW" altLang="zh-TW" dirty="0"/>
          </a:p>
          <a:p>
            <a:pPr marL="0" indent="0">
              <a:buNone/>
            </a:pPr>
            <a:endParaRPr lang="zh-TW" altLang="zh-TW" dirty="0"/>
          </a:p>
          <a:p>
            <a:pPr marL="0" indent="0">
              <a:buNone/>
            </a:pP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48555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1F021-9080-CD0C-77A7-BC09120DF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B201A1-F08A-BE1D-097F-0EA062437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5" y="199017"/>
            <a:ext cx="7729728" cy="1188720"/>
          </a:xfrm>
        </p:spPr>
        <p:txBody>
          <a:bodyPr/>
          <a:lstStyle/>
          <a:p>
            <a:r>
              <a:rPr kumimoji="1" lang="en-US" altLang="zh-TW" dirty="0"/>
              <a:t>Data Preparation</a:t>
            </a:r>
            <a:br>
              <a:rPr kumimoji="1" lang="en-US" altLang="zh-TW" dirty="0"/>
            </a:br>
            <a:r>
              <a:rPr kumimoji="1" lang="en-US" altLang="zh-TW" dirty="0"/>
              <a:t>(</a:t>
            </a:r>
            <a:r>
              <a:rPr kumimoji="1" lang="zh-TW" altLang="en-US" dirty="0"/>
              <a:t>處理流程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33EFF6-96D3-6C2B-DBFE-99A3FA31E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4167" y="1538344"/>
            <a:ext cx="4285131" cy="5120639"/>
          </a:xfrm>
        </p:spPr>
        <p:txBody>
          <a:bodyPr>
            <a:noAutofit/>
          </a:bodyPr>
          <a:lstStyle/>
          <a:p>
            <a:r>
              <a:rPr lang="zh-TW" altLang="zh-TW" sz="1200" b="1" dirty="0"/>
              <a:t>先建立訂單層級資料</a:t>
            </a:r>
            <a:r>
              <a:rPr lang="zh-TW" altLang="zh-TW" sz="1200" dirty="0"/>
              <a:t> </a:t>
            </a:r>
          </a:p>
          <a:p>
            <a:pPr lvl="1"/>
            <a:r>
              <a:rPr lang="zh-TW" altLang="zh-TW" sz="1200" dirty="0"/>
              <a:t>整合訂單、顧客、評價、商品明細 </a:t>
            </a:r>
          </a:p>
          <a:p>
            <a:pPr lvl="1"/>
            <a:r>
              <a:rPr lang="zh-TW" altLang="zh-TW" sz="1200" dirty="0"/>
              <a:t>每一筆代表一張已完成訂單 </a:t>
            </a:r>
          </a:p>
          <a:p>
            <a:r>
              <a:rPr lang="zh-TW" altLang="zh-TW" sz="1200" b="1" dirty="0"/>
              <a:t>再建立購買事件資料</a:t>
            </a:r>
            <a:r>
              <a:rPr lang="zh-TW" altLang="zh-TW" sz="1200" dirty="0"/>
              <a:t> </a:t>
            </a:r>
          </a:p>
          <a:p>
            <a:pPr lvl="1"/>
            <a:r>
              <a:rPr lang="zh-TW" altLang="zh-TW" sz="1200" dirty="0"/>
              <a:t>合併同一顧客、同一時間的多筆訂單 </a:t>
            </a:r>
          </a:p>
          <a:p>
            <a:pPr lvl="1"/>
            <a:r>
              <a:rPr lang="zh-TW" altLang="zh-TW" sz="1200" dirty="0"/>
              <a:t>避免把同一次購買誤判成多次購買 </a:t>
            </a:r>
          </a:p>
          <a:p>
            <a:r>
              <a:rPr lang="zh-TW" altLang="zh-TW" sz="1200" b="1" dirty="0"/>
              <a:t>找出首購與二購</a:t>
            </a:r>
            <a:r>
              <a:rPr lang="zh-TW" altLang="zh-TW" sz="1200" dirty="0"/>
              <a:t> </a:t>
            </a:r>
          </a:p>
          <a:p>
            <a:pPr lvl="1"/>
            <a:r>
              <a:rPr lang="zh-TW" altLang="zh-TW" sz="1200" dirty="0"/>
              <a:t>每位顧客依購買時間排序 </a:t>
            </a:r>
          </a:p>
          <a:p>
            <a:pPr lvl="1"/>
            <a:r>
              <a:rPr lang="zh-TW" altLang="zh-TW" sz="1200" dirty="0"/>
              <a:t>第一次購買 = 首購 </a:t>
            </a:r>
          </a:p>
          <a:p>
            <a:pPr lvl="1"/>
            <a:r>
              <a:rPr lang="zh-TW" altLang="zh-TW" sz="1200" dirty="0"/>
              <a:t>第二次購買 = 二購 </a:t>
            </a:r>
          </a:p>
          <a:p>
            <a:r>
              <a:rPr lang="zh-TW" altLang="zh-TW" sz="1200" b="1" dirty="0"/>
              <a:t>建立 90 天二購標籤</a:t>
            </a:r>
            <a:r>
              <a:rPr lang="zh-TW" altLang="zh-TW" sz="1200" dirty="0"/>
              <a:t> </a:t>
            </a:r>
          </a:p>
          <a:p>
            <a:pPr lvl="1"/>
            <a:r>
              <a:rPr lang="zh-TW" altLang="zh-TW" sz="1200" dirty="0"/>
              <a:t>首購後 90 天內有二購：y = 1 </a:t>
            </a:r>
          </a:p>
          <a:p>
            <a:pPr lvl="1"/>
            <a:r>
              <a:rPr lang="zh-TW" altLang="zh-TW" sz="1200" dirty="0"/>
              <a:t>首購後 90 天內沒有二購：y = 0 </a:t>
            </a:r>
          </a:p>
          <a:p>
            <a:r>
              <a:rPr lang="zh-TW" altLang="zh-TW" sz="1200" b="1" dirty="0"/>
              <a:t>處理右截尾問題</a:t>
            </a:r>
            <a:r>
              <a:rPr lang="zh-TW" altLang="zh-TW" sz="1200" dirty="0"/>
              <a:t> </a:t>
            </a:r>
          </a:p>
          <a:p>
            <a:pPr lvl="1"/>
            <a:r>
              <a:rPr lang="zh-TW" altLang="zh-TW" sz="1200" dirty="0"/>
              <a:t>只保留有完整 90 天觀察期的首購顧客 </a:t>
            </a:r>
          </a:p>
          <a:p>
            <a:pPr lvl="1"/>
            <a:r>
              <a:rPr lang="zh-TW" altLang="zh-TW" sz="1200" dirty="0"/>
              <a:t>避免把「還沒觀察滿 90 天」的顧客誤判為未二購 </a:t>
            </a:r>
          </a:p>
          <a:p>
            <a:pPr marL="0" indent="0">
              <a:buNone/>
            </a:pP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74200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43CBC9-20DC-21F6-60C7-B62E68F56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298179"/>
            <a:ext cx="7729728" cy="1188720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Modeling</a:t>
            </a:r>
            <a:br>
              <a:rPr kumimoji="1" lang="en-US" altLang="zh-TW" dirty="0"/>
            </a:br>
            <a:r>
              <a:rPr kumimoji="1" lang="en-US" altLang="zh-TW" dirty="0"/>
              <a:t>(</a:t>
            </a:r>
            <a:r>
              <a:rPr kumimoji="1" lang="zh-TW" altLang="en-US" dirty="0"/>
              <a:t>建模目的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0F92D2-873C-FC6E-AA16-598BECE0E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218957"/>
            <a:ext cx="7729728" cy="1912441"/>
          </a:xfrm>
        </p:spPr>
        <p:txBody>
          <a:bodyPr/>
          <a:lstStyle/>
          <a:p>
            <a:r>
              <a:rPr lang="zh-TW" altLang="zh-TW" dirty="0"/>
              <a:t>本階段建立 </a:t>
            </a:r>
            <a:r>
              <a:rPr lang="zh-TW" altLang="zh-TW" b="1" dirty="0"/>
              <a:t>90 天二購傾向模型</a:t>
            </a:r>
            <a:r>
              <a:rPr lang="zh-TW" altLang="zh-TW" dirty="0"/>
              <a:t>，目的是預測首購顧客在 90 天內是否可能再次購買。</a:t>
            </a:r>
          </a:p>
          <a:p>
            <a:r>
              <a:rPr lang="zh-TW" altLang="zh-TW" dirty="0"/>
              <a:t>模型的商業用途不是精準判斷「誰一定會二購」，而是：</a:t>
            </a:r>
          </a:p>
          <a:p>
            <a:r>
              <a:rPr lang="zh-TW" altLang="zh-TW" dirty="0"/>
              <a:t>將顧客依二購機率排序，找出較高二購潛力的首購顧客，作為再行銷名單依據。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34814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3EF6A-4F3F-5038-8F71-01D60ABF5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B5B80A-7A19-F9F1-FC79-4B6AB6B17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Modeling</a:t>
            </a:r>
            <a:br>
              <a:rPr kumimoji="1" lang="en-US" altLang="zh-TW" dirty="0"/>
            </a:br>
            <a:r>
              <a:rPr kumimoji="1" lang="en-US" altLang="zh-TW" dirty="0"/>
              <a:t>(</a:t>
            </a:r>
            <a:r>
              <a:rPr kumimoji="1" lang="zh-TW" altLang="en-US" dirty="0"/>
              <a:t>結果總結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2F2176-0ADB-F826-0823-3B6894CAD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811376"/>
            <a:ext cx="7729728" cy="3192601"/>
          </a:xfrm>
        </p:spPr>
        <p:txBody>
          <a:bodyPr>
            <a:normAutofit lnSpcReduction="10000"/>
          </a:bodyPr>
          <a:lstStyle/>
          <a:p>
            <a:r>
              <a:rPr lang="zh-TW" altLang="zh-TW" dirty="0"/>
              <a:t>本專案使用 </a:t>
            </a:r>
            <a:r>
              <a:rPr lang="zh-TW" altLang="zh-TW" b="1" dirty="0"/>
              <a:t>Logistic Regression</a:t>
            </a:r>
            <a:r>
              <a:rPr lang="zh-TW" altLang="zh-TW" dirty="0"/>
              <a:t> 作為 V1 模型，並採用時間切分方式進行訓練與測試，避免資料洩漏。</a:t>
            </a:r>
          </a:p>
          <a:p>
            <a:r>
              <a:rPr lang="zh-TW" altLang="zh-TW" dirty="0"/>
              <a:t>主要結果：</a:t>
            </a:r>
          </a:p>
          <a:p>
            <a:r>
              <a:rPr lang="zh-TW" altLang="zh-TW" dirty="0"/>
              <a:t>整體二購率：約 </a:t>
            </a:r>
            <a:r>
              <a:rPr lang="zh-TW" altLang="zh-TW" b="1" dirty="0"/>
              <a:t>1.6%</a:t>
            </a:r>
            <a:r>
              <a:rPr lang="zh-TW" altLang="zh-TW" dirty="0"/>
              <a:t> </a:t>
            </a:r>
          </a:p>
          <a:p>
            <a:r>
              <a:rPr lang="zh-TW" altLang="zh-TW" dirty="0"/>
              <a:t>ROC-AUC：約 </a:t>
            </a:r>
            <a:r>
              <a:rPr lang="zh-TW" altLang="zh-TW" b="1" dirty="0"/>
              <a:t>0.56</a:t>
            </a:r>
            <a:r>
              <a:rPr lang="zh-TW" altLang="zh-TW" dirty="0"/>
              <a:t> </a:t>
            </a:r>
          </a:p>
          <a:p>
            <a:r>
              <a:rPr lang="zh-TW" altLang="zh-TW" dirty="0"/>
              <a:t>PR-AUC：約 </a:t>
            </a:r>
            <a:r>
              <a:rPr lang="zh-TW" altLang="zh-TW" b="1" dirty="0"/>
              <a:t>0.02</a:t>
            </a:r>
            <a:r>
              <a:rPr lang="zh-TW" altLang="zh-TW" dirty="0"/>
              <a:t> </a:t>
            </a:r>
          </a:p>
          <a:p>
            <a:r>
              <a:rPr lang="zh-TW" altLang="zh-TW" dirty="0"/>
              <a:t>Top 10% Lift：約 </a:t>
            </a:r>
            <a:r>
              <a:rPr lang="zh-TW" altLang="zh-TW" b="1" dirty="0"/>
              <a:t>1.51</a:t>
            </a:r>
            <a:r>
              <a:rPr lang="zh-TW" altLang="zh-TW" dirty="0"/>
              <a:t> </a:t>
            </a:r>
          </a:p>
          <a:p>
            <a:br>
              <a:rPr lang="zh-TW" altLang="zh-TW" dirty="0"/>
            </a:br>
            <a:endParaRPr lang="zh-TW" altLang="zh-TW" dirty="0"/>
          </a:p>
        </p:txBody>
      </p:sp>
    </p:spTree>
    <p:extLst>
      <p:ext uri="{BB962C8B-B14F-4D97-AF65-F5344CB8AC3E}">
        <p14:creationId xmlns:p14="http://schemas.microsoft.com/office/powerpoint/2010/main" val="2092200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1EA961-2308-9ABE-4BA6-EDDC853FE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Evaluation</a:t>
            </a:r>
            <a:br>
              <a:rPr kumimoji="1" lang="en-US" altLang="zh-TW" dirty="0"/>
            </a:br>
            <a:r>
              <a:rPr kumimoji="1" lang="en-US" altLang="zh-TW" dirty="0"/>
              <a:t>(</a:t>
            </a:r>
            <a:r>
              <a:rPr kumimoji="1" lang="zh-TW" altLang="en-US" dirty="0"/>
              <a:t>評估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487389-27D6-EE93-E14D-7183347CF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TW" altLang="zh-TW" dirty="0"/>
              <a:t>本階段不是只看模型分數，而是判斷模型是否能支援商業決策。</a:t>
            </a:r>
            <a:endParaRPr lang="en-US" altLang="zh-TW" dirty="0"/>
          </a:p>
          <a:p>
            <a:r>
              <a:rPr lang="zh-TW" altLang="zh-TW" b="1" dirty="0"/>
              <a:t>評估結果</a:t>
            </a:r>
          </a:p>
          <a:p>
            <a:r>
              <a:rPr lang="zh-TW" altLang="zh-TW" dirty="0"/>
              <a:t>測試集二購率僅 </a:t>
            </a:r>
            <a:r>
              <a:rPr lang="zh-TW" altLang="zh-TW" b="1" dirty="0"/>
              <a:t>1.59%</a:t>
            </a:r>
            <a:r>
              <a:rPr lang="zh-TW" altLang="zh-TW" dirty="0"/>
              <a:t> </a:t>
            </a:r>
          </a:p>
          <a:p>
            <a:r>
              <a:rPr lang="zh-TW" altLang="zh-TW" dirty="0"/>
              <a:t>ROC-AUC 約 </a:t>
            </a:r>
            <a:r>
              <a:rPr lang="zh-TW" altLang="zh-TW" b="1" dirty="0"/>
              <a:t>0.56</a:t>
            </a:r>
            <a:r>
              <a:rPr lang="zh-TW" altLang="zh-TW" dirty="0"/>
              <a:t> </a:t>
            </a:r>
          </a:p>
          <a:p>
            <a:r>
              <a:rPr lang="zh-TW" altLang="zh-TW" dirty="0"/>
              <a:t>PR-AUC 約 </a:t>
            </a:r>
            <a:r>
              <a:rPr lang="zh-TW" altLang="zh-TW" b="1" dirty="0"/>
              <a:t>0.02</a:t>
            </a:r>
            <a:r>
              <a:rPr lang="zh-TW" altLang="zh-TW" dirty="0"/>
              <a:t> </a:t>
            </a:r>
          </a:p>
          <a:p>
            <a:r>
              <a:rPr lang="zh-TW" altLang="zh-TW" dirty="0"/>
              <a:t>Top 10% Lift = </a:t>
            </a:r>
            <a:r>
              <a:rPr lang="zh-TW" altLang="zh-TW" b="1" dirty="0"/>
              <a:t>1.51</a:t>
            </a:r>
            <a:r>
              <a:rPr lang="zh-TW" altLang="zh-TW" dirty="0"/>
              <a:t> </a:t>
            </a:r>
          </a:p>
          <a:p>
            <a:r>
              <a:rPr lang="zh-TW" altLang="zh-TW" dirty="0"/>
              <a:t>代表模型整體預測能力有限，但仍能把較可能二購的顧客排到名單前段。</a:t>
            </a:r>
          </a:p>
          <a:p>
            <a:pPr marL="0" indent="0">
              <a:buNone/>
            </a:pP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15158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2BBED-32F3-27A5-25CB-1E98E815D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3B1B08-1AF8-A7CA-E8E6-321561A6B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Evaluation</a:t>
            </a:r>
            <a:br>
              <a:rPr kumimoji="1" lang="en-US" altLang="zh-TW" dirty="0"/>
            </a:br>
            <a:r>
              <a:rPr kumimoji="1" lang="en-US" altLang="zh-TW" dirty="0"/>
              <a:t>(</a:t>
            </a:r>
            <a:r>
              <a:rPr kumimoji="1" lang="zh-TW" altLang="en-US" dirty="0"/>
              <a:t>商業解讀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5BA1D3-4A28-3113-76B6-D9D9BD4D5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089866"/>
            <a:ext cx="7729728" cy="1944714"/>
          </a:xfrm>
        </p:spPr>
        <p:txBody>
          <a:bodyPr/>
          <a:lstStyle/>
          <a:p>
            <a:r>
              <a:rPr lang="zh-TW" altLang="zh-TW" dirty="0"/>
              <a:t>模型目前不適合直接自動化判斷顧客是否會二購。</a:t>
            </a:r>
          </a:p>
          <a:p>
            <a:r>
              <a:rPr lang="zh-TW" altLang="zh-TW" dirty="0"/>
              <a:t>但可以作為：</a:t>
            </a:r>
          </a:p>
          <a:p>
            <a:r>
              <a:rPr lang="zh-TW" altLang="zh-TW" b="1" dirty="0"/>
              <a:t>高二購潛力顧客名單篩選工具</a:t>
            </a:r>
            <a:endParaRPr lang="zh-TW" altLang="zh-TW" dirty="0"/>
          </a:p>
          <a:p>
            <a:r>
              <a:rPr lang="zh-TW" altLang="zh-TW" dirty="0"/>
              <a:t>也就是幫助平台在有限行銷資源下，優先觸達較有機會二購的首購顧客。</a:t>
            </a:r>
          </a:p>
        </p:txBody>
      </p:sp>
    </p:spTree>
    <p:extLst>
      <p:ext uri="{BB962C8B-B14F-4D97-AF65-F5344CB8AC3E}">
        <p14:creationId xmlns:p14="http://schemas.microsoft.com/office/powerpoint/2010/main" val="20826901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9F7F5A-BE2B-9E5C-7D83-9F7FAE4A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Deployment</a:t>
            </a:r>
            <a:br>
              <a:rPr kumimoji="1" lang="en-US" altLang="zh-TW" dirty="0"/>
            </a:br>
            <a:r>
              <a:rPr kumimoji="1" lang="zh-TW" altLang="en-US" dirty="0"/>
              <a:t>（核心結論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BA120E-2A45-B501-A52E-00A0002B0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057593"/>
            <a:ext cx="7729728" cy="2245928"/>
          </a:xfrm>
        </p:spPr>
        <p:txBody>
          <a:bodyPr/>
          <a:lstStyle/>
          <a:p>
            <a:pPr marL="0" indent="0">
              <a:buNone/>
            </a:pPr>
            <a:r>
              <a:rPr lang="zh-TW" altLang="zh-TW" dirty="0"/>
              <a:t>Olist 平台二購率極低，模型雖然預測能力有限，但仍能將較高二購潛力顧客集中於名單前段。V1 階段最合理的商業應用不是自動化判斷顧客是否二購，而是作為再行銷名單篩選工具，透過小規模 A/B Test 驗證是否能提升二購率與ROI。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6261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4B7C-38F5-2911-290A-6BAE28D6E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5E0237-30BC-5AB4-C248-33DE92BF5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Deployment</a:t>
            </a:r>
            <a:br>
              <a:rPr kumimoji="1" lang="en-US" altLang="zh-TW" dirty="0"/>
            </a:br>
            <a:r>
              <a:rPr kumimoji="1" lang="zh-TW" altLang="en-US" dirty="0"/>
              <a:t>（行銷決策總結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1126FF-B1B7-D99D-16D2-1EE22B543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057593"/>
            <a:ext cx="7729728" cy="2245928"/>
          </a:xfrm>
        </p:spPr>
        <p:txBody>
          <a:bodyPr/>
          <a:lstStyle/>
          <a:p>
            <a:pPr marL="0" indent="0">
              <a:buNone/>
            </a:pPr>
            <a:r>
              <a:rPr lang="zh-TW" altLang="zh-TW" dirty="0"/>
              <a:t>根據目前分析，平台的核心問題不是沒有訂單增長，而是訂單沒有有效轉化成留存。整體二購率僅2.4%。首購後90天內二購率1.48%。且雖然模型預測能力不強，但Top10% 名單仍有1.51倍lift。因此v1的定位是建立首購後轉化二購機制，用模型輔助挑選高潛力顧客，並透過小規模A/B Test驗證行銷策略，而不是直接大規模部署。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737773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CCA4D-892E-3D7A-70A6-CBF68E3D1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5C55D2-8EA0-DC0D-4AB7-963F93B9A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889" y="566659"/>
            <a:ext cx="9574306" cy="1188720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Deployment</a:t>
            </a:r>
            <a:br>
              <a:rPr kumimoji="1" lang="en-US" altLang="zh-TW" dirty="0"/>
            </a:br>
            <a:r>
              <a:rPr kumimoji="1" lang="zh-TW" altLang="en-US" dirty="0"/>
              <a:t>（商業決策</a:t>
            </a:r>
            <a:r>
              <a:rPr kumimoji="1" lang="en-US" altLang="zh-TW" dirty="0"/>
              <a:t>(</a:t>
            </a:r>
            <a:r>
              <a:rPr kumimoji="1" lang="zh-TW" altLang="en-US" dirty="0"/>
              <a:t>一</a:t>
            </a:r>
            <a:r>
              <a:rPr kumimoji="1" lang="en-US" altLang="zh-TW" dirty="0"/>
              <a:t>)</a:t>
            </a:r>
            <a:r>
              <a:rPr kumimoji="1" lang="zh-TW" altLang="en-US" dirty="0"/>
              <a:t>：</a:t>
            </a:r>
            <a:r>
              <a:rPr lang="zh-TW" altLang="zh-TW" dirty="0"/>
              <a:t>將首購後90天內的二購率設為核心留存KPI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4CEF01-F9B3-90A1-473B-87CCCAE85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990165"/>
            <a:ext cx="7729728" cy="3313356"/>
          </a:xfrm>
        </p:spPr>
        <p:txBody>
          <a:bodyPr/>
          <a:lstStyle/>
          <a:p>
            <a:pPr marL="0" indent="0">
              <a:buNone/>
            </a:pPr>
            <a:r>
              <a:rPr lang="zh-TW" altLang="zh-TW" dirty="0"/>
              <a:t>平台應該將經營種點從單存追求訂單增長轉向提高首購顧客90天內二購率，並且以每月首購 cohort 追蹤二購轉化表現。</a:t>
            </a:r>
            <a:endParaRPr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lang="zh-TW" altLang="zh-TW" dirty="0"/>
              <a:t>建立每月首購cohort 監控表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14FECFD-F9E2-6848-830A-8B0D29B79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136" y="3429000"/>
            <a:ext cx="2910691" cy="222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1295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C66B1-B62F-591D-6452-800E2C170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E17081-C087-FE71-4D4D-75A84E14C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889" y="566659"/>
            <a:ext cx="9574306" cy="1188720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Deployment</a:t>
            </a:r>
            <a:br>
              <a:rPr kumimoji="1" lang="en-US" altLang="zh-TW" dirty="0"/>
            </a:br>
            <a:r>
              <a:rPr kumimoji="1" lang="zh-TW" altLang="en-US" dirty="0"/>
              <a:t>（</a:t>
            </a:r>
            <a:r>
              <a:rPr lang="zh-TW" altLang="zh-TW" dirty="0"/>
              <a:t>商業決策(二): 使用模型Top10%做小規模再行銷測試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4FE51A-27BA-BB3C-175B-DDC898111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990165"/>
            <a:ext cx="7729728" cy="3313356"/>
          </a:xfrm>
        </p:spPr>
        <p:txBody>
          <a:bodyPr/>
          <a:lstStyle/>
          <a:p>
            <a:pPr marL="0" indent="0">
              <a:buNone/>
            </a:pPr>
            <a:r>
              <a:rPr lang="zh-TW" altLang="zh-TW" dirty="0"/>
              <a:t>每月月底建立「本月首購且截至評分日尚未二購」的候選顧客池，使用二購模型對這批顧客進行二購潛力排序，取分數最高的 Top 10% 作為高潛力名單，作為再行銷與A/B test 測試對象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569C145-65F8-4214-F698-8EC606B33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464" y="3091225"/>
            <a:ext cx="7772400" cy="244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402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514A2-E0D6-33D6-600A-D6D1BCAFB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44D350-4EA5-06B1-6D4F-5F374DE20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889" y="566659"/>
            <a:ext cx="9574306" cy="1188720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Deployment</a:t>
            </a:r>
            <a:br>
              <a:rPr kumimoji="1" lang="en-US" altLang="zh-TW" dirty="0"/>
            </a:br>
            <a:r>
              <a:rPr kumimoji="1" lang="zh-TW" altLang="en-US" dirty="0"/>
              <a:t>（</a:t>
            </a:r>
            <a:r>
              <a:rPr lang="zh-TW" altLang="zh-TW" dirty="0"/>
              <a:t>商業決策 (三): 優先經營「首購商品件數較多」的顧客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E49986-630F-4856-DE3A-FD8607B48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990165"/>
            <a:ext cx="7729728" cy="3313356"/>
          </a:xfrm>
        </p:spPr>
        <p:txBody>
          <a:bodyPr/>
          <a:lstStyle/>
          <a:p>
            <a:pPr marL="0" indent="0">
              <a:buNone/>
            </a:pPr>
            <a:r>
              <a:rPr lang="zh-TW" altLang="zh-TW" dirty="0"/>
              <a:t>平台應將首購商品件數較多的顧客視為高二購潛力族群，優先進行銷售。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1132DF2-E88F-857D-D130-D6F1D1DCD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715" y="2710852"/>
            <a:ext cx="3390900" cy="21463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DC567EB-ED96-8BEB-BC15-47E7959E7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688" y="2939604"/>
            <a:ext cx="6562314" cy="1842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422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7B7D5-75D0-847E-7DE2-0E053E1C8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076FCB-0731-5277-6E14-31D71A141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567429"/>
            <a:ext cx="11155680" cy="1188720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Deployment</a:t>
            </a:r>
            <a:br>
              <a:rPr kumimoji="1" lang="en-US" altLang="zh-TW" dirty="0"/>
            </a:br>
            <a:r>
              <a:rPr kumimoji="1" lang="zh-TW" altLang="en-US" dirty="0"/>
              <a:t>（</a:t>
            </a:r>
            <a:r>
              <a:rPr lang="zh-TW" altLang="zh-TW" dirty="0"/>
              <a:t>商業決策(四): 針對低評分且長配送時間的顧客建立服務補救機制。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9674C3-1FA7-4323-CF56-BCA9C904F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990165"/>
            <a:ext cx="7729728" cy="3313356"/>
          </a:xfrm>
        </p:spPr>
        <p:txBody>
          <a:bodyPr/>
          <a:lstStyle/>
          <a:p>
            <a:pPr marL="0" indent="0">
              <a:buNone/>
            </a:pPr>
            <a:r>
              <a:rPr lang="zh-TW" altLang="zh-TW" dirty="0"/>
              <a:t>平台應針對首購後出現「低評分且配送時間較長」的顧客建立補償機制，例如發送道歉訊息、免運券或小額回購券，以修復首購體驗不佳造成的信任損失，並降低顧客首購後直接流失的機率。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6750945-1E6A-1AB5-C607-80A6285FD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3807" y="3100520"/>
            <a:ext cx="5944303" cy="319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4678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1EE61-82C0-4A5D-C086-C198C0155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FC698B-51B1-2447-BC40-323EC9740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567429"/>
            <a:ext cx="11155680" cy="1188720"/>
          </a:xfrm>
        </p:spPr>
        <p:txBody>
          <a:bodyPr>
            <a:normAutofit fontScale="90000"/>
          </a:bodyPr>
          <a:lstStyle/>
          <a:p>
            <a:r>
              <a:rPr kumimoji="1" lang="en-US" altLang="zh-TW" dirty="0"/>
              <a:t>Deployment</a:t>
            </a:r>
            <a:br>
              <a:rPr kumimoji="1" lang="en-US" altLang="zh-TW" dirty="0"/>
            </a:br>
            <a:r>
              <a:rPr kumimoji="1" lang="zh-TW" altLang="en-US" dirty="0"/>
              <a:t>（</a:t>
            </a:r>
            <a:r>
              <a:rPr lang="zh-TW" altLang="zh-TW" dirty="0"/>
              <a:t>商業決策(四): 針對低評分且長配送時間的顧客建立服務補救機制。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407A033-8E14-056D-B1F1-B439A1752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0155" y="2822480"/>
            <a:ext cx="5971689" cy="227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0968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43D84-291B-BD50-6BAD-91B15DF44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CD6A25-E1AC-3CA8-12D8-4A0EEF609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567429"/>
            <a:ext cx="11155680" cy="1188720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Deployment</a:t>
            </a:r>
            <a:br>
              <a:rPr kumimoji="1" lang="en-US" altLang="zh-TW" dirty="0"/>
            </a:br>
            <a:r>
              <a:rPr lang="zh-TW" altLang="zh-TW" dirty="0"/>
              <a:t>商業決策(五):針對 ES、MT、SP 進行州別分層再行銷</a:t>
            </a:r>
            <a:endParaRPr kumimoji="1"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2DFDEAF-48F6-BDB5-C0D8-5F35038C14B9}"/>
              </a:ext>
            </a:extLst>
          </p:cNvPr>
          <p:cNvSpPr txBox="1"/>
          <p:nvPr/>
        </p:nvSpPr>
        <p:spPr>
          <a:xfrm>
            <a:off x="1387736" y="2065468"/>
            <a:ext cx="9940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/>
              <a:t>平台可將 ES、MT、SP 作為二購再行銷的優先測試州別，但不同州別採取不同強度的策略：</a:t>
            </a:r>
            <a:endParaRPr lang="en-US" altLang="zh-TW" dirty="0"/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80FA3A5-DABE-B56D-FC2F-9D49867BC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600756"/>
            <a:ext cx="7772400" cy="324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2937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D68C6-76D0-5459-B30D-2F6C871D2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5A856D-DE0A-CDCB-5E81-83E477A21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567429"/>
            <a:ext cx="11155680" cy="1188720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Deployment</a:t>
            </a:r>
            <a:br>
              <a:rPr kumimoji="1" lang="en-US" altLang="zh-TW" dirty="0"/>
            </a:br>
            <a:r>
              <a:rPr lang="zh-TW" altLang="zh-TW" dirty="0"/>
              <a:t>商業決策(五):針對 ES、MT、SP 進行州別分層再行銷</a:t>
            </a:r>
            <a:endParaRPr kumimoji="1"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3CD9ADD-5D79-32ED-C226-99B7C08F3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773766"/>
            <a:ext cx="7772400" cy="193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0946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24D47-3219-AD42-C10D-9294C85F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7084C7-A98F-49B6-1E0B-057DCBDFA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567429"/>
            <a:ext cx="11155680" cy="1188720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Deployment</a:t>
            </a:r>
            <a:br>
              <a:rPr kumimoji="1" lang="en-US" altLang="zh-TW" dirty="0"/>
            </a:br>
            <a:r>
              <a:rPr lang="zh-TW" altLang="zh-TW" dirty="0"/>
              <a:t>商業決策(六): 後續資料蒐集行銷與商品行為特徵優化模型指標</a:t>
            </a:r>
            <a:endParaRPr kumimoji="1"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CD744FA-4F5F-AA75-625E-621D36445388}"/>
              </a:ext>
            </a:extLst>
          </p:cNvPr>
          <p:cNvSpPr txBox="1"/>
          <p:nvPr/>
        </p:nvSpPr>
        <p:spPr>
          <a:xfrm>
            <a:off x="518160" y="1893346"/>
            <a:ext cx="11155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/>
              <a:t>若平台要讓二購模型從「初步排序工具」提升為更可靠的決策系統，後續應補充行銷曝光、商品偏好、瀏覽行為與促銷互動資料。</a:t>
            </a:r>
            <a:endParaRPr lang="en-US" altLang="zh-TW" dirty="0"/>
          </a:p>
          <a:p>
            <a:r>
              <a:rPr lang="zh-TW" altLang="zh-TW" dirty="0"/>
              <a:t>目前模型主要使用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F712CA0-B4C6-4BA4-09E3-F81970A8A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" y="2816676"/>
            <a:ext cx="4020858" cy="159732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334060F-D83C-E58B-FB5A-C5CC43BFE585}"/>
              </a:ext>
            </a:extLst>
          </p:cNvPr>
          <p:cNvSpPr txBox="1"/>
          <p:nvPr/>
        </p:nvSpPr>
        <p:spPr>
          <a:xfrm>
            <a:off x="518160" y="4745915"/>
            <a:ext cx="11155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/>
              <a:t>這些特徵有商業解釋性，但訊號有限，所以 ROC-AUC 僅約 0.56，PR-AUC 約 0.02。這代表目前資料只能捕捉一部分二購差異。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902263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1EF2B-517A-C6C8-8F5D-9B481D0E6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66E5A4-33AC-B296-DB04-4952AA70F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567429"/>
            <a:ext cx="11155680" cy="1188720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Deployment</a:t>
            </a:r>
            <a:br>
              <a:rPr kumimoji="1" lang="en-US" altLang="zh-TW" dirty="0"/>
            </a:br>
            <a:r>
              <a:rPr lang="zh-TW" altLang="zh-TW" dirty="0"/>
              <a:t>商業決策(六): 後續資料蒐集行銷與商品行為特徵優化模型指標</a:t>
            </a:r>
            <a:endParaRPr kumimoji="1"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6325924-A850-4EFE-BD9B-57867C003E9A}"/>
              </a:ext>
            </a:extLst>
          </p:cNvPr>
          <p:cNvSpPr txBox="1"/>
          <p:nvPr/>
        </p:nvSpPr>
        <p:spPr>
          <a:xfrm>
            <a:off x="518160" y="1893346"/>
            <a:ext cx="1115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/>
              <a:t>二購行為通常還會受到以下因素影響：</a:t>
            </a:r>
            <a:endParaRPr kumimoji="1"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35A5B63-2B11-58CA-6AE3-CD92417F5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910" y="2262678"/>
            <a:ext cx="7772400" cy="385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029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70733-96C7-B5DF-F238-C767A14BF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C67468-D52F-00EB-551E-8D07DD189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567429"/>
            <a:ext cx="11155680" cy="1188720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Deployment</a:t>
            </a:r>
            <a:br>
              <a:rPr kumimoji="1" lang="en-US" altLang="zh-TW" dirty="0"/>
            </a:br>
            <a:r>
              <a:rPr lang="zh-TW" altLang="zh-TW" dirty="0"/>
              <a:t>商業決策(六): 後續資料蒐集行銷與商品行為特徵優化模型指標</a:t>
            </a:r>
            <a:endParaRPr kumimoji="1"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3A39C8C-1AEC-BF49-8DB6-AFBD6E0AFDD7}"/>
              </a:ext>
            </a:extLst>
          </p:cNvPr>
          <p:cNvSpPr txBox="1"/>
          <p:nvPr/>
        </p:nvSpPr>
        <p:spPr>
          <a:xfrm>
            <a:off x="518160" y="2452743"/>
            <a:ext cx="1115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預期</a:t>
            </a:r>
            <a:r>
              <a:rPr kumimoji="1" lang="en-US" altLang="zh-TW" dirty="0"/>
              <a:t>KPI: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920B23A-BB3B-B837-A817-54F450EC8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" y="3023818"/>
            <a:ext cx="57658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4028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02F29-7663-5688-D1FB-072B25359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B28C01-F5AD-E58E-87AC-D5F8C2A8F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567429"/>
            <a:ext cx="11155680" cy="1188720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Deployment</a:t>
            </a:r>
            <a:br>
              <a:rPr kumimoji="1" lang="en-US" altLang="zh-TW" dirty="0"/>
            </a:br>
            <a:r>
              <a:rPr kumimoji="1" lang="en-US" altLang="zh-TW" dirty="0"/>
              <a:t>(</a:t>
            </a:r>
            <a:r>
              <a:rPr kumimoji="1" lang="zh-TW" altLang="en-US" dirty="0"/>
              <a:t>總結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F4DEA19-F647-196D-9EFD-941F9CE33A92}"/>
              </a:ext>
            </a:extLst>
          </p:cNvPr>
          <p:cNvSpPr txBox="1"/>
          <p:nvPr/>
        </p:nvSpPr>
        <p:spPr>
          <a:xfrm>
            <a:off x="1906792" y="2919870"/>
            <a:ext cx="83784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/>
              <a:t>Olist 平台顧客購買行為高度集中於一次性交易，首購後 90 天內二購率僅約 1.48%，顯示平台留存結構偏弱。雖然目前二購模型的整體預測能力有限，但模型 Top 10% 名單的二購率高於整體平均，Top 10% Lift 達 1.51，代表模型具備初步排序價值。因此，V1 階段最合理的商業應用不是自動化判斷顧客是否會二購，而是作為再行銷名單篩選工具，協助平台在有限行銷資源下優先觸達高潛力首購顧客，並透過小規模 A/B Test 驗證是否能提升二購率與 ROI。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003694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C06B49-A271-F9BC-08DE-467554A6C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心得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1E6375-66BC-3A7C-58D0-B926F7396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4020940"/>
          </a:xfrm>
        </p:spPr>
        <p:txBody>
          <a:bodyPr>
            <a:normAutofit/>
          </a:bodyPr>
          <a:lstStyle/>
          <a:p>
            <a:r>
              <a:rPr lang="zh-TW" altLang="zh-TW" sz="1200" dirty="0"/>
              <a:t>這次電商數據分析專案是我第一次比較完整地實作資料科學專案，從一開始的業務問題理解、資料理解、資料準備、指標計算、模型建立，到最後嘗試轉化成商業決策建議，讓我更深刻體會到資料分析不只是寫程式或畫圖，而是要把資料、邏輯、商業問題與決策場景串在一起。</a:t>
            </a:r>
          </a:p>
          <a:p>
            <a:r>
              <a:rPr lang="zh-TW" altLang="zh-TW" sz="1200" dirty="0"/>
              <a:t>在實作過程中，我最大的感受是：</a:t>
            </a:r>
            <a:r>
              <a:rPr lang="zh-TW" altLang="zh-TW" sz="1200" b="1" dirty="0"/>
              <a:t>指標計算必須非常符合邏輯</a:t>
            </a:r>
            <a:r>
              <a:rPr lang="zh-TW" altLang="zh-TW" sz="1200" dirty="0"/>
              <a:t>。例如二購率、90 天內二購、gap、cohort、右截尾等概念，看起來只是簡單的比例或時間差，但實際計算時需要非常謹慎。如果分母、分子、觀察期間或分析粒度定義錯誤，最後得到的結論就可能完全失真。因此這次專案讓我理解到，資料分析真正困難的地方不只是技術，而是如何把商業問題轉換成嚴謹、可驗證的資料口徑。</a:t>
            </a:r>
          </a:p>
          <a:p>
            <a:r>
              <a:rPr lang="zh-TW" altLang="zh-TW" sz="1200" dirty="0"/>
              <a:t>另外，我也發現自己在統計知識與機器學習演算法上的基礎還不夠扎實。雖然目前可以完成基本的資料處理、EDA 與模型建構，但在解釋模型結果、評估模型指標、判斷變數關聯，以及理解模型限制時，仍然感受到自己的不足。這讓我意識到，不能只會使用工具，而是需要進一步補強統計推論、機器學習原理、模型評估與商業解釋能力。</a:t>
            </a:r>
          </a:p>
          <a:p>
            <a:r>
              <a:rPr lang="zh-TW" altLang="zh-TW" sz="1200" dirty="0"/>
              <a:t>整體來說，這次專案讓我從「學習資料分析技能」進一步走向「用資料解決商業問題」。我不只是完成了一個分析作業，而是實際經歷了一個從問題定義到決策輸出的完整流程。這讓我更清楚資料科學專案的核心價值：不是單純追求模型分數，而是要讓分析結果能夠支援決策、產生商業價值。未來我會持續強化統計、機器學習與商業分析能力，讓自己的分析不只停留在技術層面，而是能更有效地連結到實際問題與決策應用。</a:t>
            </a:r>
          </a:p>
          <a:p>
            <a:pPr marL="0" indent="0">
              <a:buNone/>
            </a:pP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091220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ADDA1-98CA-B6F4-94EA-EA1215D8D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A729B4-45B3-F691-994B-06CE76D4E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7982" y="184534"/>
            <a:ext cx="5396036" cy="696771"/>
          </a:xfrm>
        </p:spPr>
        <p:txBody>
          <a:bodyPr>
            <a:normAutofit fontScale="90000"/>
          </a:bodyPr>
          <a:lstStyle/>
          <a:p>
            <a:r>
              <a:rPr kumimoji="1" lang="zh-TW" altLang="en-US" dirty="0"/>
              <a:t>謝謝大家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4497E87-53F0-8BC6-19FC-901B36017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7174" name="Picture 6" descr="HelloWorld(“print”) code with a horizontally stretched image of a gorilla thinking below it">
            <a:extLst>
              <a:ext uri="{FF2B5EF4-FFF2-40B4-BE49-F238E27FC236}">
                <a16:creationId xmlns:a16="http://schemas.microsoft.com/office/drawing/2014/main" id="{DE75E9FD-8C97-857F-DE8D-1234DCFB4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4054" y="1538890"/>
            <a:ext cx="4863891" cy="4963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6826205"/>
      </p:ext>
    </p:extLst>
  </p:cSld>
  <p:clrMapOvr>
    <a:masterClrMapping/>
  </p:clrMapOvr>
</p:sld>
</file>

<file path=ppt/theme/theme1.xml><?xml version="1.0" encoding="utf-8"?>
<a:theme xmlns:a="http://schemas.openxmlformats.org/drawingml/2006/main" name="包裹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包裹</Template>
  <TotalTime>2820</TotalTime>
  <Words>2294</Words>
  <Application>Microsoft Macintosh PowerPoint</Application>
  <PresentationFormat>寬螢幕</PresentationFormat>
  <Paragraphs>129</Paragraphs>
  <Slides>35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39" baseType="lpstr">
      <vt:lpstr>Aptos</vt:lpstr>
      <vt:lpstr>Arial</vt:lpstr>
      <vt:lpstr>Gill Sans MT</vt:lpstr>
      <vt:lpstr>包裹</vt:lpstr>
      <vt:lpstr>Olist電商平台首購顧客二購轉化分析與再行銷決策支援</vt:lpstr>
      <vt:lpstr>執行摘要</vt:lpstr>
      <vt:lpstr>Business Understanding (背景與研究動機)</vt:lpstr>
      <vt:lpstr>Business Understanding (業務核心問題)</vt:lpstr>
      <vt:lpstr>Business Understanding (核心業務目標)</vt:lpstr>
      <vt:lpstr>Business Understanding (核心問題拆解)</vt:lpstr>
      <vt:lpstr>Business Understanding (專案分析方法CRISP-dm)</vt:lpstr>
      <vt:lpstr>Data Understanding (執行框架) </vt:lpstr>
      <vt:lpstr>Data Understanding (靜態理解) </vt:lpstr>
      <vt:lpstr>Data Understanding (關聯檢查-erd圖) </vt:lpstr>
      <vt:lpstr>Data Understanding (靜態理解結論) </vt:lpstr>
      <vt:lpstr>Data Understanding (動態探索-eda框架) </vt:lpstr>
      <vt:lpstr>Data Understanding (動態探索-平台留存結構是什麼?)</vt:lpstr>
      <vt:lpstr>Data Understanding (動態探索-哪些因素跟二購有關？)</vt:lpstr>
      <vt:lpstr>Data Preparation</vt:lpstr>
      <vt:lpstr>Data Preparation (處理流程)</vt:lpstr>
      <vt:lpstr>Modeling (建模目的)</vt:lpstr>
      <vt:lpstr>Modeling (結果總結)</vt:lpstr>
      <vt:lpstr>Evaluation (評估)</vt:lpstr>
      <vt:lpstr>Evaluation (商業解讀)</vt:lpstr>
      <vt:lpstr>Deployment （核心結論)</vt:lpstr>
      <vt:lpstr>Deployment （行銷決策總結)</vt:lpstr>
      <vt:lpstr>Deployment （商業決策(一)：將首購後90天內的二購率設為核心留存KPI)</vt:lpstr>
      <vt:lpstr>Deployment （商業決策(二): 使用模型Top10%做小規模再行銷測試)</vt:lpstr>
      <vt:lpstr>Deployment （商業決策 (三): 優先經營「首購商品件數較多」的顧客)</vt:lpstr>
      <vt:lpstr>Deployment （商業決策(四): 針對低評分且長配送時間的顧客建立服務補救機制。)</vt:lpstr>
      <vt:lpstr>Deployment （商業決策(四): 針對低評分且長配送時間的顧客建立服務補救機制。)</vt:lpstr>
      <vt:lpstr>Deployment 商業決策(五):針對 ES、MT、SP 進行州別分層再行銷</vt:lpstr>
      <vt:lpstr>Deployment 商業決策(五):針對 ES、MT、SP 進行州別分層再行銷</vt:lpstr>
      <vt:lpstr>Deployment 商業決策(六): 後續資料蒐集行銷與商品行為特徵優化模型指標</vt:lpstr>
      <vt:lpstr>Deployment 商業決策(六): 後續資料蒐集行銷與商品行為特徵優化模型指標</vt:lpstr>
      <vt:lpstr>Deployment 商業決策(六): 後續資料蒐集行銷與商品行為特徵優化模型指標</vt:lpstr>
      <vt:lpstr>Deployment (總結)</vt:lpstr>
      <vt:lpstr>心得</vt:lpstr>
      <vt:lpstr>謝謝大家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張凱評</dc:creator>
  <cp:lastModifiedBy>張凱評</cp:lastModifiedBy>
  <cp:revision>1</cp:revision>
  <dcterms:created xsi:type="dcterms:W3CDTF">2026-05-30T21:27:59Z</dcterms:created>
  <dcterms:modified xsi:type="dcterms:W3CDTF">2026-06-01T20:28:43Z</dcterms:modified>
</cp:coreProperties>
</file>